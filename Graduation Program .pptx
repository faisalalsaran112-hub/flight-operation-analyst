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8" r:id="rId3"/>
    <p:sldId id="259" r:id="rId4"/>
    <p:sldId id="272" r:id="rId5"/>
    <p:sldId id="260" r:id="rId6"/>
    <p:sldId id="273" r:id="rId7"/>
    <p:sldId id="261" r:id="rId8"/>
    <p:sldId id="274" r:id="rId9"/>
    <p:sldId id="279" r:id="rId10"/>
    <p:sldId id="262" r:id="rId11"/>
    <p:sldId id="263" r:id="rId12"/>
    <p:sldId id="264" r:id="rId13"/>
    <p:sldId id="265" r:id="rId14"/>
    <p:sldId id="266" r:id="rId15"/>
    <p:sldId id="267" r:id="rId16"/>
    <p:sldId id="268" r:id="rId17"/>
    <p:sldId id="269" r:id="rId18"/>
    <p:sldId id="270" r:id="rId19"/>
    <p:sldId id="271" r:id="rId20"/>
    <p:sldId id="275" r:id="rId21"/>
    <p:sldId id="276" r:id="rId22"/>
    <p:sldId id="278" r:id="rId23"/>
    <p:sldId id="280" r:id="rId24"/>
    <p:sldId id="277" r:id="rId25"/>
    <p:sldId id="281" r:id="rId26"/>
    <p:sldId id="282" r:id="rId27"/>
    <p:sldId id="283" r:id="rId28"/>
    <p:sldId id="285" r:id="rId29"/>
    <p:sldId id="288" r:id="rId30"/>
    <p:sldId id="286" r:id="rId31"/>
    <p:sldId id="284" r:id="rId32"/>
    <p:sldId id="292" r:id="rId33"/>
    <p:sldId id="287" r:id="rId34"/>
    <p:sldId id="293" r:id="rId35"/>
    <p:sldId id="294" r:id="rId36"/>
    <p:sldId id="295" r:id="rId37"/>
    <p:sldId id="289" r:id="rId38"/>
    <p:sldId id="290" r:id="rId39"/>
    <p:sldId id="296" r:id="rId40"/>
    <p:sldId id="297" r:id="rId41"/>
    <p:sldId id="301" r:id="rId42"/>
    <p:sldId id="298" r:id="rId43"/>
    <p:sldId id="309" r:id="rId44"/>
    <p:sldId id="310" r:id="rId45"/>
    <p:sldId id="311" r:id="rId46"/>
    <p:sldId id="312" r:id="rId47"/>
    <p:sldId id="313" r:id="rId48"/>
    <p:sldId id="314" r:id="rId49"/>
    <p:sldId id="315" r:id="rId50"/>
    <p:sldId id="308" r:id="rId51"/>
    <p:sldId id="299" r:id="rId52"/>
    <p:sldId id="300" r:id="rId53"/>
    <p:sldId id="302" r:id="rId54"/>
    <p:sldId id="303" r:id="rId55"/>
    <p:sldId id="304" r:id="rId56"/>
    <p:sldId id="291" r:id="rId57"/>
    <p:sldId id="305" r:id="rId58"/>
    <p:sldId id="307" r:id="rId59"/>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975" autoAdjust="0"/>
    <p:restoredTop sz="94660"/>
  </p:normalViewPr>
  <p:slideViewPr>
    <p:cSldViewPr snapToGrid="0">
      <p:cViewPr>
        <p:scale>
          <a:sx n="75" d="100"/>
          <a:sy n="75" d="100"/>
        </p:scale>
        <p:origin x="974"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19AEE8D-576C-69F3-C6BE-66D61F8CCFA1}"/>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F8FE41F9-DC8E-90F2-5A83-AAFE37BE84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BD858792-DE8F-94D8-D30A-8A12BF9E2558}"/>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5" name="عنصر نائب للتذييل 4">
            <a:extLst>
              <a:ext uri="{FF2B5EF4-FFF2-40B4-BE49-F238E27FC236}">
                <a16:creationId xmlns:a16="http://schemas.microsoft.com/office/drawing/2014/main" id="{9A896D67-56A6-7D26-8023-FE29E349742E}"/>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71254C3D-44AD-CBAB-69A6-750F176ED9EB}"/>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1267551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214D7B7-44A4-49A6-8E39-FB9E8703861B}"/>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4905353F-1913-118E-5DC0-07CD77A93E4B}"/>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5F8CD20C-4BDF-E541-091A-F8EBB8529A9A}"/>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5" name="عنصر نائب للتذييل 4">
            <a:extLst>
              <a:ext uri="{FF2B5EF4-FFF2-40B4-BE49-F238E27FC236}">
                <a16:creationId xmlns:a16="http://schemas.microsoft.com/office/drawing/2014/main" id="{DDE7C502-943E-B69F-C7CB-3F093A9F441A}"/>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532BE91D-21B6-FFD6-D351-ACCE4EF1D87F}"/>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2692283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3A13881-B9BA-9A81-1266-26447A742412}"/>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A0540146-E17F-147D-7F52-393A9C2BFD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38E18732-9A05-0FEC-78CB-5DE93A4843AE}"/>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5" name="عنصر نائب للتذييل 4">
            <a:extLst>
              <a:ext uri="{FF2B5EF4-FFF2-40B4-BE49-F238E27FC236}">
                <a16:creationId xmlns:a16="http://schemas.microsoft.com/office/drawing/2014/main" id="{BC98C9E5-E969-F20C-01A1-F65E81F95603}"/>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7BFA47D8-92FE-0E00-A397-FEA484E56C71}"/>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2362489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741DFC4-0EF2-8236-452F-884BCE082D0C}"/>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49E249B4-5F1C-46FD-EA2B-0AD2BCB7AC78}"/>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4ACF5F74-4A0D-82D1-0CFC-81BC607556DE}"/>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B88FC10C-66F6-F98D-D037-B595AEA4255B}"/>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6" name="عنصر نائب للتذييل 5">
            <a:extLst>
              <a:ext uri="{FF2B5EF4-FFF2-40B4-BE49-F238E27FC236}">
                <a16:creationId xmlns:a16="http://schemas.microsoft.com/office/drawing/2014/main" id="{CAEE22A1-643B-E5FA-3074-4317DA5D5B15}"/>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4F19AF06-3EC0-1C1C-053E-F2AA645017FF}"/>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3356288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90FA08A-2CFC-0A5A-9FCC-A54633AEEAED}"/>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AB73448E-5030-D882-4B23-4D5A9F05B3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5E9201C1-01DE-DCC7-9D85-E6B4F3E4BDB2}"/>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74EAEF22-01F8-D1A8-2B69-8DB8885F8A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0D47E58A-6017-5F19-3AEA-A88B41FD2A11}"/>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CCCAFBCD-67ED-BF8F-17DC-8AA8E4F4DAA8}"/>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8" name="عنصر نائب للتذييل 7">
            <a:extLst>
              <a:ext uri="{FF2B5EF4-FFF2-40B4-BE49-F238E27FC236}">
                <a16:creationId xmlns:a16="http://schemas.microsoft.com/office/drawing/2014/main" id="{B2686617-3E9E-E4C4-884B-9C9203A8DC4D}"/>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2314AF7D-853F-99F4-E115-AC9CFE5CC081}"/>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2890244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FECD221-7A94-2ED5-43C5-1A38FEAB9E25}"/>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AFD30F98-58BB-735F-8D88-CC3AD71D10EF}"/>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4" name="عنصر نائب للتذييل 3">
            <a:extLst>
              <a:ext uri="{FF2B5EF4-FFF2-40B4-BE49-F238E27FC236}">
                <a16:creationId xmlns:a16="http://schemas.microsoft.com/office/drawing/2014/main" id="{F8805951-02FF-7B01-05E4-59C05CF8CD99}"/>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786E4C43-950E-C472-495B-B2939DFFFBBB}"/>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3223622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B5C4F5AA-764F-EC6C-2EBA-76E7E89C06D9}"/>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3" name="عنصر نائب للتذييل 2">
            <a:extLst>
              <a:ext uri="{FF2B5EF4-FFF2-40B4-BE49-F238E27FC236}">
                <a16:creationId xmlns:a16="http://schemas.microsoft.com/office/drawing/2014/main" id="{A019691C-5197-483B-CDE6-8C8AD13E6ED4}"/>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6FAB9962-F034-653B-DC3E-CCAFC5AF4FAF}"/>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300389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1C22A5A-47A5-DB69-2826-71FAA2570EAC}"/>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98BA83DF-8D29-BBF6-8197-26FC97690E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8F21B372-C81C-A82E-DC30-536D5C6A14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C78A561F-7C20-6E1B-4086-BA7A6A9971B8}"/>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6" name="عنصر نائب للتذييل 5">
            <a:extLst>
              <a:ext uri="{FF2B5EF4-FFF2-40B4-BE49-F238E27FC236}">
                <a16:creationId xmlns:a16="http://schemas.microsoft.com/office/drawing/2014/main" id="{78C49580-8CA8-2034-2713-5E4FCE28CA90}"/>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6CC112BC-7166-A5C0-211C-DBAB028337B2}"/>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4073897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BC115FD-D768-D902-B487-1998E34095F6}"/>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622FE487-ACB9-A155-147C-7EB32BC26D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BCB675CD-C601-A68C-7256-3426EC5BCD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46E5C473-05C2-512E-3B8B-34800928DF62}"/>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6" name="عنصر نائب للتذييل 5">
            <a:extLst>
              <a:ext uri="{FF2B5EF4-FFF2-40B4-BE49-F238E27FC236}">
                <a16:creationId xmlns:a16="http://schemas.microsoft.com/office/drawing/2014/main" id="{E8A1E9CD-7208-E70D-80BE-9F66886F3D95}"/>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EBFC7379-138C-17DE-1826-373ADEB76056}"/>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3337289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B85E8DD-56AC-1441-2537-A53B2D189B7D}"/>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59EE7E59-41AC-7D66-435B-68A73F7AB53F}"/>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606A3495-D21B-6751-1F73-D6E7656E3786}"/>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5" name="عنصر نائب للتذييل 4">
            <a:extLst>
              <a:ext uri="{FF2B5EF4-FFF2-40B4-BE49-F238E27FC236}">
                <a16:creationId xmlns:a16="http://schemas.microsoft.com/office/drawing/2014/main" id="{592781AF-E986-B2C0-70E5-091D414ED868}"/>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B3AB8254-AC91-734B-A31D-4ACCFB95E7DA}"/>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280598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5A9E8148-4094-A5E1-4938-227C5AE78B62}"/>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42135CBD-6D46-8BE0-A696-BECBC20A8C3B}"/>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1BD6D218-A12F-8C38-A874-7D41922651B9}"/>
              </a:ext>
            </a:extLst>
          </p:cNvPr>
          <p:cNvSpPr>
            <a:spLocks noGrp="1"/>
          </p:cNvSpPr>
          <p:nvPr>
            <p:ph type="dt" sz="half" idx="10"/>
          </p:nvPr>
        </p:nvSpPr>
        <p:spPr/>
        <p:txBody>
          <a:bodyPr/>
          <a:lstStyle/>
          <a:p>
            <a:fld id="{EED237C2-6899-451E-8527-4AE93631E1FD}" type="datetimeFigureOut">
              <a:rPr lang="ar-SA" smtClean="0"/>
              <a:t>25/05/46</a:t>
            </a:fld>
            <a:endParaRPr lang="ar-SA"/>
          </a:p>
        </p:txBody>
      </p:sp>
      <p:sp>
        <p:nvSpPr>
          <p:cNvPr id="5" name="عنصر نائب للتذييل 4">
            <a:extLst>
              <a:ext uri="{FF2B5EF4-FFF2-40B4-BE49-F238E27FC236}">
                <a16:creationId xmlns:a16="http://schemas.microsoft.com/office/drawing/2014/main" id="{9FEC6441-88C5-2C91-83E0-2169F5D35A67}"/>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B109CA5D-02B9-6736-3795-376355BB768A}"/>
              </a:ext>
            </a:extLst>
          </p:cNvPr>
          <p:cNvSpPr>
            <a:spLocks noGrp="1"/>
          </p:cNvSpPr>
          <p:nvPr>
            <p:ph type="sldNum" sz="quarter" idx="12"/>
          </p:nvPr>
        </p:nvSpPr>
        <p:spPr/>
        <p:txBody>
          <a:bodyPr/>
          <a:lstStyle/>
          <a:p>
            <a:fld id="{7C4FCE9A-0AD8-4D6E-B6BD-180BB7620906}" type="slidenum">
              <a:rPr lang="ar-SA" smtClean="0"/>
              <a:t>‹#›</a:t>
            </a:fld>
            <a:endParaRPr lang="ar-SA"/>
          </a:p>
        </p:txBody>
      </p:sp>
    </p:spTree>
    <p:extLst>
      <p:ext uri="{BB962C8B-B14F-4D97-AF65-F5344CB8AC3E}">
        <p14:creationId xmlns:p14="http://schemas.microsoft.com/office/powerpoint/2010/main" val="16196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12C56789-C17E-5FF8-4D0F-E3A7B14DC107}"/>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21589997-DCD3-1BB1-998C-B495B7FDC776}"/>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DB0573E8-C649-0E2B-458A-9A35E2BAA250}"/>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EED237C2-6899-451E-8527-4AE93631E1FD}" type="datetimeFigureOut">
              <a:rPr lang="ar-SA" smtClean="0"/>
              <a:t>25/05/46</a:t>
            </a:fld>
            <a:endParaRPr lang="ar-SA"/>
          </a:p>
        </p:txBody>
      </p:sp>
      <p:sp>
        <p:nvSpPr>
          <p:cNvPr id="5" name="عنصر نائب للتذييل 4">
            <a:extLst>
              <a:ext uri="{FF2B5EF4-FFF2-40B4-BE49-F238E27FC236}">
                <a16:creationId xmlns:a16="http://schemas.microsoft.com/office/drawing/2014/main" id="{DE0A5C62-580A-AF8E-69B6-BED8635178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83606D4D-58A9-54DB-3941-DE96927B1495}"/>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7C4FCE9A-0AD8-4D6E-B6BD-180BB7620906}" type="slidenum">
              <a:rPr lang="ar-SA" smtClean="0"/>
              <a:t>‹#›</a:t>
            </a:fld>
            <a:endParaRPr lang="ar-SA"/>
          </a:p>
        </p:txBody>
      </p:sp>
    </p:spTree>
    <p:extLst>
      <p:ext uri="{BB962C8B-B14F-4D97-AF65-F5344CB8AC3E}">
        <p14:creationId xmlns:p14="http://schemas.microsoft.com/office/powerpoint/2010/main" val="422836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54.pn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EA47E7EE-6CDE-19BD-1168-71A2A3D602C1}"/>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2" name="عنوان 1">
            <a:extLst>
              <a:ext uri="{FF2B5EF4-FFF2-40B4-BE49-F238E27FC236}">
                <a16:creationId xmlns:a16="http://schemas.microsoft.com/office/drawing/2014/main" id="{1EEBED8C-A445-7A5F-A440-9DF68D828FEB}"/>
              </a:ext>
            </a:extLst>
          </p:cNvPr>
          <p:cNvSpPr>
            <a:spLocks noGrp="1"/>
          </p:cNvSpPr>
          <p:nvPr>
            <p:ph type="ctrTitle"/>
          </p:nvPr>
        </p:nvSpPr>
        <p:spPr>
          <a:xfrm>
            <a:off x="1524000" y="1122362"/>
            <a:ext cx="9144000" cy="2900518"/>
          </a:xfrm>
        </p:spPr>
        <p:txBody>
          <a:bodyPr>
            <a:normAutofit/>
          </a:bodyPr>
          <a:lstStyle/>
          <a:p>
            <a:r>
              <a:rPr lang="ar-SA" sz="4800" dirty="0">
                <a:solidFill>
                  <a:srgbClr val="FFFFFF"/>
                </a:solidFill>
              </a:rPr>
              <a:t>التحليل الاحصائي للرحلات الجوية الداخلية في مطار الملك خالد الدولي بالرياض</a:t>
            </a:r>
          </a:p>
        </p:txBody>
      </p:sp>
      <p:sp>
        <p:nvSpPr>
          <p:cNvPr id="3" name="عنوان فرعي 2">
            <a:extLst>
              <a:ext uri="{FF2B5EF4-FFF2-40B4-BE49-F238E27FC236}">
                <a16:creationId xmlns:a16="http://schemas.microsoft.com/office/drawing/2014/main" id="{4E8A5782-FF48-03F2-642D-99CA7632AB0F}"/>
              </a:ext>
            </a:extLst>
          </p:cNvPr>
          <p:cNvSpPr>
            <a:spLocks noGrp="1"/>
          </p:cNvSpPr>
          <p:nvPr>
            <p:ph type="subTitle" idx="1"/>
          </p:nvPr>
        </p:nvSpPr>
        <p:spPr>
          <a:xfrm>
            <a:off x="1524000" y="4159404"/>
            <a:ext cx="9144000" cy="1098395"/>
          </a:xfrm>
        </p:spPr>
        <p:txBody>
          <a:bodyPr>
            <a:normAutofit fontScale="92500" lnSpcReduction="20000"/>
          </a:bodyPr>
          <a:lstStyle/>
          <a:p>
            <a:r>
              <a:rPr lang="ar-SA" dirty="0">
                <a:solidFill>
                  <a:srgbClr val="FFFFFF"/>
                </a:solidFill>
              </a:rPr>
              <a:t>الطالب: فيصل سامي محمد السعران</a:t>
            </a:r>
          </a:p>
          <a:p>
            <a:r>
              <a:rPr lang="ar-SA" dirty="0">
                <a:solidFill>
                  <a:srgbClr val="FFFFFF"/>
                </a:solidFill>
              </a:rPr>
              <a:t>441101690</a:t>
            </a:r>
          </a:p>
          <a:p>
            <a:r>
              <a:rPr lang="ar-SA" dirty="0">
                <a:solidFill>
                  <a:srgbClr val="FFFFFF"/>
                </a:solidFill>
              </a:rPr>
              <a:t>اشراف: د. مجدي ناجي أحمد</a:t>
            </a:r>
          </a:p>
        </p:txBody>
      </p:sp>
      <p:pic>
        <p:nvPicPr>
          <p:cNvPr id="1026" name="Picture 2" descr="للتحميل | الهوية الرسمية لجامعة الملك سعود">
            <a:extLst>
              <a:ext uri="{FF2B5EF4-FFF2-40B4-BE49-F238E27FC236}">
                <a16:creationId xmlns:a16="http://schemas.microsoft.com/office/drawing/2014/main" id="{BBC95AE6-CFCC-53CD-F0FE-6E77B0C8C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4775" y="762247"/>
            <a:ext cx="4362450" cy="1675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86223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CCD856-A7A3-963E-38C7-AE2E4D67FE3F}"/>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A69AAE0-49D5-4C8B-8BA2-55898C00E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71BB3DDC-0FBE-79B0-1E73-67034D58089D}"/>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A6576694-5E98-B2F4-8DAC-F8DC75D80F6F}"/>
              </a:ext>
            </a:extLst>
          </p:cNvPr>
          <p:cNvSpPr>
            <a:spLocks noGrp="1"/>
          </p:cNvSpPr>
          <p:nvPr>
            <p:ph type="ctrTitle"/>
          </p:nvPr>
        </p:nvSpPr>
        <p:spPr>
          <a:xfrm>
            <a:off x="6343650" y="3962400"/>
            <a:ext cx="5505814" cy="1690409"/>
          </a:xfrm>
        </p:spPr>
        <p:txBody>
          <a:bodyPr anchor="b">
            <a:normAutofit/>
          </a:bodyPr>
          <a:lstStyle/>
          <a:p>
            <a:pPr algn="l"/>
            <a:r>
              <a:rPr lang="ar-SA" sz="4400"/>
              <a:t>المقدمة</a:t>
            </a:r>
            <a:endParaRPr lang="ar-SA" sz="4400" dirty="0"/>
          </a:p>
        </p:txBody>
      </p:sp>
      <p:pic>
        <p:nvPicPr>
          <p:cNvPr id="5" name="صورة 4">
            <a:extLst>
              <a:ext uri="{FF2B5EF4-FFF2-40B4-BE49-F238E27FC236}">
                <a16:creationId xmlns:a16="http://schemas.microsoft.com/office/drawing/2014/main" id="{642A45FF-B27B-65C8-F3EF-42D9744EB56F}"/>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1542383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A08DC32-E41F-E247-E98F-95A6B0B415E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B1C6B95-3B17-1B27-3E66-3EA96712D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6E3F2B2A-C2C5-36F5-1ED3-A26732A2BA74}"/>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2" name="عنوان 1">
            <a:extLst>
              <a:ext uri="{FF2B5EF4-FFF2-40B4-BE49-F238E27FC236}">
                <a16:creationId xmlns:a16="http://schemas.microsoft.com/office/drawing/2014/main" id="{3054ED06-7627-F135-BB44-5E9DCF4AC70D}"/>
              </a:ext>
            </a:extLst>
          </p:cNvPr>
          <p:cNvSpPr>
            <a:spLocks noGrp="1"/>
          </p:cNvSpPr>
          <p:nvPr>
            <p:ph type="ctrTitle"/>
          </p:nvPr>
        </p:nvSpPr>
        <p:spPr>
          <a:xfrm>
            <a:off x="1524000" y="1837943"/>
            <a:ext cx="9144000" cy="3182112"/>
          </a:xfrm>
        </p:spPr>
        <p:txBody>
          <a:bodyPr>
            <a:noAutofit/>
          </a:bodyPr>
          <a:lstStyle/>
          <a:p>
            <a:r>
              <a:rPr lang="ar-SA" sz="2000" dirty="0">
                <a:solidFill>
                  <a:srgbClr val="FFFFFF"/>
                </a:solidFill>
              </a:rPr>
              <a:t>يعتبر مطار الملك خالد الدولي في الرياض واحد من أبرز المطارات في المملكة العربية السعودية، حيث يلعب دور حيوي في ربط مختلف مناطق البلاد, ويساهم التحليل الاحصائي للرحلات الجوية الداخلية على فهم النمط السلوكي للمسافرين، وتحديد الاتجاهات الموسمية الأكثر زيارة وتحسين مستوى الخدمات المقدمة من المطار.</a:t>
            </a:r>
            <a:br>
              <a:rPr lang="ar-SA" sz="2000" dirty="0">
                <a:solidFill>
                  <a:srgbClr val="FFFFFF"/>
                </a:solidFill>
              </a:rPr>
            </a:br>
            <a:r>
              <a:rPr lang="ar-SA" sz="2000" dirty="0">
                <a:solidFill>
                  <a:srgbClr val="FFFFFF"/>
                </a:solidFill>
              </a:rPr>
              <a:t>من خلال تحليل البيانات المتعلقة بعدد الرحلات احصائيا، وتواريخ هذه الرحلات، وعدد ركاب هذه الطائرات، يمكن للجهات المعينة تحديد التحديات والفرص المتاحة لتطوير خدمات النقل الجوي الداخلي، كما يتيح هذا التحليل تقييم الأداء التشغيلي للمطار، مما يسهم في تحسين التجربة العامة للمسافرين.</a:t>
            </a:r>
            <a:br>
              <a:rPr lang="ar-SA" sz="2000" dirty="0">
                <a:solidFill>
                  <a:srgbClr val="FFFFFF"/>
                </a:solidFill>
              </a:rPr>
            </a:br>
            <a:r>
              <a:rPr lang="ar-SA" sz="2000" dirty="0">
                <a:solidFill>
                  <a:srgbClr val="FFFFFF"/>
                </a:solidFill>
              </a:rPr>
              <a:t>بإجراء دراسات وتحاليل إحصائية شاملة، يمكن تسليط الضوء على تأثيرات العوامل الاقتصادية والاجتماعية على حركة النقل الجوي الداخلي، مما يساعد في اتخاذ قرارات استراتيجية مبنية على بيانات دقيقة، وبالتالي يعد التحليل الاحصائي أداة أساسية لتطوير وتخطيط النقل الجوي في المملكة العربية السعودية وتعزيز مكانة مطار الملك خالد كمركز حيوي للنقل الجوي في المنطقة.</a:t>
            </a:r>
            <a:br>
              <a:rPr lang="ar-SA" sz="2000" dirty="0">
                <a:solidFill>
                  <a:srgbClr val="FFFFFF"/>
                </a:solidFill>
              </a:rPr>
            </a:br>
            <a:endParaRPr lang="ar-SA" sz="2000" dirty="0">
              <a:solidFill>
                <a:srgbClr val="FFFFFF"/>
              </a:solidFill>
            </a:endParaRPr>
          </a:p>
        </p:txBody>
      </p:sp>
    </p:spTree>
    <p:extLst>
      <p:ext uri="{BB962C8B-B14F-4D97-AF65-F5344CB8AC3E}">
        <p14:creationId xmlns:p14="http://schemas.microsoft.com/office/powerpoint/2010/main" val="35944312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26148C-4EF8-84B0-F669-FAE6797A550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0597FC-6714-A2D2-9844-4DDBB7676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7781ED35-A433-8250-917F-C062E0125BBF}"/>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19806C62-E826-21FD-697A-C094EEDE3ACB}"/>
              </a:ext>
            </a:extLst>
          </p:cNvPr>
          <p:cNvSpPr>
            <a:spLocks noGrp="1"/>
          </p:cNvSpPr>
          <p:nvPr>
            <p:ph type="ctrTitle"/>
          </p:nvPr>
        </p:nvSpPr>
        <p:spPr>
          <a:xfrm>
            <a:off x="6910578" y="4617720"/>
            <a:ext cx="4538463" cy="934505"/>
          </a:xfrm>
        </p:spPr>
        <p:txBody>
          <a:bodyPr anchor="b">
            <a:normAutofit/>
          </a:bodyPr>
          <a:lstStyle/>
          <a:p>
            <a:pPr algn="l"/>
            <a:r>
              <a:rPr lang="ar-SA" sz="4400" dirty="0"/>
              <a:t>مشكلة البحث وتساؤلاته</a:t>
            </a:r>
          </a:p>
        </p:txBody>
      </p:sp>
      <p:pic>
        <p:nvPicPr>
          <p:cNvPr id="5" name="صورة 4">
            <a:extLst>
              <a:ext uri="{FF2B5EF4-FFF2-40B4-BE49-F238E27FC236}">
                <a16:creationId xmlns:a16="http://schemas.microsoft.com/office/drawing/2014/main" id="{64BE8E54-E2AE-D206-A0DA-DE0EC94A5D35}"/>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2271278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32751E9-3E9B-2E89-3E27-C6AF8CE3EB3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0E35A93-944C-535C-E228-5D5E3A8670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9E9194B2-7B4E-E037-E821-88BB42081CE5}"/>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3" name="عنوان فرعي 2">
            <a:extLst>
              <a:ext uri="{FF2B5EF4-FFF2-40B4-BE49-F238E27FC236}">
                <a16:creationId xmlns:a16="http://schemas.microsoft.com/office/drawing/2014/main" id="{F2143AB0-53E1-E4DA-224E-418E89A4D0E1}"/>
              </a:ext>
            </a:extLst>
          </p:cNvPr>
          <p:cNvSpPr>
            <a:spLocks noGrp="1"/>
          </p:cNvSpPr>
          <p:nvPr>
            <p:ph type="subTitle" idx="1"/>
          </p:nvPr>
        </p:nvSpPr>
        <p:spPr>
          <a:xfrm>
            <a:off x="1524000" y="648665"/>
            <a:ext cx="9144000" cy="5560668"/>
          </a:xfrm>
        </p:spPr>
        <p:txBody>
          <a:bodyPr>
            <a:normAutofit fontScale="92500" lnSpcReduction="10000"/>
          </a:bodyPr>
          <a:lstStyle/>
          <a:p>
            <a:r>
              <a:rPr lang="ar-SA" sz="1700" dirty="0">
                <a:effectLst/>
                <a:latin typeface="Aptos" panose="020B0004020202020204" pitchFamily="34" charset="0"/>
                <a:ea typeface="Aptos" panose="020B0004020202020204" pitchFamily="34" charset="0"/>
                <a:cs typeface="Times New Roman" panose="02020603050405020304" pitchFamily="18" charset="0"/>
              </a:rPr>
              <a:t>تركز على التحديات المتعلقة بإدارة الرحلات الجوية الداخلية في مطار الملك خالد الدولي وخاصة فيما يتعلق في تأخيرات الرحلات المتكررة والازدحام على الرغم من توسع في حركة الطيران الداخلية وزيادة الطلب على الرحلات، لا تزال هناك مشكلات تؤثر على تجربة المسافرين وكفاءة التشغيل في مطار الملك خالد الدولي ومن هذه المشاكل التأخيرات المتكررة للرحلات الجوية الداخلية، والازدحام في أوقات معينة، وتكرار هذه المشاكل تؤثر على رضا المسافرين.</a:t>
            </a:r>
            <a:endParaRPr lang="en-US" sz="17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700" dirty="0">
                <a:effectLst/>
                <a:latin typeface="Aptos" panose="020B0004020202020204" pitchFamily="34" charset="0"/>
                <a:ea typeface="Aptos" panose="020B0004020202020204" pitchFamily="34" charset="0"/>
                <a:cs typeface="Times New Roman" panose="02020603050405020304" pitchFamily="18" charset="0"/>
              </a:rPr>
              <a:t>تهدف تساؤلات البحث الى توجيه الدراسة والتحليل الاحصائي لحركة الرحلات الجوية الداخلية لمطار الملك خالد الدولي وتشمل الأسئلة الرئيسية الى ما يلي:</a:t>
            </a:r>
            <a:endParaRPr lang="en-US" sz="17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700" dirty="0">
                <a:effectLst/>
                <a:latin typeface="Aptos" panose="020B0004020202020204" pitchFamily="34" charset="0"/>
                <a:ea typeface="Aptos" panose="020B0004020202020204" pitchFamily="34" charset="0"/>
                <a:cs typeface="Times New Roman" panose="02020603050405020304" pitchFamily="18" charset="0"/>
              </a:rPr>
              <a:t>1-ماهي الوجهات الداخلية والمدن الأكثر طلبا من مطار الملك خالد؟</a:t>
            </a:r>
            <a:endParaRPr lang="en-US" sz="17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700" dirty="0">
                <a:effectLst/>
                <a:latin typeface="Aptos" panose="020B0004020202020204" pitchFamily="34" charset="0"/>
                <a:ea typeface="Aptos" panose="020B0004020202020204" pitchFamily="34" charset="0"/>
                <a:cs typeface="Times New Roman" panose="02020603050405020304" pitchFamily="18" charset="0"/>
              </a:rPr>
              <a:t>2-كيف تؤثر الفصول الموسمية والعطلات رسمية على حجم الطلبات بالمطار؟</a:t>
            </a:r>
            <a:endParaRPr lang="en-US" sz="17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700" dirty="0">
                <a:effectLst/>
                <a:latin typeface="Aptos" panose="020B0004020202020204" pitchFamily="34" charset="0"/>
                <a:ea typeface="Aptos" panose="020B0004020202020204" pitchFamily="34" charset="0"/>
                <a:cs typeface="Times New Roman" panose="02020603050405020304" pitchFamily="18" charset="0"/>
              </a:rPr>
              <a:t>3- بعد عمل التحليل الاحصائي ماهي الحلول المقترحة لزيادة كفاءة العمليات وتحسين تجربة المسافرين؟</a:t>
            </a:r>
            <a:endParaRPr lang="en-US" sz="17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700" dirty="0">
                <a:effectLst/>
                <a:latin typeface="Aptos" panose="020B0004020202020204" pitchFamily="34" charset="0"/>
                <a:ea typeface="Aptos" panose="020B0004020202020204" pitchFamily="34" charset="0"/>
                <a:cs typeface="Times New Roman" panose="02020603050405020304" pitchFamily="18" charset="0"/>
              </a:rPr>
              <a:t>4-هل حدثت تغيرات في عدد الركاب او الرحلات من سنة لأخرى؟</a:t>
            </a:r>
            <a:endParaRPr lang="en-US" sz="17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700" dirty="0">
                <a:effectLst/>
                <a:latin typeface="Aptos" panose="020B0004020202020204" pitchFamily="34" charset="0"/>
                <a:ea typeface="Aptos" panose="020B0004020202020204" pitchFamily="34" charset="0"/>
                <a:cs typeface="Times New Roman" panose="02020603050405020304" pitchFamily="18" charset="0"/>
              </a:rPr>
              <a:t>5-ماهي الوجهات او المدن التي شهدت تراجعا او نموا خلال فترة الدراسة؟</a:t>
            </a:r>
            <a:endParaRPr lang="en-US" sz="17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700" dirty="0">
                <a:effectLst/>
                <a:latin typeface="Aptos" panose="020B0004020202020204" pitchFamily="34" charset="0"/>
                <a:ea typeface="Aptos" panose="020B0004020202020204" pitchFamily="34" charset="0"/>
                <a:cs typeface="Times New Roman" panose="02020603050405020304" pitchFamily="18" charset="0"/>
              </a:rPr>
              <a:t>هذه التساؤلات سوف تساعدنا على فهم البيانات التي سوف يتم تحليلها بشكل أفضل وأعمق، بهدف فهم حركة الطيران الموسمية وتأثيرها على كفاءة العمليات وتحسين تخطيط الرحلات المستقبلية.</a:t>
            </a:r>
            <a:endParaRPr lang="en-US" sz="1700" dirty="0">
              <a:effectLst/>
              <a:latin typeface="Aptos" panose="020B0004020202020204" pitchFamily="34" charset="0"/>
              <a:ea typeface="Aptos" panose="020B0004020202020204" pitchFamily="34" charset="0"/>
              <a:cs typeface="Arial" panose="020B0604020202020204" pitchFamily="34" charset="0"/>
            </a:endParaRPr>
          </a:p>
          <a:p>
            <a:endParaRPr lang="ar-SA" dirty="0">
              <a:solidFill>
                <a:srgbClr val="FFFFFF"/>
              </a:solidFill>
            </a:endParaRPr>
          </a:p>
        </p:txBody>
      </p:sp>
    </p:spTree>
    <p:extLst>
      <p:ext uri="{BB962C8B-B14F-4D97-AF65-F5344CB8AC3E}">
        <p14:creationId xmlns:p14="http://schemas.microsoft.com/office/powerpoint/2010/main" val="1659879878"/>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9D471F-71C4-271D-0EBE-2F4815711BD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E86428D-1151-7832-DA1C-F2CDAAF96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5A7A4206-4478-CBF9-E377-8CDB6D8A65E2}"/>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105D3422-9F20-1D0C-82A5-A5F951826DDC}"/>
              </a:ext>
            </a:extLst>
          </p:cNvPr>
          <p:cNvSpPr>
            <a:spLocks noGrp="1"/>
          </p:cNvSpPr>
          <p:nvPr>
            <p:ph type="ctrTitle"/>
          </p:nvPr>
        </p:nvSpPr>
        <p:spPr>
          <a:xfrm>
            <a:off x="6343650" y="4873752"/>
            <a:ext cx="2553462" cy="779057"/>
          </a:xfrm>
        </p:spPr>
        <p:txBody>
          <a:bodyPr anchor="b">
            <a:normAutofit/>
          </a:bodyPr>
          <a:lstStyle/>
          <a:p>
            <a:pPr algn="l"/>
            <a:r>
              <a:rPr lang="ar-SA" sz="4400" dirty="0"/>
              <a:t>اهداف البحث</a:t>
            </a:r>
          </a:p>
        </p:txBody>
      </p:sp>
      <p:pic>
        <p:nvPicPr>
          <p:cNvPr id="5" name="صورة 4">
            <a:extLst>
              <a:ext uri="{FF2B5EF4-FFF2-40B4-BE49-F238E27FC236}">
                <a16:creationId xmlns:a16="http://schemas.microsoft.com/office/drawing/2014/main" id="{349BC65B-FCE3-DBB3-721D-F04AE0CFE5CB}"/>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2348538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4F880CB-1134-C435-4EC8-2E5C95728FE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8C21460-F86B-E820-814B-01EAB7CA63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2280293D-E2F6-BD80-3A95-D1913AF1A048}"/>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3" name="عنوان فرعي 2">
            <a:extLst>
              <a:ext uri="{FF2B5EF4-FFF2-40B4-BE49-F238E27FC236}">
                <a16:creationId xmlns:a16="http://schemas.microsoft.com/office/drawing/2014/main" id="{BD0C73A4-13C1-86A2-82F2-1CC65B85C065}"/>
              </a:ext>
            </a:extLst>
          </p:cNvPr>
          <p:cNvSpPr>
            <a:spLocks noGrp="1"/>
          </p:cNvSpPr>
          <p:nvPr>
            <p:ph type="subTitle" idx="1"/>
          </p:nvPr>
        </p:nvSpPr>
        <p:spPr>
          <a:xfrm>
            <a:off x="1524000" y="629820"/>
            <a:ext cx="9144000" cy="5551524"/>
          </a:xfrm>
        </p:spPr>
        <p:txBody>
          <a:bodyPr>
            <a:normAutofit lnSpcReduction="10000"/>
          </a:bodyPr>
          <a:lstStyle/>
          <a:p>
            <a:pPr algn="just" rtl="1">
              <a:lnSpc>
                <a:spcPct val="150000"/>
              </a:lnSpc>
              <a:spcAft>
                <a:spcPts val="800"/>
              </a:spcAft>
            </a:pPr>
            <a:r>
              <a:rPr lang="ar-SA" sz="1800" dirty="0">
                <a:effectLst/>
                <a:latin typeface="Aptos" panose="020B0004020202020204" pitchFamily="34" charset="0"/>
                <a:ea typeface="Aptos" panose="020B0004020202020204" pitchFamily="34" charset="0"/>
                <a:cs typeface="Times New Roman" panose="02020603050405020304" pitchFamily="18" charset="0"/>
              </a:rPr>
              <a:t>تركز اهداف البحث على فهم العوامل المؤثرة في حركة الرحلات الداخلية في مطار الملك خالد الدولي وتحليل البيانات المتاحة لتحصين الكفاءة التشغيلية للمطار وتتمثل هذه الأهداف ما يلي:</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800" dirty="0">
                <a:effectLst/>
                <a:latin typeface="Aptos" panose="020B0004020202020204" pitchFamily="34" charset="0"/>
                <a:ea typeface="Aptos" panose="020B0004020202020204" pitchFamily="34" charset="0"/>
                <a:cs typeface="Times New Roman" panose="02020603050405020304" pitchFamily="18" charset="0"/>
              </a:rPr>
              <a:t>1-تحليل حركة الطيران الداخلي زمنيا وموسميا.</a:t>
            </a:r>
          </a:p>
          <a:p>
            <a:pPr algn="just">
              <a:lnSpc>
                <a:spcPct val="150000"/>
              </a:lnSpc>
              <a:spcAft>
                <a:spcPts val="800"/>
              </a:spcAft>
            </a:pPr>
            <a:r>
              <a:rPr lang="ar-SA" sz="1800" dirty="0">
                <a:effectLst/>
                <a:latin typeface="Aptos" panose="020B0004020202020204" pitchFamily="34" charset="0"/>
                <a:ea typeface="Aptos" panose="020B0004020202020204" pitchFamily="34" charset="0"/>
                <a:cs typeface="Times New Roman" panose="02020603050405020304" pitchFamily="18" charset="0"/>
              </a:rPr>
              <a:t>2-تحديد الوجهات الأكثر شيوعا.</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ar-SA" sz="1800" dirty="0">
                <a:effectLst/>
                <a:latin typeface="Aptos" panose="020B0004020202020204" pitchFamily="34" charset="0"/>
                <a:ea typeface="Aptos" panose="020B0004020202020204" pitchFamily="34" charset="0"/>
                <a:cs typeface="Times New Roman" panose="02020603050405020304" pitchFamily="18" charset="0"/>
              </a:rPr>
              <a:t>3-مقارنة حركة الطيران عبر السنوات.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ar-SA" sz="1800" dirty="0">
                <a:effectLst/>
                <a:latin typeface="Aptos" panose="020B0004020202020204" pitchFamily="34" charset="0"/>
                <a:ea typeface="Aptos" panose="020B0004020202020204" pitchFamily="34" charset="0"/>
                <a:cs typeface="Times New Roman" panose="02020603050405020304" pitchFamily="18" charset="0"/>
              </a:rPr>
              <a:t>4-تحليل العلاقة بين عدد الركاب وعدد الرحلات.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ar-SA" sz="1800" dirty="0">
                <a:effectLst/>
                <a:latin typeface="Aptos" panose="020B0004020202020204" pitchFamily="34" charset="0"/>
                <a:ea typeface="Aptos" panose="020B0004020202020204" pitchFamily="34" charset="0"/>
                <a:cs typeface="Times New Roman" panose="02020603050405020304" pitchFamily="18" charset="0"/>
              </a:rPr>
              <a:t>5-تقديم توصيات للتحسينات المستقبلية للرحلات الداخلية.</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r">
              <a:lnSpc>
                <a:spcPct val="150000"/>
              </a:lnSpc>
              <a:spcAft>
                <a:spcPts val="800"/>
              </a:spcAft>
            </a:pPr>
            <a:r>
              <a:rPr lang="ar-SA" sz="1800" dirty="0">
                <a:effectLst/>
                <a:latin typeface="Aptos" panose="020B0004020202020204" pitchFamily="34" charset="0"/>
                <a:ea typeface="Aptos" panose="020B0004020202020204" pitchFamily="34" charset="0"/>
                <a:cs typeface="Times New Roman" panose="02020603050405020304" pitchFamily="18" charset="0"/>
              </a:rPr>
              <a:t>تحقيق هذه الأهداف سوف يسهل في تحسين جودة إدارة الرحلات الداخلية في مطار الملك خالد الدولي وتقديم تجربة أفضل وأكثر راحة للمسافرين بناء على تحليلنا للبيانات.</a:t>
            </a:r>
            <a:br>
              <a:rPr lang="ar-SA" sz="1800" dirty="0">
                <a:effectLst/>
                <a:latin typeface="Aptos" panose="020B0004020202020204" pitchFamily="34" charset="0"/>
                <a:ea typeface="Aptos" panose="020B0004020202020204" pitchFamily="34" charset="0"/>
                <a:cs typeface="Times New Roman" panose="02020603050405020304" pitchFamily="18" charset="0"/>
              </a:rPr>
            </a:br>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endParaRPr lang="en-US" sz="1800" dirty="0">
              <a:effectLst/>
              <a:latin typeface="Aptos" panose="020B0004020202020204" pitchFamily="34" charset="0"/>
              <a:ea typeface="Aptos" panose="020B0004020202020204" pitchFamily="34" charset="0"/>
              <a:cs typeface="Arial" panose="020B0604020202020204" pitchFamily="34" charset="0"/>
            </a:endParaRPr>
          </a:p>
          <a:p>
            <a:endParaRPr lang="ar-SA" dirty="0">
              <a:solidFill>
                <a:srgbClr val="FFFFFF"/>
              </a:solidFill>
            </a:endParaRPr>
          </a:p>
        </p:txBody>
      </p:sp>
    </p:spTree>
    <p:extLst>
      <p:ext uri="{BB962C8B-B14F-4D97-AF65-F5344CB8AC3E}">
        <p14:creationId xmlns:p14="http://schemas.microsoft.com/office/powerpoint/2010/main" val="498386497"/>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5A20EF-690D-38E1-637F-3CCC6E641C2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B28D31A-9769-3756-6045-24BF8987BC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FFA58DFF-B0B8-B216-F65D-A7FDDA3DD1CA}"/>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A1C16980-F125-CAB8-DEDA-5F04566FF0FA}"/>
              </a:ext>
            </a:extLst>
          </p:cNvPr>
          <p:cNvSpPr>
            <a:spLocks noGrp="1"/>
          </p:cNvSpPr>
          <p:nvPr>
            <p:ph type="ctrTitle"/>
          </p:nvPr>
        </p:nvSpPr>
        <p:spPr>
          <a:xfrm>
            <a:off x="6343650" y="4873752"/>
            <a:ext cx="3028950" cy="779057"/>
          </a:xfrm>
        </p:spPr>
        <p:txBody>
          <a:bodyPr anchor="b">
            <a:normAutofit/>
          </a:bodyPr>
          <a:lstStyle/>
          <a:p>
            <a:pPr algn="l"/>
            <a:r>
              <a:rPr lang="ar-SA" sz="4400"/>
              <a:t>التحليل الوصفي</a:t>
            </a:r>
            <a:endParaRPr lang="ar-SA" sz="4400" dirty="0"/>
          </a:p>
        </p:txBody>
      </p:sp>
      <p:pic>
        <p:nvPicPr>
          <p:cNvPr id="5" name="صورة 4">
            <a:extLst>
              <a:ext uri="{FF2B5EF4-FFF2-40B4-BE49-F238E27FC236}">
                <a16:creationId xmlns:a16="http://schemas.microsoft.com/office/drawing/2014/main" id="{AB1C10F3-9BD1-4C2C-17CB-AED87C3E04D3}"/>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2861589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5EBEDD-AC57-EDB5-4F64-B368D1B97864}"/>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A69AAE0-49D5-4C8B-8BA2-55898C00E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A32492A7-F5F0-95C9-0D6B-CC92309DF501}"/>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3EA97043-A53A-2EB2-E42C-0A7C174C5831}"/>
              </a:ext>
            </a:extLst>
          </p:cNvPr>
          <p:cNvSpPr>
            <a:spLocks noGrp="1"/>
          </p:cNvSpPr>
          <p:nvPr>
            <p:ph type="ctrTitle"/>
          </p:nvPr>
        </p:nvSpPr>
        <p:spPr>
          <a:xfrm>
            <a:off x="6343650" y="3962400"/>
            <a:ext cx="5505814" cy="1690409"/>
          </a:xfrm>
        </p:spPr>
        <p:txBody>
          <a:bodyPr anchor="b">
            <a:normAutofit/>
          </a:bodyPr>
          <a:lstStyle/>
          <a:p>
            <a:pPr algn="l"/>
            <a:r>
              <a:rPr lang="ar-SA" sz="4400" dirty="0"/>
              <a:t>الاحصاء الوصفي</a:t>
            </a:r>
          </a:p>
        </p:txBody>
      </p:sp>
      <p:pic>
        <p:nvPicPr>
          <p:cNvPr id="5" name="صورة 4">
            <a:extLst>
              <a:ext uri="{FF2B5EF4-FFF2-40B4-BE49-F238E27FC236}">
                <a16:creationId xmlns:a16="http://schemas.microsoft.com/office/drawing/2014/main" id="{61D30866-C8FE-BAA0-88E7-B1DA3D50F6B3}"/>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2376444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263A032-C5C0-F547-8613-5BEFC2804A62}"/>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8C925F14-6D98-483C-87BE-42BE0182D46C}"/>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5" name="عنوان 4">
            <a:extLst>
              <a:ext uri="{FF2B5EF4-FFF2-40B4-BE49-F238E27FC236}">
                <a16:creationId xmlns:a16="http://schemas.microsoft.com/office/drawing/2014/main" id="{FF685EAD-C8AB-F316-38B7-B4B2478575DC}"/>
              </a:ext>
            </a:extLst>
          </p:cNvPr>
          <p:cNvSpPr>
            <a:spLocks noGrp="1"/>
          </p:cNvSpPr>
          <p:nvPr>
            <p:ph type="title"/>
          </p:nvPr>
        </p:nvSpPr>
        <p:spPr/>
        <p:txBody>
          <a:bodyPr/>
          <a:lstStyle/>
          <a:p>
            <a:r>
              <a:rPr lang="ar-SA" dirty="0"/>
              <a:t>الإحصاء الوصفي للرحلات الواصلة</a:t>
            </a:r>
          </a:p>
        </p:txBody>
      </p:sp>
      <p:sp>
        <p:nvSpPr>
          <p:cNvPr id="8" name="Rectangle 1">
            <a:extLst>
              <a:ext uri="{FF2B5EF4-FFF2-40B4-BE49-F238E27FC236}">
                <a16:creationId xmlns:a16="http://schemas.microsoft.com/office/drawing/2014/main" id="{C2FCE43F-CC43-23AB-F5A5-9DBD0EF27C42}"/>
              </a:ext>
            </a:extLst>
          </p:cNvPr>
          <p:cNvSpPr>
            <a:spLocks noChangeArrowheads="1"/>
          </p:cNvSpPr>
          <p:nvPr/>
        </p:nvSpPr>
        <p:spPr bwMode="auto">
          <a:xfrm>
            <a:off x="-3642039" y="-788562"/>
            <a:ext cx="17946232"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ar-SA" sz="900" b="1" i="0" u="none" strike="noStrike" cap="none" normalizeH="0" baseline="0">
                <a:ln>
                  <a:noFill/>
                </a:ln>
                <a:solidFill>
                  <a:srgbClr val="056EB2"/>
                </a:solidFill>
                <a:effectLst/>
                <a:latin typeface="Aptos" panose="020B0004020202020204" pitchFamily="34" charset="0"/>
                <a:ea typeface="Times New Roman" panose="02020603050405020304" pitchFamily="18" charset="0"/>
                <a:cs typeface="Arial" panose="020B0604020202020204" pitchFamily="34" charset="0"/>
              </a:rPr>
              <a:t>Statistics</a:t>
            </a:r>
            <a:endParaRPr kumimoji="0" lang="en-US" altLang="ar-SA" sz="1800" b="0" i="0" u="none" strike="noStrike" cap="none" normalizeH="0" baseline="0">
              <a:ln>
                <a:noFill/>
              </a:ln>
              <a:solidFill>
                <a:schemeClr val="tx1"/>
              </a:solidFill>
              <a:effectLst/>
              <a:latin typeface="Arial" panose="020B0604020202020204" pitchFamily="34" charset="0"/>
            </a:endParaRPr>
          </a:p>
        </p:txBody>
      </p:sp>
      <p:graphicFrame>
        <p:nvGraphicFramePr>
          <p:cNvPr id="10" name="عنصر نائب للمحتوى 6">
            <a:extLst>
              <a:ext uri="{FF2B5EF4-FFF2-40B4-BE49-F238E27FC236}">
                <a16:creationId xmlns:a16="http://schemas.microsoft.com/office/drawing/2014/main" id="{5FC8B27C-C9F4-7C05-AE0D-382237001E82}"/>
              </a:ext>
            </a:extLst>
          </p:cNvPr>
          <p:cNvGraphicFramePr>
            <a:graphicFrameLocks/>
          </p:cNvGraphicFramePr>
          <p:nvPr>
            <p:extLst>
              <p:ext uri="{D42A27DB-BD31-4B8C-83A1-F6EECF244321}">
                <p14:modId xmlns:p14="http://schemas.microsoft.com/office/powerpoint/2010/main" val="2883011528"/>
              </p:ext>
            </p:extLst>
          </p:nvPr>
        </p:nvGraphicFramePr>
        <p:xfrm>
          <a:off x="838200" y="1825625"/>
          <a:ext cx="5828268" cy="1371158"/>
        </p:xfrm>
        <a:graphic>
          <a:graphicData uri="http://schemas.openxmlformats.org/drawingml/2006/table">
            <a:tbl>
              <a:tblPr firstRow="1" bandRow="1">
                <a:tableStyleId>{5C22544A-7EE6-4342-B048-85BDC9FD1C3A}</a:tableStyleId>
              </a:tblPr>
              <a:tblGrid>
                <a:gridCol w="692030">
                  <a:extLst>
                    <a:ext uri="{9D8B030D-6E8A-4147-A177-3AD203B41FA5}">
                      <a16:colId xmlns:a16="http://schemas.microsoft.com/office/drawing/2014/main" val="651288487"/>
                    </a:ext>
                  </a:extLst>
                </a:gridCol>
                <a:gridCol w="293670">
                  <a:extLst>
                    <a:ext uri="{9D8B030D-6E8A-4147-A177-3AD203B41FA5}">
                      <a16:colId xmlns:a16="http://schemas.microsoft.com/office/drawing/2014/main" val="3716828832"/>
                    </a:ext>
                  </a:extLst>
                </a:gridCol>
                <a:gridCol w="616309">
                  <a:extLst>
                    <a:ext uri="{9D8B030D-6E8A-4147-A177-3AD203B41FA5}">
                      <a16:colId xmlns:a16="http://schemas.microsoft.com/office/drawing/2014/main" val="4292759413"/>
                    </a:ext>
                  </a:extLst>
                </a:gridCol>
                <a:gridCol w="565937">
                  <a:extLst>
                    <a:ext uri="{9D8B030D-6E8A-4147-A177-3AD203B41FA5}">
                      <a16:colId xmlns:a16="http://schemas.microsoft.com/office/drawing/2014/main" val="1812970506"/>
                    </a:ext>
                  </a:extLst>
                </a:gridCol>
                <a:gridCol w="50372">
                  <a:extLst>
                    <a:ext uri="{9D8B030D-6E8A-4147-A177-3AD203B41FA5}">
                      <a16:colId xmlns:a16="http://schemas.microsoft.com/office/drawing/2014/main" val="2898019805"/>
                    </a:ext>
                  </a:extLst>
                </a:gridCol>
                <a:gridCol w="1019608">
                  <a:extLst>
                    <a:ext uri="{9D8B030D-6E8A-4147-A177-3AD203B41FA5}">
                      <a16:colId xmlns:a16="http://schemas.microsoft.com/office/drawing/2014/main" val="3413554420"/>
                    </a:ext>
                  </a:extLst>
                </a:gridCol>
                <a:gridCol w="720015">
                  <a:extLst>
                    <a:ext uri="{9D8B030D-6E8A-4147-A177-3AD203B41FA5}">
                      <a16:colId xmlns:a16="http://schemas.microsoft.com/office/drawing/2014/main" val="4114478022"/>
                    </a:ext>
                  </a:extLst>
                </a:gridCol>
                <a:gridCol w="616309">
                  <a:extLst>
                    <a:ext uri="{9D8B030D-6E8A-4147-A177-3AD203B41FA5}">
                      <a16:colId xmlns:a16="http://schemas.microsoft.com/office/drawing/2014/main" val="2884711094"/>
                    </a:ext>
                  </a:extLst>
                </a:gridCol>
                <a:gridCol w="759522">
                  <a:extLst>
                    <a:ext uri="{9D8B030D-6E8A-4147-A177-3AD203B41FA5}">
                      <a16:colId xmlns:a16="http://schemas.microsoft.com/office/drawing/2014/main" val="412647963"/>
                    </a:ext>
                  </a:extLst>
                </a:gridCol>
                <a:gridCol w="494496">
                  <a:extLst>
                    <a:ext uri="{9D8B030D-6E8A-4147-A177-3AD203B41FA5}">
                      <a16:colId xmlns:a16="http://schemas.microsoft.com/office/drawing/2014/main" val="4161398248"/>
                    </a:ext>
                  </a:extLst>
                </a:gridCol>
              </a:tblGrid>
              <a:tr h="279908">
                <a:tc>
                  <a:txBody>
                    <a:bodyPr/>
                    <a:lstStyle/>
                    <a:p>
                      <a:pPr algn="just" rtl="1">
                        <a:lnSpc>
                          <a:spcPct val="150000"/>
                        </a:lnSpc>
                        <a:spcAft>
                          <a:spcPts val="800"/>
                        </a:spcAft>
                      </a:pPr>
                      <a:r>
                        <a:rPr lang="en-US" sz="1100">
                          <a:effectLst/>
                        </a:rPr>
                        <a:t>Variable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a:txBody>
                    <a:bodyPr/>
                    <a:lstStyle/>
                    <a:p>
                      <a:pPr algn="just" rtl="1">
                        <a:lnSpc>
                          <a:spcPct val="150000"/>
                        </a:lnSpc>
                        <a:spcAft>
                          <a:spcPts val="800"/>
                        </a:spcAft>
                      </a:pPr>
                      <a:r>
                        <a:rPr lang="en-US" sz="1100">
                          <a:effectLst/>
                        </a:rPr>
                        <a:t>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a:txBody>
                    <a:bodyPr/>
                    <a:lstStyle/>
                    <a:p>
                      <a:pPr algn="just" rtl="1">
                        <a:lnSpc>
                          <a:spcPct val="150000"/>
                        </a:lnSpc>
                        <a:spcAft>
                          <a:spcPts val="800"/>
                        </a:spcAft>
                      </a:pPr>
                      <a:r>
                        <a:rPr lang="en-US" sz="1100">
                          <a:effectLst/>
                        </a:rPr>
                        <a:t>Mean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gridSpan="2">
                  <a:txBody>
                    <a:bodyPr/>
                    <a:lstStyle/>
                    <a:p>
                      <a:pPr algn="just" rtl="1">
                        <a:lnSpc>
                          <a:spcPct val="150000"/>
                        </a:lnSpc>
                        <a:spcAft>
                          <a:spcPts val="800"/>
                        </a:spcAft>
                      </a:pPr>
                      <a:r>
                        <a:rPr lang="en-US" sz="1100">
                          <a:effectLst/>
                        </a:rPr>
                        <a:t>StDev</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hMerge="1">
                  <a:txBody>
                    <a:bodyPr/>
                    <a:lstStyle/>
                    <a:p>
                      <a:pPr rtl="1"/>
                      <a:endParaRPr lang="ar-SA"/>
                    </a:p>
                  </a:txBody>
                  <a:tcPr/>
                </a:tc>
                <a:tc>
                  <a:txBody>
                    <a:bodyPr/>
                    <a:lstStyle/>
                    <a:p>
                      <a:pPr algn="just" rtl="1">
                        <a:lnSpc>
                          <a:spcPct val="150000"/>
                        </a:lnSpc>
                        <a:spcAft>
                          <a:spcPts val="800"/>
                        </a:spcAft>
                      </a:pPr>
                      <a:r>
                        <a:rPr lang="en-US" sz="1100">
                          <a:effectLst/>
                        </a:rPr>
                        <a:t>Variance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a:txBody>
                    <a:bodyPr/>
                    <a:lstStyle/>
                    <a:p>
                      <a:pPr algn="just" rtl="1">
                        <a:lnSpc>
                          <a:spcPct val="150000"/>
                        </a:lnSpc>
                        <a:spcAft>
                          <a:spcPts val="800"/>
                        </a:spcAft>
                      </a:pPr>
                      <a:r>
                        <a:rPr lang="en-US" sz="1100">
                          <a:effectLst/>
                        </a:rPr>
                        <a:t>Minimum</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a:txBody>
                    <a:bodyPr/>
                    <a:lstStyle/>
                    <a:p>
                      <a:pPr algn="just" rtl="1">
                        <a:lnSpc>
                          <a:spcPct val="150000"/>
                        </a:lnSpc>
                        <a:spcAft>
                          <a:spcPts val="800"/>
                        </a:spcAft>
                      </a:pPr>
                      <a:r>
                        <a:rPr lang="en-US" sz="1100">
                          <a:effectLst/>
                        </a:rPr>
                        <a:t>Median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a:txBody>
                    <a:bodyPr/>
                    <a:lstStyle/>
                    <a:p>
                      <a:pPr algn="just" rtl="1">
                        <a:lnSpc>
                          <a:spcPct val="150000"/>
                        </a:lnSpc>
                        <a:spcAft>
                          <a:spcPts val="800"/>
                        </a:spcAft>
                      </a:pPr>
                      <a:r>
                        <a:rPr lang="en-US" sz="1100">
                          <a:effectLst/>
                        </a:rPr>
                        <a:t>Maximum</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a:txBody>
                    <a:bodyPr/>
                    <a:lstStyle/>
                    <a:p>
                      <a:pPr algn="just" rtl="1">
                        <a:lnSpc>
                          <a:spcPct val="150000"/>
                        </a:lnSpc>
                        <a:spcAft>
                          <a:spcPts val="800"/>
                        </a:spcAft>
                      </a:pPr>
                      <a:r>
                        <a:rPr lang="en-US" sz="1100">
                          <a:effectLst/>
                        </a:rPr>
                        <a:t>Mode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extLst>
                  <a:ext uri="{0D108BD9-81ED-4DB2-BD59-A6C34878D82A}">
                    <a16:rowId xmlns:a16="http://schemas.microsoft.com/office/drawing/2014/main" val="4040921153"/>
                  </a:ext>
                </a:extLst>
              </a:tr>
              <a:tr h="405671">
                <a:tc>
                  <a:txBody>
                    <a:bodyPr/>
                    <a:lstStyle/>
                    <a:p>
                      <a:pPr algn="just" rtl="1">
                        <a:lnSpc>
                          <a:spcPct val="150000"/>
                        </a:lnSpc>
                        <a:spcAft>
                          <a:spcPts val="800"/>
                        </a:spcAft>
                      </a:pPr>
                      <a:r>
                        <a:rPr lang="en-US" sz="800">
                          <a:effectLst/>
                        </a:rPr>
                        <a:t>Total of Flights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44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4616.1</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gridSpan="2">
                  <a:txBody>
                    <a:bodyPr/>
                    <a:lstStyle/>
                    <a:p>
                      <a:pPr algn="just" rtl="1">
                        <a:lnSpc>
                          <a:spcPct val="150000"/>
                        </a:lnSpc>
                        <a:spcAft>
                          <a:spcPts val="800"/>
                        </a:spcAft>
                      </a:pPr>
                      <a:r>
                        <a:rPr lang="en-US" sz="1100">
                          <a:effectLst/>
                        </a:rPr>
                        <a:t>447.8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hMerge="1">
                  <a:txBody>
                    <a:bodyPr/>
                    <a:lstStyle/>
                    <a:p>
                      <a:pPr rtl="1"/>
                      <a:endParaRPr lang="ar-SA"/>
                    </a:p>
                  </a:txBody>
                  <a:tcPr/>
                </a:tc>
                <a:tc>
                  <a:txBody>
                    <a:bodyPr/>
                    <a:lstStyle/>
                    <a:p>
                      <a:pPr algn="just" rtl="1">
                        <a:lnSpc>
                          <a:spcPct val="150000"/>
                        </a:lnSpc>
                        <a:spcAft>
                          <a:spcPts val="800"/>
                        </a:spcAft>
                      </a:pPr>
                      <a:r>
                        <a:rPr lang="en-US" sz="1100">
                          <a:effectLst/>
                        </a:rPr>
                        <a:t>200561.8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3584.0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4551.0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5703.0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dirty="0">
                          <a:effectLst/>
                        </a:rPr>
                        <a:t>5446</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extLst>
                  <a:ext uri="{0D108BD9-81ED-4DB2-BD59-A6C34878D82A}">
                    <a16:rowId xmlns:a16="http://schemas.microsoft.com/office/drawing/2014/main" val="1211289134"/>
                  </a:ext>
                </a:extLst>
              </a:tr>
              <a:tr h="405671">
                <a:tc>
                  <a:txBody>
                    <a:bodyPr/>
                    <a:lstStyle/>
                    <a:p>
                      <a:pPr algn="just" rtl="1">
                        <a:lnSpc>
                          <a:spcPct val="150000"/>
                        </a:lnSpc>
                        <a:spcAft>
                          <a:spcPts val="800"/>
                        </a:spcAft>
                      </a:pPr>
                      <a:r>
                        <a:rPr lang="en-US" sz="800">
                          <a:effectLst/>
                        </a:rPr>
                        <a:t>Total of Passengers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44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625148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gridSpan="2">
                  <a:txBody>
                    <a:bodyPr/>
                    <a:lstStyle/>
                    <a:p>
                      <a:pPr algn="just" rtl="1">
                        <a:lnSpc>
                          <a:spcPct val="150000"/>
                        </a:lnSpc>
                        <a:spcAft>
                          <a:spcPts val="800"/>
                        </a:spcAft>
                      </a:pPr>
                      <a:r>
                        <a:rPr lang="en-US" sz="1100">
                          <a:effectLst/>
                        </a:rPr>
                        <a:t>135587</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hMerge="1">
                  <a:txBody>
                    <a:bodyPr/>
                    <a:lstStyle/>
                    <a:p>
                      <a:pPr rtl="1"/>
                      <a:endParaRPr lang="ar-SA"/>
                    </a:p>
                  </a:txBody>
                  <a:tcPr/>
                </a:tc>
                <a:tc>
                  <a:txBody>
                    <a:bodyPr/>
                    <a:lstStyle/>
                    <a:p>
                      <a:pPr algn="just" rtl="1">
                        <a:lnSpc>
                          <a:spcPct val="150000"/>
                        </a:lnSpc>
                        <a:spcAft>
                          <a:spcPts val="800"/>
                        </a:spcAft>
                      </a:pPr>
                      <a:r>
                        <a:rPr lang="en-US" sz="1100">
                          <a:effectLst/>
                        </a:rPr>
                        <a:t>18383836956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344328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638149</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900070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tc>
                  <a:txBody>
                    <a:bodyPr/>
                    <a:lstStyle/>
                    <a:p>
                      <a:pPr algn="just" rtl="1">
                        <a:lnSpc>
                          <a:spcPct val="150000"/>
                        </a:lnSpc>
                        <a:spcAft>
                          <a:spcPts val="800"/>
                        </a:spcAft>
                      </a:pPr>
                      <a:r>
                        <a:rPr lang="en-US" sz="1100">
                          <a:effectLst/>
                        </a:rPr>
                        <a: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tc>
                <a:extLst>
                  <a:ext uri="{0D108BD9-81ED-4DB2-BD59-A6C34878D82A}">
                    <a16:rowId xmlns:a16="http://schemas.microsoft.com/office/drawing/2014/main" val="57623024"/>
                  </a:ext>
                </a:extLst>
              </a:tr>
              <a:tr h="279908">
                <a:tc>
                  <a:txBody>
                    <a:bodyPr/>
                    <a:lstStyle/>
                    <a:p>
                      <a:pPr algn="just"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gridSpan="3">
                  <a:txBody>
                    <a:bodyPr/>
                    <a:lstStyle/>
                    <a:p>
                      <a:pPr algn="just"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803" marR="15803" marT="7901" marB="0" anchor="b"/>
                </a:tc>
                <a:tc hMerge="1">
                  <a:txBody>
                    <a:bodyPr/>
                    <a:lstStyle/>
                    <a:p>
                      <a:pPr rtl="1"/>
                      <a:endParaRPr lang="ar-SA"/>
                    </a:p>
                  </a:txBody>
                  <a:tcPr/>
                </a:tc>
                <a:tc hMerge="1">
                  <a:txBody>
                    <a:bodyPr/>
                    <a:lstStyle/>
                    <a:p>
                      <a:pPr rtl="1"/>
                      <a:endParaRPr lang="ar-SA"/>
                    </a:p>
                  </a:txBody>
                  <a:tcPr/>
                </a:tc>
                <a:tc gridSpan="6">
                  <a:txBody>
                    <a:bodyPr/>
                    <a:lstStyle/>
                    <a:p>
                      <a:pPr algn="r" rtl="1">
                        <a:lnSpc>
                          <a:spcPct val="107000"/>
                        </a:lnSpc>
                        <a:spcAft>
                          <a:spcPts val="800"/>
                        </a:spcAft>
                      </a:pPr>
                      <a:r>
                        <a:rPr lang="en-US" sz="1100" dirty="0">
                          <a:effectLst/>
                        </a:rPr>
                        <a:t> </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4294635912"/>
                  </a:ext>
                </a:extLst>
              </a:tr>
            </a:tbl>
          </a:graphicData>
        </a:graphic>
      </p:graphicFrame>
      <p:sp>
        <p:nvSpPr>
          <p:cNvPr id="12" name="عنصر نائب للمحتوى 11">
            <a:extLst>
              <a:ext uri="{FF2B5EF4-FFF2-40B4-BE49-F238E27FC236}">
                <a16:creationId xmlns:a16="http://schemas.microsoft.com/office/drawing/2014/main" id="{7E308E3B-2BDB-5806-11BE-1A54CB91D655}"/>
              </a:ext>
            </a:extLst>
          </p:cNvPr>
          <p:cNvSpPr>
            <a:spLocks noGrp="1"/>
          </p:cNvSpPr>
          <p:nvPr>
            <p:ph idx="1"/>
          </p:nvPr>
        </p:nvSpPr>
        <p:spPr>
          <a:xfrm>
            <a:off x="838200" y="1520825"/>
            <a:ext cx="10515600" cy="4756150"/>
          </a:xfrm>
        </p:spPr>
        <p:txBody>
          <a:bodyPr/>
          <a:lstStyle/>
          <a:p>
            <a:r>
              <a:rPr lang="ar-SA" dirty="0"/>
              <a:t>مقاييس النزعة المركزية:</a:t>
            </a:r>
          </a:p>
          <a:p>
            <a:endParaRPr lang="ar-SA" dirty="0"/>
          </a:p>
          <a:p>
            <a:endParaRPr lang="ar-SA" dirty="0"/>
          </a:p>
          <a:p>
            <a:r>
              <a:rPr lang="ar-SA" dirty="0"/>
              <a:t>الرسومات البيانية:</a:t>
            </a:r>
          </a:p>
          <a:p>
            <a:pPr marL="0" indent="0">
              <a:buNone/>
            </a:pPr>
            <a:r>
              <a:rPr lang="ar-SA" dirty="0"/>
              <a:t>             </a:t>
            </a:r>
            <a:r>
              <a:rPr lang="ar-SA" sz="2400" dirty="0"/>
              <a:t>            الرحلات الواصلة:</a:t>
            </a:r>
          </a:p>
          <a:p>
            <a:pPr marL="0" indent="0">
              <a:buNone/>
            </a:pPr>
            <a:endParaRPr lang="ar-SA" sz="2400" dirty="0"/>
          </a:p>
          <a:p>
            <a:pPr marL="0" indent="0">
              <a:buNone/>
            </a:pPr>
            <a:endParaRPr lang="ar-SA" sz="2400" dirty="0"/>
          </a:p>
          <a:p>
            <a:pPr marL="0" indent="0">
              <a:buNone/>
            </a:pPr>
            <a:r>
              <a:rPr lang="ar-SA" sz="2400" dirty="0"/>
              <a:t>                           الركاب الواصلين:</a:t>
            </a:r>
            <a:endParaRPr lang="ar-SA" dirty="0"/>
          </a:p>
        </p:txBody>
      </p:sp>
      <p:pic>
        <p:nvPicPr>
          <p:cNvPr id="14" name="صورة 13" descr="Histogram (with Normal Curve) of Total of Flights">
            <a:extLst>
              <a:ext uri="{FF2B5EF4-FFF2-40B4-BE49-F238E27FC236}">
                <a16:creationId xmlns:a16="http://schemas.microsoft.com/office/drawing/2014/main" id="{5B51E14B-78B4-C655-1A7D-AD5E48F6F48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8542" y="3331720"/>
            <a:ext cx="2458206" cy="1640330"/>
          </a:xfrm>
          <a:prstGeom prst="rect">
            <a:avLst/>
          </a:prstGeom>
          <a:noFill/>
          <a:ln>
            <a:noFill/>
          </a:ln>
        </p:spPr>
      </p:pic>
      <p:pic>
        <p:nvPicPr>
          <p:cNvPr id="15" name="صورة 14" descr="Boxplot of Total of Flights">
            <a:extLst>
              <a:ext uri="{FF2B5EF4-FFF2-40B4-BE49-F238E27FC236}">
                <a16:creationId xmlns:a16="http://schemas.microsoft.com/office/drawing/2014/main" id="{E62A626F-E064-4F1D-07C0-4C0E5B3A54A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55838" y="3331720"/>
            <a:ext cx="2458205" cy="1640330"/>
          </a:xfrm>
          <a:prstGeom prst="rect">
            <a:avLst/>
          </a:prstGeom>
          <a:noFill/>
          <a:ln>
            <a:noFill/>
          </a:ln>
        </p:spPr>
      </p:pic>
      <p:pic>
        <p:nvPicPr>
          <p:cNvPr id="16" name="صورة 15" descr="Histogram (with Normal Curve) of Total of Passengers">
            <a:extLst>
              <a:ext uri="{FF2B5EF4-FFF2-40B4-BE49-F238E27FC236}">
                <a16:creationId xmlns:a16="http://schemas.microsoft.com/office/drawing/2014/main" id="{D46BBD64-44E5-B91E-F547-D625F84499D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78542" y="5020594"/>
            <a:ext cx="2458205" cy="1640330"/>
          </a:xfrm>
          <a:prstGeom prst="rect">
            <a:avLst/>
          </a:prstGeom>
          <a:noFill/>
          <a:ln>
            <a:noFill/>
          </a:ln>
        </p:spPr>
      </p:pic>
      <p:pic>
        <p:nvPicPr>
          <p:cNvPr id="17" name="صورة 16" descr="Boxplot of Total of Passengers">
            <a:extLst>
              <a:ext uri="{FF2B5EF4-FFF2-40B4-BE49-F238E27FC236}">
                <a16:creationId xmlns:a16="http://schemas.microsoft.com/office/drawing/2014/main" id="{A333F11F-68A5-6BB9-AA85-2DAB902156C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855837" y="5020594"/>
            <a:ext cx="2458206" cy="1640331"/>
          </a:xfrm>
          <a:prstGeom prst="rect">
            <a:avLst/>
          </a:prstGeom>
          <a:noFill/>
          <a:ln>
            <a:noFill/>
          </a:ln>
        </p:spPr>
      </p:pic>
      <p:sp>
        <p:nvSpPr>
          <p:cNvPr id="18" name="سهم: لليسار 17">
            <a:extLst>
              <a:ext uri="{FF2B5EF4-FFF2-40B4-BE49-F238E27FC236}">
                <a16:creationId xmlns:a16="http://schemas.microsoft.com/office/drawing/2014/main" id="{55757592-DD78-DFB1-E7B7-A4C7E25D473F}"/>
              </a:ext>
            </a:extLst>
          </p:cNvPr>
          <p:cNvSpPr/>
          <p:nvPr/>
        </p:nvSpPr>
        <p:spPr>
          <a:xfrm>
            <a:off x="7109927" y="1688177"/>
            <a:ext cx="989045" cy="25192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0" name="سهم: لليسار 19">
            <a:extLst>
              <a:ext uri="{FF2B5EF4-FFF2-40B4-BE49-F238E27FC236}">
                <a16:creationId xmlns:a16="http://schemas.microsoft.com/office/drawing/2014/main" id="{52A7D434-0E37-B297-1FD7-DC7273CD9AAA}"/>
              </a:ext>
            </a:extLst>
          </p:cNvPr>
          <p:cNvSpPr/>
          <p:nvPr/>
        </p:nvSpPr>
        <p:spPr>
          <a:xfrm>
            <a:off x="6511413" y="3718248"/>
            <a:ext cx="443459" cy="25192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1" name="سهم: لليسار 20">
            <a:extLst>
              <a:ext uri="{FF2B5EF4-FFF2-40B4-BE49-F238E27FC236}">
                <a16:creationId xmlns:a16="http://schemas.microsoft.com/office/drawing/2014/main" id="{4858869C-6B9F-DD17-9A43-98D59D36AD12}"/>
              </a:ext>
            </a:extLst>
          </p:cNvPr>
          <p:cNvSpPr/>
          <p:nvPr/>
        </p:nvSpPr>
        <p:spPr>
          <a:xfrm>
            <a:off x="6505648" y="5131237"/>
            <a:ext cx="443459" cy="25192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Tree>
    <p:extLst>
      <p:ext uri="{BB962C8B-B14F-4D97-AF65-F5344CB8AC3E}">
        <p14:creationId xmlns:p14="http://schemas.microsoft.com/office/powerpoint/2010/main" val="253181776"/>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3C75B9D-4593-1213-720E-6BC9FACD50AB}"/>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FF9298AD-6B02-DFE8-35D6-6DC9D11BA2F1}"/>
              </a:ext>
            </a:extLst>
          </p:cNvPr>
          <p:cNvPicPr>
            <a:picLocks noChangeAspect="1"/>
          </p:cNvPicPr>
          <p:nvPr/>
        </p:nvPicPr>
        <p:blipFill>
          <a:blip r:embed="rId2">
            <a:alphaModFix amt="50000"/>
          </a:blip>
          <a:srcRect r="4000"/>
          <a:stretch/>
        </p:blipFill>
        <p:spPr>
          <a:xfrm>
            <a:off x="20" y="0"/>
            <a:ext cx="12191980" cy="6857999"/>
          </a:xfrm>
          <a:prstGeom prst="rect">
            <a:avLst/>
          </a:prstGeom>
        </p:spPr>
      </p:pic>
      <p:sp>
        <p:nvSpPr>
          <p:cNvPr id="5" name="عنوان 4">
            <a:extLst>
              <a:ext uri="{FF2B5EF4-FFF2-40B4-BE49-F238E27FC236}">
                <a16:creationId xmlns:a16="http://schemas.microsoft.com/office/drawing/2014/main" id="{82D241DA-A9BE-DDFE-3C51-8B4CA17AAB5A}"/>
              </a:ext>
            </a:extLst>
          </p:cNvPr>
          <p:cNvSpPr>
            <a:spLocks noGrp="1"/>
          </p:cNvSpPr>
          <p:nvPr>
            <p:ph type="title"/>
          </p:nvPr>
        </p:nvSpPr>
        <p:spPr/>
        <p:txBody>
          <a:bodyPr/>
          <a:lstStyle/>
          <a:p>
            <a:r>
              <a:rPr lang="ar-SA"/>
              <a:t>الإحصاء الوصفي للرحلات المغادرة</a:t>
            </a:r>
            <a:endParaRPr lang="ar-SA" dirty="0"/>
          </a:p>
        </p:txBody>
      </p:sp>
      <p:sp>
        <p:nvSpPr>
          <p:cNvPr id="6" name="عنصر نائب للمحتوى 5">
            <a:extLst>
              <a:ext uri="{FF2B5EF4-FFF2-40B4-BE49-F238E27FC236}">
                <a16:creationId xmlns:a16="http://schemas.microsoft.com/office/drawing/2014/main" id="{936EDEEF-EBD5-20C7-2C50-34223DE42417}"/>
              </a:ext>
            </a:extLst>
          </p:cNvPr>
          <p:cNvSpPr>
            <a:spLocks noGrp="1"/>
          </p:cNvSpPr>
          <p:nvPr>
            <p:ph idx="1"/>
          </p:nvPr>
        </p:nvSpPr>
        <p:spPr/>
        <p:txBody>
          <a:bodyPr/>
          <a:lstStyle/>
          <a:p>
            <a:r>
              <a:rPr lang="ar-SA" dirty="0"/>
              <a:t>مقاييس النزعة المركزية:</a:t>
            </a:r>
          </a:p>
          <a:p>
            <a:endParaRPr lang="ar-SA" dirty="0"/>
          </a:p>
          <a:p>
            <a:endParaRPr lang="ar-SA" dirty="0"/>
          </a:p>
          <a:p>
            <a:r>
              <a:rPr lang="ar-SA" dirty="0"/>
              <a:t>رسومات بيانية:</a:t>
            </a:r>
          </a:p>
          <a:p>
            <a:pPr marL="0" indent="0">
              <a:buNone/>
            </a:pPr>
            <a:r>
              <a:rPr lang="ar-SA" dirty="0"/>
              <a:t>                     الرحلات المغادرة</a:t>
            </a:r>
          </a:p>
          <a:p>
            <a:pPr marL="0" indent="0">
              <a:buNone/>
            </a:pPr>
            <a:endParaRPr lang="ar-SA" dirty="0"/>
          </a:p>
          <a:p>
            <a:pPr marL="0" indent="0">
              <a:buNone/>
            </a:pPr>
            <a:r>
              <a:rPr lang="ar-SA" dirty="0"/>
              <a:t>                    الركاب المغادرين</a:t>
            </a:r>
          </a:p>
        </p:txBody>
      </p:sp>
      <p:graphicFrame>
        <p:nvGraphicFramePr>
          <p:cNvPr id="8" name="جدول 7">
            <a:extLst>
              <a:ext uri="{FF2B5EF4-FFF2-40B4-BE49-F238E27FC236}">
                <a16:creationId xmlns:a16="http://schemas.microsoft.com/office/drawing/2014/main" id="{5A47CD16-410F-1DD8-3325-2EEA180A1A08}"/>
              </a:ext>
            </a:extLst>
          </p:cNvPr>
          <p:cNvGraphicFramePr>
            <a:graphicFrameLocks noGrp="1"/>
          </p:cNvGraphicFramePr>
          <p:nvPr>
            <p:extLst>
              <p:ext uri="{D42A27DB-BD31-4B8C-83A1-F6EECF244321}">
                <p14:modId xmlns:p14="http://schemas.microsoft.com/office/powerpoint/2010/main" val="1562371078"/>
              </p:ext>
            </p:extLst>
          </p:nvPr>
        </p:nvGraphicFramePr>
        <p:xfrm>
          <a:off x="838200" y="1825625"/>
          <a:ext cx="6096002" cy="855462"/>
        </p:xfrm>
        <a:graphic>
          <a:graphicData uri="http://schemas.openxmlformats.org/drawingml/2006/table">
            <a:tbl>
              <a:tblPr firstRow="1" bandRow="1">
                <a:tableStyleId>{5C22544A-7EE6-4342-B048-85BDC9FD1C3A}</a:tableStyleId>
              </a:tblPr>
              <a:tblGrid>
                <a:gridCol w="753422">
                  <a:extLst>
                    <a:ext uri="{9D8B030D-6E8A-4147-A177-3AD203B41FA5}">
                      <a16:colId xmlns:a16="http://schemas.microsoft.com/office/drawing/2014/main" val="3597664752"/>
                    </a:ext>
                  </a:extLst>
                </a:gridCol>
                <a:gridCol w="291228">
                  <a:extLst>
                    <a:ext uri="{9D8B030D-6E8A-4147-A177-3AD203B41FA5}">
                      <a16:colId xmlns:a16="http://schemas.microsoft.com/office/drawing/2014/main" val="4068312360"/>
                    </a:ext>
                  </a:extLst>
                </a:gridCol>
                <a:gridCol w="700864">
                  <a:extLst>
                    <a:ext uri="{9D8B030D-6E8A-4147-A177-3AD203B41FA5}">
                      <a16:colId xmlns:a16="http://schemas.microsoft.com/office/drawing/2014/main" val="3302136660"/>
                    </a:ext>
                  </a:extLst>
                </a:gridCol>
                <a:gridCol w="618937">
                  <a:extLst>
                    <a:ext uri="{9D8B030D-6E8A-4147-A177-3AD203B41FA5}">
                      <a16:colId xmlns:a16="http://schemas.microsoft.com/office/drawing/2014/main" val="1773517830"/>
                    </a:ext>
                  </a:extLst>
                </a:gridCol>
                <a:gridCol w="700864">
                  <a:extLst>
                    <a:ext uri="{9D8B030D-6E8A-4147-A177-3AD203B41FA5}">
                      <a16:colId xmlns:a16="http://schemas.microsoft.com/office/drawing/2014/main" val="2165688900"/>
                    </a:ext>
                  </a:extLst>
                </a:gridCol>
                <a:gridCol w="1010022">
                  <a:extLst>
                    <a:ext uri="{9D8B030D-6E8A-4147-A177-3AD203B41FA5}">
                      <a16:colId xmlns:a16="http://schemas.microsoft.com/office/drawing/2014/main" val="3090722784"/>
                    </a:ext>
                  </a:extLst>
                </a:gridCol>
                <a:gridCol w="618937">
                  <a:extLst>
                    <a:ext uri="{9D8B030D-6E8A-4147-A177-3AD203B41FA5}">
                      <a16:colId xmlns:a16="http://schemas.microsoft.com/office/drawing/2014/main" val="523602129"/>
                    </a:ext>
                  </a:extLst>
                </a:gridCol>
                <a:gridCol w="700864">
                  <a:extLst>
                    <a:ext uri="{9D8B030D-6E8A-4147-A177-3AD203B41FA5}">
                      <a16:colId xmlns:a16="http://schemas.microsoft.com/office/drawing/2014/main" val="3180774707"/>
                    </a:ext>
                  </a:extLst>
                </a:gridCol>
                <a:gridCol w="700864">
                  <a:extLst>
                    <a:ext uri="{9D8B030D-6E8A-4147-A177-3AD203B41FA5}">
                      <a16:colId xmlns:a16="http://schemas.microsoft.com/office/drawing/2014/main" val="589540683"/>
                    </a:ext>
                  </a:extLst>
                </a:gridCol>
              </a:tblGrid>
              <a:tr h="205238">
                <a:tc>
                  <a:txBody>
                    <a:bodyPr/>
                    <a:lstStyle/>
                    <a:p>
                      <a:pPr algn="just" rtl="1">
                        <a:lnSpc>
                          <a:spcPct val="150000"/>
                        </a:lnSpc>
                        <a:spcAft>
                          <a:spcPts val="800"/>
                        </a:spcAft>
                      </a:pPr>
                      <a:r>
                        <a:rPr lang="en-US" sz="800" dirty="0">
                          <a:effectLst/>
                        </a:rPr>
                        <a:t>Variable</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nchor="b"/>
                </a:tc>
                <a:tc>
                  <a:txBody>
                    <a:bodyPr/>
                    <a:lstStyle/>
                    <a:p>
                      <a:pPr algn="just" rtl="1">
                        <a:lnSpc>
                          <a:spcPct val="150000"/>
                        </a:lnSpc>
                        <a:spcAft>
                          <a:spcPts val="800"/>
                        </a:spcAft>
                      </a:pPr>
                      <a:r>
                        <a:rPr lang="en-US" sz="800" dirty="0">
                          <a:effectLst/>
                        </a:rPr>
                        <a:t>N</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nchor="b"/>
                </a:tc>
                <a:tc>
                  <a:txBody>
                    <a:bodyPr/>
                    <a:lstStyle/>
                    <a:p>
                      <a:pPr algn="just" rtl="1">
                        <a:lnSpc>
                          <a:spcPct val="150000"/>
                        </a:lnSpc>
                        <a:spcAft>
                          <a:spcPts val="800"/>
                        </a:spcAft>
                      </a:pPr>
                      <a:r>
                        <a:rPr lang="en-US" sz="800" dirty="0">
                          <a:effectLst/>
                        </a:rPr>
                        <a:t>Mean</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nchor="b"/>
                </a:tc>
                <a:tc>
                  <a:txBody>
                    <a:bodyPr/>
                    <a:lstStyle/>
                    <a:p>
                      <a:pPr algn="just" rtl="1">
                        <a:lnSpc>
                          <a:spcPct val="150000"/>
                        </a:lnSpc>
                        <a:spcAft>
                          <a:spcPts val="800"/>
                        </a:spcAft>
                      </a:pPr>
                      <a:r>
                        <a:rPr lang="en-US" sz="800">
                          <a:effectLst/>
                        </a:rPr>
                        <a:t>SE Mean</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nchor="b"/>
                </a:tc>
                <a:tc>
                  <a:txBody>
                    <a:bodyPr/>
                    <a:lstStyle/>
                    <a:p>
                      <a:pPr algn="just" rtl="1">
                        <a:lnSpc>
                          <a:spcPct val="150000"/>
                        </a:lnSpc>
                        <a:spcAft>
                          <a:spcPts val="800"/>
                        </a:spcAft>
                      </a:pPr>
                      <a:r>
                        <a:rPr lang="en-US" sz="800">
                          <a:effectLst/>
                        </a:rPr>
                        <a:t>StDev</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nchor="b"/>
                </a:tc>
                <a:tc>
                  <a:txBody>
                    <a:bodyPr/>
                    <a:lstStyle/>
                    <a:p>
                      <a:pPr algn="just" rtl="1">
                        <a:lnSpc>
                          <a:spcPct val="150000"/>
                        </a:lnSpc>
                        <a:spcAft>
                          <a:spcPts val="800"/>
                        </a:spcAft>
                      </a:pPr>
                      <a:r>
                        <a:rPr lang="en-US" sz="800">
                          <a:effectLst/>
                        </a:rPr>
                        <a:t>Variance</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nchor="b"/>
                </a:tc>
                <a:tc>
                  <a:txBody>
                    <a:bodyPr/>
                    <a:lstStyle/>
                    <a:p>
                      <a:pPr algn="just" rtl="1">
                        <a:lnSpc>
                          <a:spcPct val="150000"/>
                        </a:lnSpc>
                        <a:spcAft>
                          <a:spcPts val="800"/>
                        </a:spcAft>
                      </a:pPr>
                      <a:r>
                        <a:rPr lang="en-US" sz="800">
                          <a:effectLst/>
                        </a:rPr>
                        <a:t>Minimum</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nchor="b"/>
                </a:tc>
                <a:tc>
                  <a:txBody>
                    <a:bodyPr/>
                    <a:lstStyle/>
                    <a:p>
                      <a:pPr algn="just" rtl="1">
                        <a:lnSpc>
                          <a:spcPct val="150000"/>
                        </a:lnSpc>
                        <a:spcAft>
                          <a:spcPts val="800"/>
                        </a:spcAft>
                      </a:pPr>
                      <a:r>
                        <a:rPr lang="en-US" sz="800">
                          <a:effectLst/>
                        </a:rPr>
                        <a:t>Median</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nchor="b"/>
                </a:tc>
                <a:tc>
                  <a:txBody>
                    <a:bodyPr/>
                    <a:lstStyle/>
                    <a:p>
                      <a:pPr algn="just" rtl="1">
                        <a:lnSpc>
                          <a:spcPct val="150000"/>
                        </a:lnSpc>
                        <a:spcAft>
                          <a:spcPts val="800"/>
                        </a:spcAft>
                      </a:pPr>
                      <a:r>
                        <a:rPr lang="en-US" sz="800">
                          <a:effectLst/>
                        </a:rPr>
                        <a:t>Maximum</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nchor="b"/>
                </a:tc>
                <a:extLst>
                  <a:ext uri="{0D108BD9-81ED-4DB2-BD59-A6C34878D82A}">
                    <a16:rowId xmlns:a16="http://schemas.microsoft.com/office/drawing/2014/main" val="1081172708"/>
                  </a:ext>
                </a:extLst>
              </a:tr>
              <a:tr h="260477">
                <a:tc>
                  <a:txBody>
                    <a:bodyPr/>
                    <a:lstStyle/>
                    <a:p>
                      <a:pPr algn="just" rtl="1">
                        <a:lnSpc>
                          <a:spcPct val="150000"/>
                        </a:lnSpc>
                        <a:spcAft>
                          <a:spcPts val="800"/>
                        </a:spcAft>
                      </a:pPr>
                      <a:r>
                        <a:rPr lang="en-US" sz="800">
                          <a:effectLst/>
                        </a:rPr>
                        <a:t>total of flghtts</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a:effectLst/>
                        </a:rPr>
                        <a:t>48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dirty="0">
                          <a:effectLst/>
                        </a:rPr>
                        <a:t>21674</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dirty="0">
                          <a:effectLst/>
                        </a:rPr>
                        <a:t>1441</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a:effectLst/>
                        </a:rPr>
                        <a:t>9981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a:effectLst/>
                        </a:rPr>
                        <a:t>99624407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a:effectLst/>
                        </a:rPr>
                        <a:t>7168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a:effectLst/>
                        </a:rPr>
                        <a:t>21301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a:effectLst/>
                        </a:rPr>
                        <a:t>38690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extLst>
                  <a:ext uri="{0D108BD9-81ED-4DB2-BD59-A6C34878D82A}">
                    <a16:rowId xmlns:a16="http://schemas.microsoft.com/office/drawing/2014/main" val="3743898841"/>
                  </a:ext>
                </a:extLst>
              </a:tr>
              <a:tr h="389747">
                <a:tc>
                  <a:txBody>
                    <a:bodyPr/>
                    <a:lstStyle/>
                    <a:p>
                      <a:pPr algn="just" rtl="1">
                        <a:lnSpc>
                          <a:spcPct val="150000"/>
                        </a:lnSpc>
                        <a:spcAft>
                          <a:spcPts val="800"/>
                        </a:spcAft>
                      </a:pPr>
                      <a:r>
                        <a:rPr lang="en-US" sz="800">
                          <a:effectLst/>
                        </a:rPr>
                        <a:t>total of passengers</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a:effectLst/>
                        </a:rPr>
                        <a:t>48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a:effectLst/>
                        </a:rPr>
                        <a:t>2783551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a:effectLst/>
                        </a:rPr>
                        <a:t>207716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dirty="0">
                          <a:effectLst/>
                        </a:rPr>
                        <a:t>1439101</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dirty="0">
                          <a:effectLst/>
                        </a:rPr>
                        <a:t>2.07101E+12</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dirty="0">
                          <a:effectLst/>
                        </a:rPr>
                        <a:t>675903</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dirty="0">
                          <a:effectLst/>
                        </a:rPr>
                        <a:t>2786051</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tc>
                  <a:txBody>
                    <a:bodyPr/>
                    <a:lstStyle/>
                    <a:p>
                      <a:pPr algn="just" rtl="1">
                        <a:lnSpc>
                          <a:spcPct val="150000"/>
                        </a:lnSpc>
                        <a:spcAft>
                          <a:spcPts val="800"/>
                        </a:spcAft>
                      </a:pPr>
                      <a:r>
                        <a:rPr lang="en-US" sz="1100" dirty="0">
                          <a:effectLst/>
                        </a:rPr>
                        <a:t>5497874</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13667" marR="13667" marT="6834" marB="0"/>
                </a:tc>
                <a:extLst>
                  <a:ext uri="{0D108BD9-81ED-4DB2-BD59-A6C34878D82A}">
                    <a16:rowId xmlns:a16="http://schemas.microsoft.com/office/drawing/2014/main" val="1823123479"/>
                  </a:ext>
                </a:extLst>
              </a:tr>
            </a:tbl>
          </a:graphicData>
        </a:graphic>
      </p:graphicFrame>
      <p:pic>
        <p:nvPicPr>
          <p:cNvPr id="10" name="صورة 9" descr="Histogram (with Normal Curve) of total of flghtts">
            <a:extLst>
              <a:ext uri="{FF2B5EF4-FFF2-40B4-BE49-F238E27FC236}">
                <a16:creationId xmlns:a16="http://schemas.microsoft.com/office/drawing/2014/main" id="{3A869E23-1E58-121F-5817-1428A21ACE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53491" y="3356114"/>
            <a:ext cx="2458467" cy="1641600"/>
          </a:xfrm>
          <a:prstGeom prst="rect">
            <a:avLst/>
          </a:prstGeom>
          <a:noFill/>
          <a:ln>
            <a:noFill/>
          </a:ln>
        </p:spPr>
      </p:pic>
      <p:pic>
        <p:nvPicPr>
          <p:cNvPr id="11" name="صورة 10" descr="Histogram (with Normal Curve) of total of passengers">
            <a:extLst>
              <a:ext uri="{FF2B5EF4-FFF2-40B4-BE49-F238E27FC236}">
                <a16:creationId xmlns:a16="http://schemas.microsoft.com/office/drawing/2014/main" id="{EE29051A-2E3B-A0A3-1CAE-FFEE84D1CD6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53485" y="5025900"/>
            <a:ext cx="2458472" cy="1641600"/>
          </a:xfrm>
          <a:prstGeom prst="rect">
            <a:avLst/>
          </a:prstGeom>
          <a:noFill/>
          <a:ln>
            <a:noFill/>
          </a:ln>
        </p:spPr>
      </p:pic>
      <p:pic>
        <p:nvPicPr>
          <p:cNvPr id="13" name="صورة 12" descr="Boxplot of total of flghtts">
            <a:extLst>
              <a:ext uri="{FF2B5EF4-FFF2-40B4-BE49-F238E27FC236}">
                <a16:creationId xmlns:a16="http://schemas.microsoft.com/office/drawing/2014/main" id="{280E4D89-D82E-52B7-71C8-2845308DAE3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86201" y="3356114"/>
            <a:ext cx="2458473" cy="1641600"/>
          </a:xfrm>
          <a:prstGeom prst="rect">
            <a:avLst/>
          </a:prstGeom>
          <a:noFill/>
          <a:ln>
            <a:noFill/>
          </a:ln>
        </p:spPr>
      </p:pic>
      <p:pic>
        <p:nvPicPr>
          <p:cNvPr id="15" name="صورة 14" descr="Boxplot of total of passengers">
            <a:extLst>
              <a:ext uri="{FF2B5EF4-FFF2-40B4-BE49-F238E27FC236}">
                <a16:creationId xmlns:a16="http://schemas.microsoft.com/office/drawing/2014/main" id="{42880F36-7B04-5EDA-4405-102B162EC4C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886201" y="5025900"/>
            <a:ext cx="2458473" cy="1641600"/>
          </a:xfrm>
          <a:prstGeom prst="rect">
            <a:avLst/>
          </a:prstGeom>
          <a:noFill/>
          <a:ln>
            <a:noFill/>
          </a:ln>
        </p:spPr>
      </p:pic>
      <p:sp>
        <p:nvSpPr>
          <p:cNvPr id="16" name="سهم: لليسار 15">
            <a:extLst>
              <a:ext uri="{FF2B5EF4-FFF2-40B4-BE49-F238E27FC236}">
                <a16:creationId xmlns:a16="http://schemas.microsoft.com/office/drawing/2014/main" id="{A92806B6-E8A5-E728-A258-D2AF70194ACB}"/>
              </a:ext>
            </a:extLst>
          </p:cNvPr>
          <p:cNvSpPr/>
          <p:nvPr/>
        </p:nvSpPr>
        <p:spPr>
          <a:xfrm>
            <a:off x="7200900" y="1931987"/>
            <a:ext cx="847725" cy="24765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7" name="سهم: لليسار 16">
            <a:extLst>
              <a:ext uri="{FF2B5EF4-FFF2-40B4-BE49-F238E27FC236}">
                <a16:creationId xmlns:a16="http://schemas.microsoft.com/office/drawing/2014/main" id="{E998D5ED-CFF0-ADBB-16E3-900640E2D0CD}"/>
              </a:ext>
            </a:extLst>
          </p:cNvPr>
          <p:cNvSpPr/>
          <p:nvPr/>
        </p:nvSpPr>
        <p:spPr>
          <a:xfrm>
            <a:off x="6574536" y="3922776"/>
            <a:ext cx="521208" cy="32918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8" name="سهم: لليسار 17">
            <a:extLst>
              <a:ext uri="{FF2B5EF4-FFF2-40B4-BE49-F238E27FC236}">
                <a16:creationId xmlns:a16="http://schemas.microsoft.com/office/drawing/2014/main" id="{CBEB0921-D600-32CC-4A69-DB8943C68956}"/>
              </a:ext>
            </a:extLst>
          </p:cNvPr>
          <p:cNvSpPr/>
          <p:nvPr/>
        </p:nvSpPr>
        <p:spPr>
          <a:xfrm>
            <a:off x="6661646" y="5025900"/>
            <a:ext cx="521208" cy="32918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Tree>
    <p:extLst>
      <p:ext uri="{BB962C8B-B14F-4D97-AF65-F5344CB8AC3E}">
        <p14:creationId xmlns:p14="http://schemas.microsoft.com/office/powerpoint/2010/main" val="2806178061"/>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E3B42DE-F116-A7DA-AB18-15C3FE12EDCD}"/>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0EE8F2C3-092C-A7F2-E0DD-539A78C2EE9E}"/>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5" name="عنوان 4">
            <a:extLst>
              <a:ext uri="{FF2B5EF4-FFF2-40B4-BE49-F238E27FC236}">
                <a16:creationId xmlns:a16="http://schemas.microsoft.com/office/drawing/2014/main" id="{C8CFC855-9D2D-6647-4520-54E35EA77952}"/>
              </a:ext>
            </a:extLst>
          </p:cNvPr>
          <p:cNvSpPr>
            <a:spLocks noGrp="1"/>
          </p:cNvSpPr>
          <p:nvPr>
            <p:ph type="title"/>
          </p:nvPr>
        </p:nvSpPr>
        <p:spPr/>
        <p:txBody>
          <a:bodyPr/>
          <a:lstStyle/>
          <a:p>
            <a:r>
              <a:rPr lang="ar-SA" dirty="0"/>
              <a:t>الإحصاء الوصفي حسب الوجهة</a:t>
            </a:r>
          </a:p>
        </p:txBody>
      </p:sp>
      <p:sp>
        <p:nvSpPr>
          <p:cNvPr id="18" name="عنصر نائب للنص 17">
            <a:extLst>
              <a:ext uri="{FF2B5EF4-FFF2-40B4-BE49-F238E27FC236}">
                <a16:creationId xmlns:a16="http://schemas.microsoft.com/office/drawing/2014/main" id="{8D4174B0-BD4A-D8F1-483D-DE479A14BE57}"/>
              </a:ext>
            </a:extLst>
          </p:cNvPr>
          <p:cNvSpPr>
            <a:spLocks noGrp="1"/>
          </p:cNvSpPr>
          <p:nvPr>
            <p:ph type="body" idx="1"/>
          </p:nvPr>
        </p:nvSpPr>
        <p:spPr/>
        <p:txBody>
          <a:bodyPr>
            <a:normAutofit/>
          </a:bodyPr>
          <a:lstStyle/>
          <a:p>
            <a:r>
              <a:rPr lang="ar-SA" sz="1800" dirty="0">
                <a:effectLst/>
                <a:ea typeface="Times New Roman" panose="02020603050405020304" pitchFamily="18" charset="0"/>
                <a:cs typeface="Times New Roman" panose="02020603050405020304" pitchFamily="18" charset="0"/>
              </a:rPr>
              <a:t>الرسم البياني لمتوسطات الرحلات المغادرة في كل مدينة</a:t>
            </a:r>
            <a:endParaRPr lang="ar-SA" dirty="0"/>
          </a:p>
        </p:txBody>
      </p:sp>
      <p:sp>
        <p:nvSpPr>
          <p:cNvPr id="19" name="عنصر نائب للنص 18">
            <a:extLst>
              <a:ext uri="{FF2B5EF4-FFF2-40B4-BE49-F238E27FC236}">
                <a16:creationId xmlns:a16="http://schemas.microsoft.com/office/drawing/2014/main" id="{A5CFB33B-912F-3111-F26F-9DE0640725B6}"/>
              </a:ext>
            </a:extLst>
          </p:cNvPr>
          <p:cNvSpPr>
            <a:spLocks noGrp="1"/>
          </p:cNvSpPr>
          <p:nvPr>
            <p:ph type="body" sz="quarter" idx="3"/>
          </p:nvPr>
        </p:nvSpPr>
        <p:spPr/>
        <p:txBody>
          <a:bodyPr>
            <a:normAutofit/>
          </a:bodyPr>
          <a:lstStyle/>
          <a:p>
            <a:r>
              <a:rPr lang="ar-SA" sz="2000" dirty="0"/>
              <a:t>الرسم</a:t>
            </a:r>
            <a:r>
              <a:rPr lang="ar-SA" sz="2800" dirty="0"/>
              <a:t> </a:t>
            </a:r>
            <a:r>
              <a:rPr lang="ar-SA" sz="2000" dirty="0">
                <a:effectLst/>
                <a:ea typeface="Times New Roman" panose="02020603050405020304" pitchFamily="18" charset="0"/>
                <a:cs typeface="Times New Roman" panose="02020603050405020304" pitchFamily="18" charset="0"/>
              </a:rPr>
              <a:t>البياني لمتوسطات الركاب المغادرين حسب المدينة</a:t>
            </a:r>
            <a:endParaRPr lang="ar-SA" sz="2800" dirty="0"/>
          </a:p>
        </p:txBody>
      </p:sp>
      <p:sp>
        <p:nvSpPr>
          <p:cNvPr id="20" name="عنصر نائب للمحتوى 19">
            <a:extLst>
              <a:ext uri="{FF2B5EF4-FFF2-40B4-BE49-F238E27FC236}">
                <a16:creationId xmlns:a16="http://schemas.microsoft.com/office/drawing/2014/main" id="{98C715EE-40A5-D83C-32D1-173E0B194C66}"/>
              </a:ext>
            </a:extLst>
          </p:cNvPr>
          <p:cNvSpPr>
            <a:spLocks noGrp="1"/>
          </p:cNvSpPr>
          <p:nvPr>
            <p:ph sz="quarter" idx="4"/>
          </p:nvPr>
        </p:nvSpPr>
        <p:spPr/>
        <p:txBody>
          <a:bodyPr>
            <a:normAutofit lnSpcReduction="10000"/>
          </a:bodyPr>
          <a:lstStyle/>
          <a:p>
            <a:r>
              <a:rPr lang="ar-SA" sz="2400" dirty="0"/>
              <a:t>نقارن متوسطات الركاب المغادرين حسب المدينة لمعرفة ما أكثر وجهة كان فيها أكثر عدد ركاب.</a:t>
            </a:r>
          </a:p>
          <a:p>
            <a:r>
              <a:rPr lang="ar-SA" sz="2400" dirty="0"/>
              <a:t>كما هو موضح </a:t>
            </a:r>
          </a:p>
          <a:p>
            <a:pPr marL="0" indent="0">
              <a:buNone/>
            </a:pPr>
            <a:r>
              <a:rPr lang="ar-SA" sz="2400" dirty="0"/>
              <a:t>  بالشكل فان مدينة</a:t>
            </a:r>
          </a:p>
          <a:p>
            <a:pPr marL="0" indent="0">
              <a:buNone/>
            </a:pPr>
            <a:r>
              <a:rPr lang="ar-SA" sz="2400" dirty="0"/>
              <a:t>  جدة هي أكثر وجهة</a:t>
            </a:r>
          </a:p>
          <a:p>
            <a:pPr marL="0" indent="0">
              <a:buNone/>
            </a:pPr>
            <a:r>
              <a:rPr lang="ar-SA" sz="2400" dirty="0"/>
              <a:t> كان فيها عدد ركاب.</a:t>
            </a:r>
          </a:p>
        </p:txBody>
      </p:sp>
      <p:pic>
        <p:nvPicPr>
          <p:cNvPr id="14" name="صورة 13" descr="Chart of Mean( Sorted TOP )">
            <a:extLst>
              <a:ext uri="{FF2B5EF4-FFF2-40B4-BE49-F238E27FC236}">
                <a16:creationId xmlns:a16="http://schemas.microsoft.com/office/drawing/2014/main" id="{15C48682-E1C2-B5B7-59F3-730D79E8A5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3179751"/>
            <a:ext cx="2990850" cy="1997085"/>
          </a:xfrm>
          <a:prstGeom prst="rect">
            <a:avLst/>
          </a:prstGeom>
          <a:noFill/>
          <a:ln>
            <a:noFill/>
          </a:ln>
        </p:spPr>
      </p:pic>
      <p:sp>
        <p:nvSpPr>
          <p:cNvPr id="22" name="عنصر نائب للمحتوى 21">
            <a:extLst>
              <a:ext uri="{FF2B5EF4-FFF2-40B4-BE49-F238E27FC236}">
                <a16:creationId xmlns:a16="http://schemas.microsoft.com/office/drawing/2014/main" id="{DF226BE1-B90D-F979-0113-EE966A89096B}"/>
              </a:ext>
            </a:extLst>
          </p:cNvPr>
          <p:cNvSpPr>
            <a:spLocks noGrp="1"/>
          </p:cNvSpPr>
          <p:nvPr>
            <p:ph sz="half" idx="2"/>
          </p:nvPr>
        </p:nvSpPr>
        <p:spPr/>
        <p:txBody>
          <a:bodyPr>
            <a:normAutofit lnSpcReduction="10000"/>
          </a:bodyPr>
          <a:lstStyle/>
          <a:p>
            <a:r>
              <a:rPr lang="ar-SA" sz="2400" dirty="0"/>
              <a:t>نقارن متوسطات الرحلات المغادرة في كل مدينة لمعرفة ما هي المدينة التي تحمل أكثر عدد رحلات غادرت</a:t>
            </a:r>
          </a:p>
          <a:p>
            <a:pPr marL="0" indent="0">
              <a:buNone/>
            </a:pPr>
            <a:r>
              <a:rPr lang="ar-SA" sz="2400" dirty="0"/>
              <a:t>   من المطار الى</a:t>
            </a:r>
          </a:p>
          <a:p>
            <a:pPr marL="0" indent="0">
              <a:buNone/>
            </a:pPr>
            <a:r>
              <a:rPr lang="ar-SA" sz="2400" dirty="0"/>
              <a:t> المدينة.</a:t>
            </a:r>
          </a:p>
          <a:p>
            <a:r>
              <a:rPr lang="ar-SA" sz="2400" dirty="0"/>
              <a:t>كما هو موضح </a:t>
            </a:r>
          </a:p>
          <a:p>
            <a:pPr marL="0" indent="0">
              <a:buNone/>
            </a:pPr>
            <a:r>
              <a:rPr lang="ar-SA" sz="2400" dirty="0"/>
              <a:t>   بالشكل فان مدينة </a:t>
            </a:r>
          </a:p>
          <a:p>
            <a:pPr marL="0" indent="0">
              <a:buNone/>
            </a:pPr>
            <a:r>
              <a:rPr lang="ar-SA" sz="2400" dirty="0"/>
              <a:t>  جدة كانت الوجهة الأكثر رحلات مغادرة لها من المطار.</a:t>
            </a:r>
          </a:p>
        </p:txBody>
      </p:sp>
      <p:pic>
        <p:nvPicPr>
          <p:cNvPr id="24" name="صورة 23" descr="Chart of Mean( Sorted TOF )">
            <a:extLst>
              <a:ext uri="{FF2B5EF4-FFF2-40B4-BE49-F238E27FC236}">
                <a16:creationId xmlns:a16="http://schemas.microsoft.com/office/drawing/2014/main" id="{3192FE81-3F77-DFC3-01A7-CA686772AC8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6612" y="3179752"/>
            <a:ext cx="2990850" cy="1997085"/>
          </a:xfrm>
          <a:prstGeom prst="rect">
            <a:avLst/>
          </a:prstGeom>
          <a:noFill/>
          <a:ln>
            <a:noFill/>
          </a:ln>
        </p:spPr>
      </p:pic>
    </p:spTree>
    <p:extLst>
      <p:ext uri="{BB962C8B-B14F-4D97-AF65-F5344CB8AC3E}">
        <p14:creationId xmlns:p14="http://schemas.microsoft.com/office/powerpoint/2010/main" val="1555719667"/>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A836FFB-4E8E-81CF-6CA8-5B6C0CE3C397}"/>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D36F48AD-0CC8-619D-71CB-753750D9A721}"/>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5" name="عنوان 4">
            <a:extLst>
              <a:ext uri="{FF2B5EF4-FFF2-40B4-BE49-F238E27FC236}">
                <a16:creationId xmlns:a16="http://schemas.microsoft.com/office/drawing/2014/main" id="{DD840933-37EB-E63D-2776-B9CF348CBB6C}"/>
              </a:ext>
            </a:extLst>
          </p:cNvPr>
          <p:cNvSpPr>
            <a:spLocks noGrp="1"/>
          </p:cNvSpPr>
          <p:nvPr>
            <p:ph type="title"/>
          </p:nvPr>
        </p:nvSpPr>
        <p:spPr/>
        <p:txBody>
          <a:bodyPr/>
          <a:lstStyle/>
          <a:p>
            <a:r>
              <a:rPr lang="ar-SA" dirty="0"/>
              <a:t>مقاييس النزعة المركزية حسب الفصول الاربعة:</a:t>
            </a:r>
          </a:p>
        </p:txBody>
      </p:sp>
      <p:sp>
        <p:nvSpPr>
          <p:cNvPr id="8" name="Rectangle 1">
            <a:extLst>
              <a:ext uri="{FF2B5EF4-FFF2-40B4-BE49-F238E27FC236}">
                <a16:creationId xmlns:a16="http://schemas.microsoft.com/office/drawing/2014/main" id="{6D9A1372-9D64-6A6C-FF38-3886BAE80B1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ar-SA" sz="900" b="1" i="0" u="none" strike="noStrike" cap="none" normalizeH="0" baseline="0">
                <a:ln>
                  <a:noFill/>
                </a:ln>
                <a:solidFill>
                  <a:srgbClr val="056EB2"/>
                </a:solidFill>
                <a:effectLst/>
                <a:latin typeface="Aptos" panose="020B0004020202020204" pitchFamily="34" charset="0"/>
                <a:ea typeface="Times New Roman" panose="02020603050405020304" pitchFamily="18" charset="0"/>
                <a:cs typeface="Arial" panose="020B0604020202020204" pitchFamily="34" charset="0"/>
              </a:rPr>
              <a:t>Statistics</a:t>
            </a:r>
            <a:endParaRPr kumimoji="0" lang="en-US" altLang="ar-SA" sz="1800" b="0" i="0" u="none" strike="noStrike" cap="none" normalizeH="0" baseline="0">
              <a:ln>
                <a:noFill/>
              </a:ln>
              <a:solidFill>
                <a:schemeClr val="tx1"/>
              </a:solidFill>
              <a:effectLst/>
              <a:latin typeface="Arial" panose="020B0604020202020204" pitchFamily="34" charset="0"/>
            </a:endParaRPr>
          </a:p>
        </p:txBody>
      </p:sp>
      <p:sp>
        <p:nvSpPr>
          <p:cNvPr id="11" name="عنصر نائب للمحتوى 10">
            <a:extLst>
              <a:ext uri="{FF2B5EF4-FFF2-40B4-BE49-F238E27FC236}">
                <a16:creationId xmlns:a16="http://schemas.microsoft.com/office/drawing/2014/main" id="{E6211259-C18A-C6D4-7EFD-23AE7D4D5F5C}"/>
              </a:ext>
            </a:extLst>
          </p:cNvPr>
          <p:cNvSpPr>
            <a:spLocks noGrp="1"/>
          </p:cNvSpPr>
          <p:nvPr>
            <p:ph idx="1"/>
          </p:nvPr>
        </p:nvSpPr>
        <p:spPr/>
        <p:txBody>
          <a:bodyPr>
            <a:normAutofit/>
          </a:bodyPr>
          <a:lstStyle/>
          <a:p>
            <a:r>
              <a:rPr lang="ar-SA" sz="1800" dirty="0"/>
              <a:t>يمكن ان نقارن عدد الرحلات وعدد الركاب حسب الفصول </a:t>
            </a:r>
          </a:p>
          <a:p>
            <a:pPr marL="0" indent="0">
              <a:buNone/>
            </a:pPr>
            <a:r>
              <a:rPr lang="ar-SA" sz="1800" dirty="0"/>
              <a:t>الأربعة لمعرفة ما أكثر فصل يكون فيه عدد الرحلات عالية و</a:t>
            </a:r>
          </a:p>
          <a:p>
            <a:pPr marL="0" indent="0">
              <a:buNone/>
            </a:pPr>
            <a:r>
              <a:rPr lang="ar-SA" sz="1800" dirty="0"/>
              <a:t>لمعرفة ما أكثر فصل يكون فيه عدد الركاب عاليا.</a:t>
            </a:r>
          </a:p>
          <a:p>
            <a:pPr marL="0" indent="0">
              <a:buNone/>
            </a:pPr>
            <a:endParaRPr lang="ar-SA" sz="1800" dirty="0"/>
          </a:p>
          <a:p>
            <a:r>
              <a:rPr lang="ar-SA" sz="1800" dirty="0">
                <a:effectLst/>
                <a:ea typeface="Times New Roman" panose="02020603050405020304" pitchFamily="18" charset="0"/>
                <a:cs typeface="Times New Roman" panose="02020603050405020304" pitchFamily="18" charset="0"/>
              </a:rPr>
              <a:t>كما نلاحظ فان فصل الربيع والصيف يشهدان طلبا مرتفعا على</a:t>
            </a:r>
          </a:p>
          <a:p>
            <a:pPr marL="0" indent="0">
              <a:buNone/>
            </a:pPr>
            <a:r>
              <a:rPr lang="ar-SA" sz="1800" dirty="0">
                <a:effectLst/>
                <a:ea typeface="Times New Roman" panose="02020603050405020304" pitchFamily="18" charset="0"/>
                <a:cs typeface="Times New Roman" panose="02020603050405020304" pitchFamily="18" charset="0"/>
              </a:rPr>
              <a:t> الرحلات حيث يزيد عدد الرحلات في هذه الفصول بسبب </a:t>
            </a:r>
          </a:p>
          <a:p>
            <a:pPr marL="0" indent="0">
              <a:buNone/>
            </a:pPr>
            <a:r>
              <a:rPr lang="ar-SA" sz="1800" dirty="0">
                <a:effectLst/>
                <a:ea typeface="Times New Roman" panose="02020603050405020304" pitchFamily="18" charset="0"/>
                <a:cs typeface="Times New Roman" panose="02020603050405020304" pitchFamily="18" charset="0"/>
              </a:rPr>
              <a:t>العطلات الموسمية مثل إجازة عيد الفطر، وتبرز تأثيرات العطلات</a:t>
            </a:r>
          </a:p>
          <a:p>
            <a:pPr marL="0" indent="0">
              <a:buNone/>
            </a:pPr>
            <a:r>
              <a:rPr lang="ar-SA" sz="1800" dirty="0">
                <a:effectLst/>
                <a:ea typeface="Times New Roman" panose="02020603050405020304" pitchFamily="18" charset="0"/>
                <a:cs typeface="Times New Roman" panose="02020603050405020304" pitchFamily="18" charset="0"/>
              </a:rPr>
              <a:t> من خلال ارتفاع الانحرافات المعيارية، مما يشير الى وجود </a:t>
            </a:r>
          </a:p>
          <a:p>
            <a:pPr marL="0" indent="0">
              <a:buNone/>
            </a:pPr>
            <a:r>
              <a:rPr lang="ar-SA" sz="1800" dirty="0">
                <a:effectLst/>
                <a:ea typeface="Times New Roman" panose="02020603050405020304" pitchFamily="18" charset="0"/>
                <a:cs typeface="Times New Roman" panose="02020603050405020304" pitchFamily="18" charset="0"/>
              </a:rPr>
              <a:t>ارتفاعات مؤقتة في الطلب.</a:t>
            </a:r>
            <a:endParaRPr lang="ar-SA" sz="1800" dirty="0"/>
          </a:p>
        </p:txBody>
      </p:sp>
      <p:graphicFrame>
        <p:nvGraphicFramePr>
          <p:cNvPr id="12" name="عنصر نائب للمحتوى 6">
            <a:extLst>
              <a:ext uri="{FF2B5EF4-FFF2-40B4-BE49-F238E27FC236}">
                <a16:creationId xmlns:a16="http://schemas.microsoft.com/office/drawing/2014/main" id="{C412B5E2-0DF7-E5C5-0CE4-225FA3AEA0A8}"/>
              </a:ext>
            </a:extLst>
          </p:cNvPr>
          <p:cNvGraphicFramePr>
            <a:graphicFrameLocks/>
          </p:cNvGraphicFramePr>
          <p:nvPr>
            <p:extLst>
              <p:ext uri="{D42A27DB-BD31-4B8C-83A1-F6EECF244321}">
                <p14:modId xmlns:p14="http://schemas.microsoft.com/office/powerpoint/2010/main" val="49539019"/>
              </p:ext>
            </p:extLst>
          </p:nvPr>
        </p:nvGraphicFramePr>
        <p:xfrm>
          <a:off x="838201" y="1825625"/>
          <a:ext cx="5718048" cy="3777051"/>
        </p:xfrm>
        <a:graphic>
          <a:graphicData uri="http://schemas.openxmlformats.org/drawingml/2006/table">
            <a:tbl>
              <a:tblPr firstRow="1" bandRow="1">
                <a:tableStyleId>{5C22544A-7EE6-4342-B048-85BDC9FD1C3A}</a:tableStyleId>
              </a:tblPr>
              <a:tblGrid>
                <a:gridCol w="1438379">
                  <a:extLst>
                    <a:ext uri="{9D8B030D-6E8A-4147-A177-3AD203B41FA5}">
                      <a16:colId xmlns:a16="http://schemas.microsoft.com/office/drawing/2014/main" val="3917601631"/>
                    </a:ext>
                  </a:extLst>
                </a:gridCol>
                <a:gridCol w="602594">
                  <a:extLst>
                    <a:ext uri="{9D8B030D-6E8A-4147-A177-3AD203B41FA5}">
                      <a16:colId xmlns:a16="http://schemas.microsoft.com/office/drawing/2014/main" val="3522241180"/>
                    </a:ext>
                  </a:extLst>
                </a:gridCol>
                <a:gridCol w="355444">
                  <a:extLst>
                    <a:ext uri="{9D8B030D-6E8A-4147-A177-3AD203B41FA5}">
                      <a16:colId xmlns:a16="http://schemas.microsoft.com/office/drawing/2014/main" val="3604144581"/>
                    </a:ext>
                  </a:extLst>
                </a:gridCol>
                <a:gridCol w="855406">
                  <a:extLst>
                    <a:ext uri="{9D8B030D-6E8A-4147-A177-3AD203B41FA5}">
                      <a16:colId xmlns:a16="http://schemas.microsoft.com/office/drawing/2014/main" val="2837570114"/>
                    </a:ext>
                  </a:extLst>
                </a:gridCol>
                <a:gridCol w="755413">
                  <a:extLst>
                    <a:ext uri="{9D8B030D-6E8A-4147-A177-3AD203B41FA5}">
                      <a16:colId xmlns:a16="http://schemas.microsoft.com/office/drawing/2014/main" val="2998113375"/>
                    </a:ext>
                  </a:extLst>
                </a:gridCol>
                <a:gridCol w="855406">
                  <a:extLst>
                    <a:ext uri="{9D8B030D-6E8A-4147-A177-3AD203B41FA5}">
                      <a16:colId xmlns:a16="http://schemas.microsoft.com/office/drawing/2014/main" val="395693973"/>
                    </a:ext>
                  </a:extLst>
                </a:gridCol>
                <a:gridCol w="855406">
                  <a:extLst>
                    <a:ext uri="{9D8B030D-6E8A-4147-A177-3AD203B41FA5}">
                      <a16:colId xmlns:a16="http://schemas.microsoft.com/office/drawing/2014/main" val="1562045166"/>
                    </a:ext>
                  </a:extLst>
                </a:gridCol>
              </a:tblGrid>
              <a:tr h="289189">
                <a:tc>
                  <a:txBody>
                    <a:bodyPr/>
                    <a:lstStyle/>
                    <a:p>
                      <a:pPr algn="ctr" rtl="1">
                        <a:lnSpc>
                          <a:spcPct val="150000"/>
                        </a:lnSpc>
                        <a:spcAft>
                          <a:spcPts val="800"/>
                        </a:spcAft>
                      </a:pPr>
                      <a:r>
                        <a:rPr lang="en-US" sz="1400" dirty="0">
                          <a:effectLst/>
                        </a:rPr>
                        <a:t>Variable</a:t>
                      </a:r>
                      <a:endParaRPr lang="en-US" sz="28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nchor="b"/>
                </a:tc>
                <a:tc>
                  <a:txBody>
                    <a:bodyPr/>
                    <a:lstStyle/>
                    <a:p>
                      <a:pPr algn="ctr" rtl="1">
                        <a:lnSpc>
                          <a:spcPct val="150000"/>
                        </a:lnSpc>
                        <a:spcAft>
                          <a:spcPts val="800"/>
                        </a:spcAft>
                      </a:pPr>
                      <a:r>
                        <a:rPr lang="en-US" sz="1400" dirty="0">
                          <a:effectLst/>
                        </a:rPr>
                        <a:t>C4</a:t>
                      </a:r>
                      <a:endParaRPr lang="en-US" sz="28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nchor="b"/>
                </a:tc>
                <a:tc>
                  <a:txBody>
                    <a:bodyPr/>
                    <a:lstStyle/>
                    <a:p>
                      <a:pPr algn="ctr" rtl="1">
                        <a:lnSpc>
                          <a:spcPct val="150000"/>
                        </a:lnSpc>
                        <a:spcAft>
                          <a:spcPts val="800"/>
                        </a:spcAft>
                      </a:pPr>
                      <a:r>
                        <a:rPr lang="en-US" sz="1400" dirty="0">
                          <a:effectLst/>
                        </a:rPr>
                        <a:t>N</a:t>
                      </a:r>
                      <a:endParaRPr lang="en-US" sz="28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nchor="b"/>
                </a:tc>
                <a:tc>
                  <a:txBody>
                    <a:bodyPr/>
                    <a:lstStyle/>
                    <a:p>
                      <a:pPr algn="ctr" rtl="1">
                        <a:lnSpc>
                          <a:spcPct val="150000"/>
                        </a:lnSpc>
                        <a:spcAft>
                          <a:spcPts val="800"/>
                        </a:spcAft>
                      </a:pPr>
                      <a:r>
                        <a:rPr lang="en-US" sz="1400" dirty="0">
                          <a:effectLst/>
                        </a:rPr>
                        <a:t>Mean</a:t>
                      </a:r>
                      <a:endParaRPr lang="en-US" sz="28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nchor="b"/>
                </a:tc>
                <a:tc>
                  <a:txBody>
                    <a:bodyPr/>
                    <a:lstStyle/>
                    <a:p>
                      <a:pPr algn="ctr" rtl="1">
                        <a:lnSpc>
                          <a:spcPct val="150000"/>
                        </a:lnSpc>
                        <a:spcAft>
                          <a:spcPts val="800"/>
                        </a:spcAft>
                      </a:pPr>
                      <a:r>
                        <a:rPr lang="en-US" sz="1400" dirty="0">
                          <a:effectLst/>
                        </a:rPr>
                        <a:t>SE Mean</a:t>
                      </a:r>
                      <a:endParaRPr lang="en-US" sz="28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nchor="b"/>
                </a:tc>
                <a:tc>
                  <a:txBody>
                    <a:bodyPr/>
                    <a:lstStyle/>
                    <a:p>
                      <a:pPr algn="ctr" rtl="1">
                        <a:lnSpc>
                          <a:spcPct val="150000"/>
                        </a:lnSpc>
                        <a:spcAft>
                          <a:spcPts val="800"/>
                        </a:spcAft>
                      </a:pPr>
                      <a:r>
                        <a:rPr lang="en-US" sz="1400" dirty="0" err="1">
                          <a:effectLst/>
                        </a:rPr>
                        <a:t>StDev</a:t>
                      </a:r>
                      <a:endParaRPr lang="en-US" sz="28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nchor="b"/>
                </a:tc>
                <a:tc>
                  <a:txBody>
                    <a:bodyPr/>
                    <a:lstStyle/>
                    <a:p>
                      <a:pPr algn="ctr" rtl="1">
                        <a:lnSpc>
                          <a:spcPct val="150000"/>
                        </a:lnSpc>
                        <a:spcAft>
                          <a:spcPts val="800"/>
                        </a:spcAft>
                      </a:pPr>
                      <a:r>
                        <a:rPr lang="en-US" sz="1400" dirty="0">
                          <a:effectLst/>
                        </a:rPr>
                        <a:t>Median</a:t>
                      </a:r>
                      <a:endParaRPr lang="en-US" sz="28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nchor="b"/>
                </a:tc>
                <a:extLst>
                  <a:ext uri="{0D108BD9-81ED-4DB2-BD59-A6C34878D82A}">
                    <a16:rowId xmlns:a16="http://schemas.microsoft.com/office/drawing/2014/main" val="405886202"/>
                  </a:ext>
                </a:extLst>
              </a:tr>
              <a:tr h="383093">
                <a:tc>
                  <a:txBody>
                    <a:bodyPr/>
                    <a:lstStyle/>
                    <a:p>
                      <a:pPr algn="l" rtl="1">
                        <a:lnSpc>
                          <a:spcPct val="150000"/>
                        </a:lnSpc>
                        <a:spcAft>
                          <a:spcPts val="800"/>
                        </a:spcAft>
                      </a:pPr>
                      <a:r>
                        <a:rPr lang="en-US" sz="1300" dirty="0">
                          <a:effectLst/>
                        </a:rPr>
                        <a:t>total of flights</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ar-SA" sz="1300">
                          <a:effectLst/>
                        </a:rPr>
                        <a:t>الخريف</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20814</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2373</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8219</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22982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extLst>
                  <a:ext uri="{0D108BD9-81ED-4DB2-BD59-A6C34878D82A}">
                    <a16:rowId xmlns:a16="http://schemas.microsoft.com/office/drawing/2014/main" val="3783938844"/>
                  </a:ext>
                </a:extLst>
              </a:tr>
              <a:tr h="383093">
                <a:tc>
                  <a:txBody>
                    <a:bodyPr/>
                    <a:lstStyle/>
                    <a:p>
                      <a:pPr algn="just" rtl="1">
                        <a:lnSpc>
                          <a:spcPct val="150000"/>
                        </a:lnSpc>
                        <a:spcAft>
                          <a:spcPts val="800"/>
                        </a:spcAft>
                      </a:pPr>
                      <a:r>
                        <a:rPr lang="en-US" sz="1300" dirty="0">
                          <a:effectLst/>
                        </a:rPr>
                        <a:t> </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ar-SA" sz="1300">
                          <a:effectLst/>
                        </a:rPr>
                        <a:t>الربيع</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22435</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3236</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11210</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21904</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extLst>
                  <a:ext uri="{0D108BD9-81ED-4DB2-BD59-A6C34878D82A}">
                    <a16:rowId xmlns:a16="http://schemas.microsoft.com/office/drawing/2014/main" val="722311907"/>
                  </a:ext>
                </a:extLst>
              </a:tr>
              <a:tr h="383093">
                <a:tc>
                  <a:txBody>
                    <a:bodyPr/>
                    <a:lstStyle/>
                    <a:p>
                      <a:pPr algn="just" rtl="1">
                        <a:lnSpc>
                          <a:spcPct val="150000"/>
                        </a:lnSpc>
                        <a:spcAft>
                          <a:spcPts val="800"/>
                        </a:spcAft>
                      </a:pPr>
                      <a:r>
                        <a:rPr lang="en-US" sz="13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ar-SA" sz="1300">
                          <a:effectLst/>
                        </a:rPr>
                        <a:t>الشتاء</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21560</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3197</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11076</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20666</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extLst>
                  <a:ext uri="{0D108BD9-81ED-4DB2-BD59-A6C34878D82A}">
                    <a16:rowId xmlns:a16="http://schemas.microsoft.com/office/drawing/2014/main" val="2963065276"/>
                  </a:ext>
                </a:extLst>
              </a:tr>
              <a:tr h="383093">
                <a:tc>
                  <a:txBody>
                    <a:bodyPr/>
                    <a:lstStyle/>
                    <a:p>
                      <a:pPr algn="just" rtl="1">
                        <a:lnSpc>
                          <a:spcPct val="150000"/>
                        </a:lnSpc>
                        <a:spcAft>
                          <a:spcPts val="800"/>
                        </a:spcAft>
                      </a:pPr>
                      <a:r>
                        <a:rPr lang="en-US" sz="1300" dirty="0">
                          <a:effectLst/>
                        </a:rPr>
                        <a:t> </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ar-SA" sz="1300">
                          <a:effectLst/>
                        </a:rPr>
                        <a:t>الصيف</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21889</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3004</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10406</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22181</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extLst>
                  <a:ext uri="{0D108BD9-81ED-4DB2-BD59-A6C34878D82A}">
                    <a16:rowId xmlns:a16="http://schemas.microsoft.com/office/drawing/2014/main" val="2002439510"/>
                  </a:ext>
                </a:extLst>
              </a:tr>
              <a:tr h="261223">
                <a:tc>
                  <a:txBody>
                    <a:bodyPr/>
                    <a:lstStyle/>
                    <a:p>
                      <a:pPr algn="just" rtl="1">
                        <a:lnSpc>
                          <a:spcPct val="150000"/>
                        </a:lnSpc>
                        <a:spcAft>
                          <a:spcPts val="800"/>
                        </a:spcAft>
                      </a:pPr>
                      <a:r>
                        <a:rPr lang="en-US" sz="13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en-US" sz="7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en-US" sz="13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en-US" sz="13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en-US" sz="13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en-US" sz="13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en-US" sz="13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extLst>
                  <a:ext uri="{0D108BD9-81ED-4DB2-BD59-A6C34878D82A}">
                    <a16:rowId xmlns:a16="http://schemas.microsoft.com/office/drawing/2014/main" val="2962761482"/>
                  </a:ext>
                </a:extLst>
              </a:tr>
              <a:tr h="529299">
                <a:tc>
                  <a:txBody>
                    <a:bodyPr/>
                    <a:lstStyle/>
                    <a:p>
                      <a:pPr algn="l" rtl="1">
                        <a:lnSpc>
                          <a:spcPct val="150000"/>
                        </a:lnSpc>
                        <a:spcAft>
                          <a:spcPts val="800"/>
                        </a:spcAft>
                      </a:pPr>
                      <a:r>
                        <a:rPr lang="en-US" sz="1300" dirty="0">
                          <a:effectLst/>
                        </a:rPr>
                        <a:t>total of passengers</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ar-SA" sz="1300">
                          <a:effectLst/>
                        </a:rPr>
                        <a:t>الخريف</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2868831</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355131</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dirty="0">
                          <a:effectLst/>
                        </a:rPr>
                        <a:t>1230210</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3148600</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extLst>
                  <a:ext uri="{0D108BD9-81ED-4DB2-BD59-A6C34878D82A}">
                    <a16:rowId xmlns:a16="http://schemas.microsoft.com/office/drawing/2014/main" val="1385153329"/>
                  </a:ext>
                </a:extLst>
              </a:tr>
              <a:tr h="383093">
                <a:tc>
                  <a:txBody>
                    <a:bodyPr/>
                    <a:lstStyle/>
                    <a:p>
                      <a:pPr algn="just" rtl="1">
                        <a:lnSpc>
                          <a:spcPct val="150000"/>
                        </a:lnSpc>
                        <a:spcAft>
                          <a:spcPts val="800"/>
                        </a:spcAft>
                      </a:pPr>
                      <a:r>
                        <a:rPr lang="en-US" sz="9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ar-SA" sz="1300">
                          <a:effectLst/>
                        </a:rPr>
                        <a:t>الربيع</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2676490</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435124</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1507315</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2552738</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extLst>
                  <a:ext uri="{0D108BD9-81ED-4DB2-BD59-A6C34878D82A}">
                    <a16:rowId xmlns:a16="http://schemas.microsoft.com/office/drawing/2014/main" val="1525828969"/>
                  </a:ext>
                </a:extLst>
              </a:tr>
              <a:tr h="383093">
                <a:tc>
                  <a:txBody>
                    <a:bodyPr/>
                    <a:lstStyle/>
                    <a:p>
                      <a:pPr algn="just" rtl="1">
                        <a:lnSpc>
                          <a:spcPct val="150000"/>
                        </a:lnSpc>
                        <a:spcAft>
                          <a:spcPts val="800"/>
                        </a:spcAft>
                      </a:pPr>
                      <a:r>
                        <a:rPr lang="en-US" sz="9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ar-SA" sz="1300">
                          <a:effectLst/>
                        </a:rPr>
                        <a:t>الشتاء</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2752491</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463095</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1604208</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2571355</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extLst>
                  <a:ext uri="{0D108BD9-81ED-4DB2-BD59-A6C34878D82A}">
                    <a16:rowId xmlns:a16="http://schemas.microsoft.com/office/drawing/2014/main" val="1392595255"/>
                  </a:ext>
                </a:extLst>
              </a:tr>
              <a:tr h="383093">
                <a:tc>
                  <a:txBody>
                    <a:bodyPr/>
                    <a:lstStyle/>
                    <a:p>
                      <a:pPr algn="just" rtl="1">
                        <a:lnSpc>
                          <a:spcPct val="150000"/>
                        </a:lnSpc>
                        <a:spcAft>
                          <a:spcPts val="800"/>
                        </a:spcAft>
                      </a:pPr>
                      <a:r>
                        <a:rPr lang="en-US" sz="900">
                          <a:effectLst/>
                        </a:rPr>
                        <a:t> </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0" marB="0"/>
                </a:tc>
                <a:tc>
                  <a:txBody>
                    <a:bodyPr/>
                    <a:lstStyle/>
                    <a:p>
                      <a:pPr algn="just" rtl="1">
                        <a:lnSpc>
                          <a:spcPct val="150000"/>
                        </a:lnSpc>
                        <a:spcAft>
                          <a:spcPts val="800"/>
                        </a:spcAft>
                      </a:pPr>
                      <a:r>
                        <a:rPr lang="ar-SA" sz="1300">
                          <a:effectLst/>
                        </a:rPr>
                        <a:t>الصيف</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2836392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453269</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a:effectLst/>
                        </a:rPr>
                        <a:t>1570171</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tc>
                  <a:txBody>
                    <a:bodyPr/>
                    <a:lstStyle/>
                    <a:p>
                      <a:pPr algn="just" rtl="1">
                        <a:lnSpc>
                          <a:spcPct val="150000"/>
                        </a:lnSpc>
                        <a:spcAft>
                          <a:spcPts val="800"/>
                        </a:spcAft>
                      </a:pPr>
                      <a:r>
                        <a:rPr lang="en-US" sz="1300" dirty="0">
                          <a:effectLst/>
                        </a:rPr>
                        <a:t>2872471</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16253" marR="16253" marT="8126" marB="0"/>
                </a:tc>
                <a:extLst>
                  <a:ext uri="{0D108BD9-81ED-4DB2-BD59-A6C34878D82A}">
                    <a16:rowId xmlns:a16="http://schemas.microsoft.com/office/drawing/2014/main" val="4172470942"/>
                  </a:ext>
                </a:extLst>
              </a:tr>
            </a:tbl>
          </a:graphicData>
        </a:graphic>
      </p:graphicFrame>
    </p:spTree>
    <p:extLst>
      <p:ext uri="{BB962C8B-B14F-4D97-AF65-F5344CB8AC3E}">
        <p14:creationId xmlns:p14="http://schemas.microsoft.com/office/powerpoint/2010/main" val="630447106"/>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35BA5B9-150E-1CD0-23CC-A9A2211F8377}"/>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657111F8-3641-550F-448F-AC00E63B26BB}"/>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5" name="عنوان 4">
            <a:extLst>
              <a:ext uri="{FF2B5EF4-FFF2-40B4-BE49-F238E27FC236}">
                <a16:creationId xmlns:a16="http://schemas.microsoft.com/office/drawing/2014/main" id="{5B49EE3C-C98C-7833-6DDD-749ECD284837}"/>
              </a:ext>
            </a:extLst>
          </p:cNvPr>
          <p:cNvSpPr>
            <a:spLocks noGrp="1"/>
          </p:cNvSpPr>
          <p:nvPr>
            <p:ph type="title"/>
          </p:nvPr>
        </p:nvSpPr>
        <p:spPr/>
        <p:txBody>
          <a:bodyPr/>
          <a:lstStyle/>
          <a:p>
            <a:r>
              <a:rPr lang="ar-SA" dirty="0"/>
              <a:t>الإحصاء الوصفي لعدد الرحلات حسب الاشهر </a:t>
            </a:r>
          </a:p>
        </p:txBody>
      </p:sp>
      <p:sp>
        <p:nvSpPr>
          <p:cNvPr id="11" name="عنصر نائب للنص 10">
            <a:extLst>
              <a:ext uri="{FF2B5EF4-FFF2-40B4-BE49-F238E27FC236}">
                <a16:creationId xmlns:a16="http://schemas.microsoft.com/office/drawing/2014/main" id="{D9CAF078-725D-6D91-2B5C-2847C4E43443}"/>
              </a:ext>
            </a:extLst>
          </p:cNvPr>
          <p:cNvSpPr>
            <a:spLocks noGrp="1"/>
          </p:cNvSpPr>
          <p:nvPr>
            <p:ph type="body" idx="1"/>
          </p:nvPr>
        </p:nvSpPr>
        <p:spPr>
          <a:xfrm>
            <a:off x="839788" y="1755648"/>
            <a:ext cx="5157787" cy="496476"/>
          </a:xfrm>
        </p:spPr>
        <p:txBody>
          <a:bodyPr>
            <a:normAutofit/>
          </a:bodyPr>
          <a:lstStyle/>
          <a:p>
            <a:r>
              <a:rPr lang="ar-SA" sz="2000" dirty="0">
                <a:effectLst/>
                <a:ea typeface="Times New Roman" panose="02020603050405020304" pitchFamily="18" charset="0"/>
                <a:cs typeface="Times New Roman" panose="02020603050405020304" pitchFamily="18" charset="0"/>
              </a:rPr>
              <a:t>الرسم البياني العمودي للأشهر وعدد الرحلات الواصلة</a:t>
            </a:r>
            <a:endParaRPr lang="ar-SA" sz="2800" dirty="0"/>
          </a:p>
        </p:txBody>
      </p:sp>
      <p:sp>
        <p:nvSpPr>
          <p:cNvPr id="12" name="عنصر نائب للمحتوى 11">
            <a:extLst>
              <a:ext uri="{FF2B5EF4-FFF2-40B4-BE49-F238E27FC236}">
                <a16:creationId xmlns:a16="http://schemas.microsoft.com/office/drawing/2014/main" id="{F9954EA9-6B66-442A-7271-3CC8B09AB735}"/>
              </a:ext>
            </a:extLst>
          </p:cNvPr>
          <p:cNvSpPr>
            <a:spLocks noGrp="1"/>
          </p:cNvSpPr>
          <p:nvPr>
            <p:ph sz="half" idx="2"/>
          </p:nvPr>
        </p:nvSpPr>
        <p:spPr/>
        <p:txBody>
          <a:bodyPr>
            <a:normAutofit/>
          </a:bodyPr>
          <a:lstStyle/>
          <a:p>
            <a:r>
              <a:rPr lang="ar-SA" sz="2400" dirty="0"/>
              <a:t>محور </a:t>
            </a:r>
            <a:r>
              <a:rPr lang="en-US" sz="2400" dirty="0"/>
              <a:t>X</a:t>
            </a:r>
            <a:r>
              <a:rPr lang="ar-SA" sz="2400" dirty="0"/>
              <a:t> يعبر عن الفترة الزمنية بالشهر, ومحور </a:t>
            </a:r>
            <a:r>
              <a:rPr lang="en-US" sz="2400" dirty="0"/>
              <a:t>Y</a:t>
            </a:r>
            <a:r>
              <a:rPr lang="ar-SA" sz="2400" dirty="0"/>
              <a:t> يعبر عن عدد الرحلات الواصلة.</a:t>
            </a:r>
          </a:p>
          <a:p>
            <a:r>
              <a:rPr lang="ar-SA" sz="2400" dirty="0"/>
              <a:t>كما نلاحظ بالشكل ان عدد الرحلات الواصلة تزداد مع مرور الزمن حسب المتوسط الحسابي الشهري.</a:t>
            </a:r>
          </a:p>
        </p:txBody>
      </p:sp>
      <p:sp>
        <p:nvSpPr>
          <p:cNvPr id="13" name="عنصر نائب للنص 12">
            <a:extLst>
              <a:ext uri="{FF2B5EF4-FFF2-40B4-BE49-F238E27FC236}">
                <a16:creationId xmlns:a16="http://schemas.microsoft.com/office/drawing/2014/main" id="{A90F8BF3-B789-3C1D-FC4F-E632D84B82C3}"/>
              </a:ext>
            </a:extLst>
          </p:cNvPr>
          <p:cNvSpPr>
            <a:spLocks noGrp="1"/>
          </p:cNvSpPr>
          <p:nvPr>
            <p:ph type="body" sz="quarter" idx="3"/>
          </p:nvPr>
        </p:nvSpPr>
        <p:spPr>
          <a:xfrm>
            <a:off x="6169024" y="1424782"/>
            <a:ext cx="5183188" cy="823912"/>
          </a:xfrm>
        </p:spPr>
        <p:txBody>
          <a:bodyPr>
            <a:normAutofit/>
          </a:bodyPr>
          <a:lstStyle/>
          <a:p>
            <a:r>
              <a:rPr lang="ar-SA" sz="2000" dirty="0">
                <a:effectLst/>
                <a:ea typeface="Times New Roman" panose="02020603050405020304" pitchFamily="18" charset="0"/>
                <a:cs typeface="Times New Roman" panose="02020603050405020304" pitchFamily="18" charset="0"/>
              </a:rPr>
              <a:t>الرسم البياني العمودي للأشهر وعدد الرحلات المغادرة </a:t>
            </a:r>
            <a:endParaRPr lang="ar-SA" sz="2800" dirty="0"/>
          </a:p>
        </p:txBody>
      </p:sp>
      <p:pic>
        <p:nvPicPr>
          <p:cNvPr id="10" name="صورة 9" descr="Chart of Total of Flights">
            <a:extLst>
              <a:ext uri="{FF2B5EF4-FFF2-40B4-BE49-F238E27FC236}">
                <a16:creationId xmlns:a16="http://schemas.microsoft.com/office/drawing/2014/main" id="{4F049796-393F-DDA8-DFC0-5DC47BC8F22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6612" y="4016191"/>
            <a:ext cx="2965369" cy="1980000"/>
          </a:xfrm>
          <a:prstGeom prst="rect">
            <a:avLst/>
          </a:prstGeom>
          <a:noFill/>
          <a:ln>
            <a:noFill/>
          </a:ln>
        </p:spPr>
      </p:pic>
      <p:sp>
        <p:nvSpPr>
          <p:cNvPr id="15" name="عنصر نائب للمحتوى 14">
            <a:extLst>
              <a:ext uri="{FF2B5EF4-FFF2-40B4-BE49-F238E27FC236}">
                <a16:creationId xmlns:a16="http://schemas.microsoft.com/office/drawing/2014/main" id="{A3061208-DE43-E300-56F7-2040B8545E21}"/>
              </a:ext>
            </a:extLst>
          </p:cNvPr>
          <p:cNvSpPr>
            <a:spLocks noGrp="1"/>
          </p:cNvSpPr>
          <p:nvPr>
            <p:ph sz="quarter" idx="4"/>
          </p:nvPr>
        </p:nvSpPr>
        <p:spPr/>
        <p:txBody>
          <a:bodyPr>
            <a:normAutofit/>
          </a:bodyPr>
          <a:lstStyle/>
          <a:p>
            <a:r>
              <a:rPr lang="ar-SA" sz="2400" dirty="0"/>
              <a:t>محور </a:t>
            </a:r>
            <a:r>
              <a:rPr lang="en-US" sz="2400" dirty="0"/>
              <a:t>X</a:t>
            </a:r>
            <a:r>
              <a:rPr lang="ar-SA" sz="2400" dirty="0"/>
              <a:t> يعبر عن الفترة الزمنية بالشهر, ومحور </a:t>
            </a:r>
            <a:r>
              <a:rPr lang="en-US" sz="2400" dirty="0"/>
              <a:t>Y</a:t>
            </a:r>
            <a:r>
              <a:rPr lang="ar-SA" sz="2400" dirty="0"/>
              <a:t> يعبر عن عدد الرحلات المغادرة. </a:t>
            </a:r>
          </a:p>
          <a:p>
            <a:r>
              <a:rPr lang="ar-SA" sz="2400" dirty="0"/>
              <a:t>كما نلاحظ بالشكل ان عدد الرحلات المغادرة بازدياد مع مرور الزمن حسب المتوسط الحسابي الشهري.</a:t>
            </a:r>
          </a:p>
        </p:txBody>
      </p:sp>
      <p:pic>
        <p:nvPicPr>
          <p:cNvPr id="16" name="صورة 15" descr="Chart of total of flghtts">
            <a:extLst>
              <a:ext uri="{FF2B5EF4-FFF2-40B4-BE49-F238E27FC236}">
                <a16:creationId xmlns:a16="http://schemas.microsoft.com/office/drawing/2014/main" id="{96967C1F-AC49-977F-514D-228805AC2CF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69024" y="4016191"/>
            <a:ext cx="2965493" cy="1980000"/>
          </a:xfrm>
          <a:prstGeom prst="rect">
            <a:avLst/>
          </a:prstGeom>
          <a:noFill/>
          <a:ln>
            <a:noFill/>
          </a:ln>
        </p:spPr>
      </p:pic>
    </p:spTree>
    <p:extLst>
      <p:ext uri="{BB962C8B-B14F-4D97-AF65-F5344CB8AC3E}">
        <p14:creationId xmlns:p14="http://schemas.microsoft.com/office/powerpoint/2010/main" val="3292927927"/>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146E932-FCD2-0533-90AD-799D72800375}"/>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B28506D5-A500-7D24-840C-4FCA2BA976D5}"/>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5" name="عنوان 4">
            <a:extLst>
              <a:ext uri="{FF2B5EF4-FFF2-40B4-BE49-F238E27FC236}">
                <a16:creationId xmlns:a16="http://schemas.microsoft.com/office/drawing/2014/main" id="{A9EC1BB7-29B4-3094-A81C-0952CAE55EF3}"/>
              </a:ext>
            </a:extLst>
          </p:cNvPr>
          <p:cNvSpPr>
            <a:spLocks noGrp="1"/>
          </p:cNvSpPr>
          <p:nvPr>
            <p:ph type="title"/>
          </p:nvPr>
        </p:nvSpPr>
        <p:spPr/>
        <p:txBody>
          <a:bodyPr/>
          <a:lstStyle/>
          <a:p>
            <a:r>
              <a:rPr lang="ar-SA" dirty="0"/>
              <a:t>الإحصاء الوصفي لعدد الركاب حسب الاشهر </a:t>
            </a:r>
          </a:p>
        </p:txBody>
      </p:sp>
      <p:sp>
        <p:nvSpPr>
          <p:cNvPr id="6" name="عنصر نائب للنص 5">
            <a:extLst>
              <a:ext uri="{FF2B5EF4-FFF2-40B4-BE49-F238E27FC236}">
                <a16:creationId xmlns:a16="http://schemas.microsoft.com/office/drawing/2014/main" id="{786AA73D-19FD-7CB3-FA5F-F8AAAD70230D}"/>
              </a:ext>
            </a:extLst>
          </p:cNvPr>
          <p:cNvSpPr>
            <a:spLocks noGrp="1"/>
          </p:cNvSpPr>
          <p:nvPr>
            <p:ph type="body" idx="1"/>
          </p:nvPr>
        </p:nvSpPr>
        <p:spPr>
          <a:xfrm>
            <a:off x="836612" y="2055812"/>
            <a:ext cx="5157787" cy="823912"/>
          </a:xfrm>
        </p:spPr>
        <p:txBody>
          <a:bodyPr>
            <a:normAutofit/>
          </a:bodyPr>
          <a:lstStyle/>
          <a:p>
            <a:r>
              <a:rPr lang="ar-SA" sz="2000" dirty="0">
                <a:effectLst/>
                <a:ea typeface="Times New Roman" panose="02020603050405020304" pitchFamily="18" charset="0"/>
                <a:cs typeface="Times New Roman" panose="02020603050405020304" pitchFamily="18" charset="0"/>
              </a:rPr>
              <a:t>الرسم البياني العمودي للأشهر وعدد الركاب الواصلين. </a:t>
            </a:r>
            <a:endParaRPr lang="ar-SA" sz="2800" dirty="0"/>
          </a:p>
          <a:p>
            <a:endParaRPr lang="ar-SA" sz="2000" dirty="0"/>
          </a:p>
        </p:txBody>
      </p:sp>
      <p:sp>
        <p:nvSpPr>
          <p:cNvPr id="7" name="عنصر نائب للمحتوى 6">
            <a:extLst>
              <a:ext uri="{FF2B5EF4-FFF2-40B4-BE49-F238E27FC236}">
                <a16:creationId xmlns:a16="http://schemas.microsoft.com/office/drawing/2014/main" id="{DD1A1B77-1896-C023-3EBD-A0AA746DCFC5}"/>
              </a:ext>
            </a:extLst>
          </p:cNvPr>
          <p:cNvSpPr>
            <a:spLocks noGrp="1"/>
          </p:cNvSpPr>
          <p:nvPr>
            <p:ph sz="half" idx="2"/>
          </p:nvPr>
        </p:nvSpPr>
        <p:spPr/>
        <p:txBody>
          <a:bodyPr/>
          <a:lstStyle/>
          <a:p>
            <a:r>
              <a:rPr lang="ar-SA" sz="2400" dirty="0"/>
              <a:t>محور </a:t>
            </a:r>
            <a:r>
              <a:rPr lang="en-US" sz="2400" dirty="0"/>
              <a:t>X</a:t>
            </a:r>
            <a:r>
              <a:rPr lang="ar-SA" sz="2400" dirty="0"/>
              <a:t> يعبر عن الفترة الزمنية بالأشهر ومحور </a:t>
            </a:r>
            <a:r>
              <a:rPr lang="en-US" sz="2400" dirty="0"/>
              <a:t>Y</a:t>
            </a:r>
            <a:r>
              <a:rPr lang="ar-SA" sz="2400" dirty="0"/>
              <a:t> يعبر عن عدد الركاب الواصلين.</a:t>
            </a:r>
          </a:p>
          <a:p>
            <a:r>
              <a:rPr lang="ar-SA" sz="2400" dirty="0"/>
              <a:t>كما موضح بالشكل فان عدد الركاب الواصلين بازدياد مع مرور الزمن حسب المتوسط الحسابي الشهري</a:t>
            </a:r>
            <a:r>
              <a:rPr lang="ar-SA" dirty="0"/>
              <a:t>.</a:t>
            </a:r>
          </a:p>
        </p:txBody>
      </p:sp>
      <p:sp>
        <p:nvSpPr>
          <p:cNvPr id="8" name="عنصر نائب للنص 7">
            <a:extLst>
              <a:ext uri="{FF2B5EF4-FFF2-40B4-BE49-F238E27FC236}">
                <a16:creationId xmlns:a16="http://schemas.microsoft.com/office/drawing/2014/main" id="{5FCFBF0A-E170-DAB6-C003-645E26BC6915}"/>
              </a:ext>
            </a:extLst>
          </p:cNvPr>
          <p:cNvSpPr>
            <a:spLocks noGrp="1"/>
          </p:cNvSpPr>
          <p:nvPr>
            <p:ph type="body" sz="quarter" idx="3"/>
          </p:nvPr>
        </p:nvSpPr>
        <p:spPr>
          <a:xfrm>
            <a:off x="6172200" y="2055812"/>
            <a:ext cx="5183188" cy="823912"/>
          </a:xfrm>
        </p:spPr>
        <p:txBody>
          <a:bodyPr>
            <a:normAutofit/>
          </a:bodyPr>
          <a:lstStyle/>
          <a:p>
            <a:r>
              <a:rPr lang="ar-SA" sz="2000" dirty="0">
                <a:effectLst/>
                <a:ea typeface="Times New Roman" panose="02020603050405020304" pitchFamily="18" charset="0"/>
                <a:cs typeface="Times New Roman" panose="02020603050405020304" pitchFamily="18" charset="0"/>
              </a:rPr>
              <a:t>الرسم البياني العمودي للأشهر وعدد الركاب المغادرين.</a:t>
            </a:r>
            <a:endParaRPr lang="ar-SA" sz="2800" dirty="0"/>
          </a:p>
          <a:p>
            <a:endParaRPr lang="ar-SA" sz="2000" dirty="0"/>
          </a:p>
        </p:txBody>
      </p:sp>
      <p:sp>
        <p:nvSpPr>
          <p:cNvPr id="10" name="عنصر نائب للمحتوى 9">
            <a:extLst>
              <a:ext uri="{FF2B5EF4-FFF2-40B4-BE49-F238E27FC236}">
                <a16:creationId xmlns:a16="http://schemas.microsoft.com/office/drawing/2014/main" id="{0133AA3B-F868-7C7A-6B55-C87CEC845163}"/>
              </a:ext>
            </a:extLst>
          </p:cNvPr>
          <p:cNvSpPr>
            <a:spLocks noGrp="1"/>
          </p:cNvSpPr>
          <p:nvPr>
            <p:ph sz="quarter" idx="4"/>
          </p:nvPr>
        </p:nvSpPr>
        <p:spPr/>
        <p:txBody>
          <a:bodyPr>
            <a:normAutofit/>
          </a:bodyPr>
          <a:lstStyle/>
          <a:p>
            <a:r>
              <a:rPr lang="ar-SA" sz="2400" dirty="0"/>
              <a:t>محور </a:t>
            </a:r>
            <a:r>
              <a:rPr lang="en-US" sz="2400" dirty="0"/>
              <a:t>X</a:t>
            </a:r>
            <a:r>
              <a:rPr lang="ar-SA" sz="2400" dirty="0"/>
              <a:t> يعبر عن الفترة الزمنية بالأشهر ومحور </a:t>
            </a:r>
            <a:r>
              <a:rPr lang="en-US" sz="2400" dirty="0"/>
              <a:t>Y</a:t>
            </a:r>
            <a:r>
              <a:rPr lang="ar-SA" sz="2400" dirty="0"/>
              <a:t> يعبر عن عدد الركاب الغادرين.</a:t>
            </a:r>
          </a:p>
          <a:p>
            <a:r>
              <a:rPr lang="ar-SA" sz="2400" dirty="0"/>
              <a:t>كما موضح بالشكل فان عدد الركاب المغادرين بازدياد مع مرور الزمن حسب المتوسط الحسابي الشهري.</a:t>
            </a:r>
          </a:p>
        </p:txBody>
      </p:sp>
      <p:pic>
        <p:nvPicPr>
          <p:cNvPr id="11" name="صورة 10" descr="Chart of total of passengers">
            <a:extLst>
              <a:ext uri="{FF2B5EF4-FFF2-40B4-BE49-F238E27FC236}">
                <a16:creationId xmlns:a16="http://schemas.microsoft.com/office/drawing/2014/main" id="{67E0C97D-41A7-DB81-1607-87DFDEFA99A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1225" y="3978277"/>
            <a:ext cx="2965425" cy="1980000"/>
          </a:xfrm>
          <a:prstGeom prst="rect">
            <a:avLst/>
          </a:prstGeom>
          <a:noFill/>
          <a:ln>
            <a:noFill/>
          </a:ln>
        </p:spPr>
      </p:pic>
      <p:pic>
        <p:nvPicPr>
          <p:cNvPr id="12" name="صورة 11" descr="Chart of Total of Passengers_1">
            <a:extLst>
              <a:ext uri="{FF2B5EF4-FFF2-40B4-BE49-F238E27FC236}">
                <a16:creationId xmlns:a16="http://schemas.microsoft.com/office/drawing/2014/main" id="{B5707652-09A1-5E49-3575-3D4702B3DE6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3438" y="4070562"/>
            <a:ext cx="2965449" cy="1980000"/>
          </a:xfrm>
          <a:prstGeom prst="rect">
            <a:avLst/>
          </a:prstGeom>
          <a:noFill/>
          <a:ln>
            <a:noFill/>
          </a:ln>
        </p:spPr>
      </p:pic>
    </p:spTree>
    <p:extLst>
      <p:ext uri="{BB962C8B-B14F-4D97-AF65-F5344CB8AC3E}">
        <p14:creationId xmlns:p14="http://schemas.microsoft.com/office/powerpoint/2010/main" val="4175371065"/>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844E5BA-3C5A-52BF-C9FF-D70D822128CB}"/>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708BD7DD-B6E4-356D-F3CE-E30BFA13BEAA}"/>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5" name="عنوان 4">
            <a:extLst>
              <a:ext uri="{FF2B5EF4-FFF2-40B4-BE49-F238E27FC236}">
                <a16:creationId xmlns:a16="http://schemas.microsoft.com/office/drawing/2014/main" id="{1CDD13B1-CFF0-3A20-8D1F-782ECB4B498E}"/>
              </a:ext>
            </a:extLst>
          </p:cNvPr>
          <p:cNvSpPr>
            <a:spLocks noGrp="1"/>
          </p:cNvSpPr>
          <p:nvPr>
            <p:ph type="ctrTitle"/>
          </p:nvPr>
        </p:nvSpPr>
        <p:spPr>
          <a:xfrm>
            <a:off x="3047980" y="0"/>
            <a:ext cx="9144000" cy="966863"/>
          </a:xfrm>
        </p:spPr>
        <p:txBody>
          <a:bodyPr>
            <a:normAutofit/>
          </a:bodyPr>
          <a:lstStyle/>
          <a:p>
            <a:r>
              <a:rPr lang="ar-SA" sz="4800" dirty="0"/>
              <a:t>اختبار </a:t>
            </a:r>
            <a:r>
              <a:rPr lang="en-US" sz="4800" dirty="0"/>
              <a:t>t</a:t>
            </a:r>
            <a:r>
              <a:rPr lang="ar-SA" sz="4800" dirty="0"/>
              <a:t> لعدد الرحلات المغادرة والواصلة.</a:t>
            </a:r>
          </a:p>
        </p:txBody>
      </p:sp>
      <p:sp>
        <p:nvSpPr>
          <p:cNvPr id="32" name="عنوان فرعي 31">
            <a:extLst>
              <a:ext uri="{FF2B5EF4-FFF2-40B4-BE49-F238E27FC236}">
                <a16:creationId xmlns:a16="http://schemas.microsoft.com/office/drawing/2014/main" id="{B75ED1EC-AD21-659B-E31B-96D53B28BFE1}"/>
              </a:ext>
            </a:extLst>
          </p:cNvPr>
          <p:cNvSpPr>
            <a:spLocks noGrp="1"/>
          </p:cNvSpPr>
          <p:nvPr>
            <p:ph type="subTitle" idx="1"/>
          </p:nvPr>
        </p:nvSpPr>
        <p:spPr>
          <a:xfrm>
            <a:off x="4901184" y="1151013"/>
            <a:ext cx="7040879" cy="5496674"/>
          </a:xfrm>
        </p:spPr>
        <p:txBody>
          <a:bodyPr>
            <a:normAutofit fontScale="70000" lnSpcReduction="20000"/>
          </a:bodyPr>
          <a:lstStyle/>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r>
              <a:rPr lang="ar-SA" sz="3300" dirty="0"/>
              <a:t>هذا الاختبار استعملنا اختبار </a:t>
            </a:r>
            <a:r>
              <a:rPr lang="en-US" sz="3300" dirty="0"/>
              <a:t>t</a:t>
            </a:r>
            <a:r>
              <a:rPr lang="ar-SA" sz="3300" dirty="0"/>
              <a:t> لعينتين مستقلتين لمعرفة ما أذا كانت هناك اختلافات جوهرية بين متوسطات عدد الرحلات المغادرة وعدد الرحلات الواصلة.</a:t>
            </a:r>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endParaRPr lang="ar-SA" dirty="0"/>
          </a:p>
          <a:p>
            <a:pPr marL="342900" indent="-342900" algn="r">
              <a:buFont typeface="Arial" panose="020B0604020202020204" pitchFamily="34" charset="0"/>
              <a:buChar char="•"/>
            </a:pPr>
            <a:r>
              <a:rPr lang="ar-SA" sz="3100" dirty="0"/>
              <a:t>وكما نرى بنتائج الاختبار ان قيمة </a:t>
            </a:r>
            <a:r>
              <a:rPr lang="en-US" sz="3100" dirty="0"/>
              <a:t>P-Value</a:t>
            </a:r>
            <a:r>
              <a:rPr lang="ar-SA" sz="3100" dirty="0"/>
              <a:t> اقل من </a:t>
            </a:r>
            <a:r>
              <a:rPr lang="en-US" sz="3100" dirty="0"/>
              <a:t>0.05</a:t>
            </a:r>
            <a:r>
              <a:rPr lang="ar-SA" sz="3100" dirty="0"/>
              <a:t> لذا فأننا نرفض الفرضية الصفرية </a:t>
            </a:r>
            <a:r>
              <a:rPr lang="ar-SA" sz="3100" dirty="0" err="1"/>
              <a:t>ونأكد</a:t>
            </a:r>
            <a:r>
              <a:rPr lang="ar-SA" sz="3100" dirty="0"/>
              <a:t> ان يوجد هناك اختلافات جوهرية ذات دلالة إحصائية بين عدد الرحلات المغادرة والرحلات الواصلة وان الفرق بينهم ليس ناتجا عن صدفة.</a:t>
            </a:r>
          </a:p>
        </p:txBody>
      </p:sp>
      <p:graphicFrame>
        <p:nvGraphicFramePr>
          <p:cNvPr id="31" name="عنصر نائب للمحتوى 30">
            <a:extLst>
              <a:ext uri="{FF2B5EF4-FFF2-40B4-BE49-F238E27FC236}">
                <a16:creationId xmlns:a16="http://schemas.microsoft.com/office/drawing/2014/main" id="{6FF61C28-6C77-E28C-EFD9-BBD2CBE0E0F8}"/>
              </a:ext>
            </a:extLst>
          </p:cNvPr>
          <p:cNvGraphicFramePr>
            <a:graphicFrameLocks noGrp="1"/>
          </p:cNvGraphicFramePr>
          <p:nvPr>
            <p:ph idx="4294967295"/>
            <p:extLst>
              <p:ext uri="{D42A27DB-BD31-4B8C-83A1-F6EECF244321}">
                <p14:modId xmlns:p14="http://schemas.microsoft.com/office/powerpoint/2010/main" val="2385275348"/>
              </p:ext>
            </p:extLst>
          </p:nvPr>
        </p:nvGraphicFramePr>
        <p:xfrm>
          <a:off x="362714" y="3703563"/>
          <a:ext cx="4794504" cy="1389399"/>
        </p:xfrm>
        <a:graphic>
          <a:graphicData uri="http://schemas.openxmlformats.org/drawingml/2006/table">
            <a:tbl>
              <a:tblPr rtl="1" firstRow="1" bandRow="1">
                <a:tableStyleId>{5C22544A-7EE6-4342-B048-85BDC9FD1C3A}</a:tableStyleId>
              </a:tblPr>
              <a:tblGrid>
                <a:gridCol w="1598168">
                  <a:extLst>
                    <a:ext uri="{9D8B030D-6E8A-4147-A177-3AD203B41FA5}">
                      <a16:colId xmlns:a16="http://schemas.microsoft.com/office/drawing/2014/main" val="1088825643"/>
                    </a:ext>
                  </a:extLst>
                </a:gridCol>
                <a:gridCol w="1598168">
                  <a:extLst>
                    <a:ext uri="{9D8B030D-6E8A-4147-A177-3AD203B41FA5}">
                      <a16:colId xmlns:a16="http://schemas.microsoft.com/office/drawing/2014/main" val="1134779097"/>
                    </a:ext>
                  </a:extLst>
                </a:gridCol>
                <a:gridCol w="1598168">
                  <a:extLst>
                    <a:ext uri="{9D8B030D-6E8A-4147-A177-3AD203B41FA5}">
                      <a16:colId xmlns:a16="http://schemas.microsoft.com/office/drawing/2014/main" val="1460769267"/>
                    </a:ext>
                  </a:extLst>
                </a:gridCol>
              </a:tblGrid>
              <a:tr h="350647">
                <a:tc gridSpan="3">
                  <a:txBody>
                    <a:bodyPr/>
                    <a:lstStyle/>
                    <a:p>
                      <a:pPr algn="l" rtl="1"/>
                      <a:r>
                        <a:rPr lang="en-US" dirty="0"/>
                        <a:t>Null Hypothesis  </a:t>
                      </a:r>
                      <a:r>
                        <a:rPr lang="en-US" sz="1800" b="1" kern="1200" dirty="0">
                          <a:solidFill>
                            <a:schemeClr val="lt1"/>
                          </a:solidFill>
                          <a:effectLst/>
                          <a:latin typeface="+mn-lt"/>
                          <a:ea typeface="+mn-ea"/>
                          <a:cs typeface="+mn-cs"/>
                        </a:rPr>
                        <a:t>H₀: μ₁ - µ₂ = 0</a:t>
                      </a:r>
                      <a:endParaRPr lang="ar-SA" dirty="0"/>
                    </a:p>
                  </a:txBody>
                  <a:tcPr>
                    <a:solidFill>
                      <a:schemeClr val="bg2">
                        <a:lumMod val="75000"/>
                        <a:lumOff val="25000"/>
                      </a:schemeClr>
                    </a:solidFill>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440966614"/>
                  </a:ext>
                </a:extLst>
              </a:tr>
              <a:tr h="161834">
                <a:tc gridSpan="3">
                  <a:txBody>
                    <a:bodyPr/>
                    <a:lstStyle/>
                    <a:p>
                      <a:pPr algn="l" rtl="1"/>
                      <a:r>
                        <a:rPr lang="en-US" b="1" dirty="0">
                          <a:solidFill>
                            <a:schemeClr val="tx1"/>
                          </a:solidFill>
                        </a:rPr>
                        <a:t>Alternative hypothesis  H₁: </a:t>
                      </a:r>
                      <a:r>
                        <a:rPr lang="el-GR" b="1" dirty="0">
                          <a:solidFill>
                            <a:schemeClr val="tx1"/>
                          </a:solidFill>
                        </a:rPr>
                        <a:t>μ₁ - µ₂ ≠ 0</a:t>
                      </a:r>
                      <a:endParaRPr lang="ar-SA" b="1" dirty="0">
                        <a:solidFill>
                          <a:schemeClr val="tx1"/>
                        </a:solidFill>
                      </a:endParaRPr>
                    </a:p>
                  </a:txBody>
                  <a:tcPr>
                    <a:solidFill>
                      <a:schemeClr val="bg2">
                        <a:lumMod val="75000"/>
                        <a:lumOff val="25000"/>
                      </a:schemeClr>
                    </a:solidFill>
                  </a:tcPr>
                </a:tc>
                <a:tc hMerge="1">
                  <a:txBody>
                    <a:bodyPr/>
                    <a:lstStyle/>
                    <a:p>
                      <a:pPr rtl="1"/>
                      <a:endParaRPr lang="ar-SA"/>
                    </a:p>
                  </a:txBody>
                  <a:tcPr/>
                </a:tc>
                <a:tc hMerge="1">
                  <a:txBody>
                    <a:bodyPr/>
                    <a:lstStyle/>
                    <a:p>
                      <a:pPr rtl="1"/>
                      <a:endParaRPr lang="ar-SA" dirty="0"/>
                    </a:p>
                  </a:txBody>
                  <a:tcPr/>
                </a:tc>
                <a:extLst>
                  <a:ext uri="{0D108BD9-81ED-4DB2-BD59-A6C34878D82A}">
                    <a16:rowId xmlns:a16="http://schemas.microsoft.com/office/drawing/2014/main" val="480626750"/>
                  </a:ext>
                </a:extLst>
              </a:tr>
              <a:tr h="280498">
                <a:tc>
                  <a:txBody>
                    <a:bodyPr/>
                    <a:lstStyle/>
                    <a:p>
                      <a:pPr algn="ctr" rtl="1">
                        <a:lnSpc>
                          <a:spcPct val="150000"/>
                        </a:lnSpc>
                        <a:spcAft>
                          <a:spcPts val="800"/>
                        </a:spcAft>
                      </a:pPr>
                      <a:r>
                        <a:rPr lang="en-US" sz="10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T-Value</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ctr" rtl="1">
                        <a:lnSpc>
                          <a:spcPct val="150000"/>
                        </a:lnSpc>
                        <a:spcAft>
                          <a:spcPts val="800"/>
                        </a:spcAft>
                      </a:pPr>
                      <a:r>
                        <a:rPr lang="en-US" sz="10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DF</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ctr" rtl="1">
                        <a:lnSpc>
                          <a:spcPct val="150000"/>
                        </a:lnSpc>
                        <a:spcAft>
                          <a:spcPts val="800"/>
                        </a:spcAft>
                      </a:pPr>
                      <a:r>
                        <a:rPr lang="en-US" sz="10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1318067029"/>
                  </a:ext>
                </a:extLst>
              </a:tr>
              <a:tr h="285445">
                <a:tc>
                  <a:txBody>
                    <a:bodyPr/>
                    <a:lstStyle/>
                    <a:p>
                      <a:pPr algn="ctr" rtl="1">
                        <a:lnSpc>
                          <a:spcPct val="150000"/>
                        </a:lnSpc>
                        <a:spcAft>
                          <a:spcPts val="800"/>
                        </a:spcAft>
                      </a:pPr>
                      <a:r>
                        <a:rPr lang="en-US"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11.83</a:t>
                      </a:r>
                      <a:endParaRPr lang="en-US" sz="16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ctr" rtl="1">
                        <a:lnSpc>
                          <a:spcPct val="150000"/>
                        </a:lnSpc>
                        <a:spcAft>
                          <a:spcPts val="800"/>
                        </a:spcAft>
                      </a:pPr>
                      <a:r>
                        <a:rPr lang="en-US" sz="18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47</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ctr" rtl="1">
                        <a:lnSpc>
                          <a:spcPct val="150000"/>
                        </a:lnSpc>
                        <a:spcAft>
                          <a:spcPts val="800"/>
                        </a:spcAft>
                      </a:pPr>
                      <a:r>
                        <a:rPr lang="en-US" sz="18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0.000</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1962847001"/>
                  </a:ext>
                </a:extLst>
              </a:tr>
            </a:tbl>
          </a:graphicData>
        </a:graphic>
      </p:graphicFrame>
      <p:graphicFrame>
        <p:nvGraphicFramePr>
          <p:cNvPr id="12" name="جدول 11">
            <a:extLst>
              <a:ext uri="{FF2B5EF4-FFF2-40B4-BE49-F238E27FC236}">
                <a16:creationId xmlns:a16="http://schemas.microsoft.com/office/drawing/2014/main" id="{64971E44-94BE-75AF-7CDB-DB67B40A7D5A}"/>
              </a:ext>
            </a:extLst>
          </p:cNvPr>
          <p:cNvGraphicFramePr>
            <a:graphicFrameLocks noGrp="1"/>
          </p:cNvGraphicFramePr>
          <p:nvPr>
            <p:extLst>
              <p:ext uri="{D42A27DB-BD31-4B8C-83A1-F6EECF244321}">
                <p14:modId xmlns:p14="http://schemas.microsoft.com/office/powerpoint/2010/main" val="3574871870"/>
              </p:ext>
            </p:extLst>
          </p:nvPr>
        </p:nvGraphicFramePr>
        <p:xfrm>
          <a:off x="362714" y="1276395"/>
          <a:ext cx="4794504" cy="1324262"/>
        </p:xfrm>
        <a:graphic>
          <a:graphicData uri="http://schemas.openxmlformats.org/drawingml/2006/table">
            <a:tbl>
              <a:tblPr firstRow="1" bandRow="1">
                <a:tableStyleId>{5C22544A-7EE6-4342-B048-85BDC9FD1C3A}</a:tableStyleId>
              </a:tblPr>
              <a:tblGrid>
                <a:gridCol w="944849">
                  <a:extLst>
                    <a:ext uri="{9D8B030D-6E8A-4147-A177-3AD203B41FA5}">
                      <a16:colId xmlns:a16="http://schemas.microsoft.com/office/drawing/2014/main" val="2519598203"/>
                    </a:ext>
                  </a:extLst>
                </a:gridCol>
                <a:gridCol w="630348">
                  <a:extLst>
                    <a:ext uri="{9D8B030D-6E8A-4147-A177-3AD203B41FA5}">
                      <a16:colId xmlns:a16="http://schemas.microsoft.com/office/drawing/2014/main" val="2159366501"/>
                    </a:ext>
                  </a:extLst>
                </a:gridCol>
                <a:gridCol w="1162322">
                  <a:extLst>
                    <a:ext uri="{9D8B030D-6E8A-4147-A177-3AD203B41FA5}">
                      <a16:colId xmlns:a16="http://schemas.microsoft.com/office/drawing/2014/main" val="1778337398"/>
                    </a:ext>
                  </a:extLst>
                </a:gridCol>
                <a:gridCol w="984997">
                  <a:extLst>
                    <a:ext uri="{9D8B030D-6E8A-4147-A177-3AD203B41FA5}">
                      <a16:colId xmlns:a16="http://schemas.microsoft.com/office/drawing/2014/main" val="2769270389"/>
                    </a:ext>
                  </a:extLst>
                </a:gridCol>
                <a:gridCol w="1071988">
                  <a:extLst>
                    <a:ext uri="{9D8B030D-6E8A-4147-A177-3AD203B41FA5}">
                      <a16:colId xmlns:a16="http://schemas.microsoft.com/office/drawing/2014/main" val="4115372518"/>
                    </a:ext>
                  </a:extLst>
                </a:gridCol>
              </a:tblGrid>
              <a:tr h="316119">
                <a:tc>
                  <a:txBody>
                    <a:bodyPr/>
                    <a:lstStyle/>
                    <a:p>
                      <a:pPr algn="just" rtl="1">
                        <a:lnSpc>
                          <a:spcPct val="150000"/>
                        </a:lnSpc>
                        <a:spcAft>
                          <a:spcPts val="800"/>
                        </a:spcAft>
                      </a:pPr>
                      <a:r>
                        <a:rPr lang="en-US" sz="1700" dirty="0">
                          <a:effectLst/>
                        </a:rPr>
                        <a:t>Sample</a:t>
                      </a:r>
                      <a:endParaRPr lang="en-US" sz="2500" dirty="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nchor="b"/>
                </a:tc>
                <a:tc>
                  <a:txBody>
                    <a:bodyPr/>
                    <a:lstStyle/>
                    <a:p>
                      <a:pPr algn="just" rtl="1">
                        <a:lnSpc>
                          <a:spcPct val="150000"/>
                        </a:lnSpc>
                        <a:spcAft>
                          <a:spcPts val="800"/>
                        </a:spcAft>
                      </a:pPr>
                      <a:r>
                        <a:rPr lang="en-US" sz="1700">
                          <a:effectLst/>
                        </a:rPr>
                        <a:t>N</a:t>
                      </a:r>
                      <a:endParaRPr lang="en-US" sz="25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nchor="b"/>
                </a:tc>
                <a:tc>
                  <a:txBody>
                    <a:bodyPr/>
                    <a:lstStyle/>
                    <a:p>
                      <a:pPr algn="just" rtl="1">
                        <a:lnSpc>
                          <a:spcPct val="150000"/>
                        </a:lnSpc>
                        <a:spcAft>
                          <a:spcPts val="800"/>
                        </a:spcAft>
                      </a:pPr>
                      <a:r>
                        <a:rPr lang="en-US" sz="1700" dirty="0">
                          <a:effectLst/>
                        </a:rPr>
                        <a:t>Mean</a:t>
                      </a:r>
                      <a:endParaRPr lang="en-US" sz="2500" dirty="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nchor="b"/>
                </a:tc>
                <a:tc>
                  <a:txBody>
                    <a:bodyPr/>
                    <a:lstStyle/>
                    <a:p>
                      <a:pPr algn="just" rtl="1">
                        <a:lnSpc>
                          <a:spcPct val="150000"/>
                        </a:lnSpc>
                        <a:spcAft>
                          <a:spcPts val="800"/>
                        </a:spcAft>
                      </a:pPr>
                      <a:r>
                        <a:rPr lang="en-US" sz="1700">
                          <a:effectLst/>
                        </a:rPr>
                        <a:t>StDev</a:t>
                      </a:r>
                      <a:endParaRPr lang="en-US" sz="25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nchor="b"/>
                </a:tc>
                <a:tc>
                  <a:txBody>
                    <a:bodyPr/>
                    <a:lstStyle/>
                    <a:p>
                      <a:pPr algn="just" rtl="1">
                        <a:lnSpc>
                          <a:spcPct val="150000"/>
                        </a:lnSpc>
                        <a:spcAft>
                          <a:spcPts val="800"/>
                        </a:spcAft>
                      </a:pPr>
                      <a:r>
                        <a:rPr lang="en-US" sz="1700" dirty="0">
                          <a:effectLst/>
                        </a:rPr>
                        <a:t>SE Mean</a:t>
                      </a:r>
                      <a:endParaRPr lang="en-US" sz="2500" dirty="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nchor="b"/>
                </a:tc>
                <a:extLst>
                  <a:ext uri="{0D108BD9-81ED-4DB2-BD59-A6C34878D82A}">
                    <a16:rowId xmlns:a16="http://schemas.microsoft.com/office/drawing/2014/main" val="414361172"/>
                  </a:ext>
                </a:extLst>
              </a:tr>
              <a:tr h="462392">
                <a:tc>
                  <a:txBody>
                    <a:bodyPr/>
                    <a:lstStyle/>
                    <a:p>
                      <a:pPr algn="just" rtl="1">
                        <a:lnSpc>
                          <a:spcPct val="150000"/>
                        </a:lnSpc>
                        <a:spcAft>
                          <a:spcPts val="800"/>
                        </a:spcAft>
                      </a:pPr>
                      <a:r>
                        <a:rPr lang="en-US" sz="2000">
                          <a:effectLst/>
                        </a:rPr>
                        <a:t>TOF out</a:t>
                      </a:r>
                      <a:endParaRPr lang="en-US" sz="20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tc>
                  <a:txBody>
                    <a:bodyPr/>
                    <a:lstStyle/>
                    <a:p>
                      <a:pPr algn="just" rtl="1">
                        <a:lnSpc>
                          <a:spcPct val="150000"/>
                        </a:lnSpc>
                        <a:spcAft>
                          <a:spcPts val="800"/>
                        </a:spcAft>
                      </a:pPr>
                      <a:r>
                        <a:rPr lang="en-US" sz="2000">
                          <a:effectLst/>
                        </a:rPr>
                        <a:t>48</a:t>
                      </a:r>
                      <a:endParaRPr lang="en-US" sz="20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tc>
                  <a:txBody>
                    <a:bodyPr/>
                    <a:lstStyle/>
                    <a:p>
                      <a:pPr algn="just" rtl="1">
                        <a:lnSpc>
                          <a:spcPct val="150000"/>
                        </a:lnSpc>
                        <a:spcAft>
                          <a:spcPts val="800"/>
                        </a:spcAft>
                      </a:pPr>
                      <a:r>
                        <a:rPr lang="en-US" sz="2000">
                          <a:effectLst/>
                        </a:rPr>
                        <a:t>21674</a:t>
                      </a:r>
                      <a:endParaRPr lang="en-US" sz="20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tc>
                  <a:txBody>
                    <a:bodyPr/>
                    <a:lstStyle/>
                    <a:p>
                      <a:pPr algn="just" rtl="1">
                        <a:lnSpc>
                          <a:spcPct val="150000"/>
                        </a:lnSpc>
                        <a:spcAft>
                          <a:spcPts val="800"/>
                        </a:spcAft>
                      </a:pPr>
                      <a:r>
                        <a:rPr lang="en-US" sz="2000">
                          <a:effectLst/>
                        </a:rPr>
                        <a:t>9981</a:t>
                      </a:r>
                      <a:endParaRPr lang="en-US" sz="20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tc>
                  <a:txBody>
                    <a:bodyPr/>
                    <a:lstStyle/>
                    <a:p>
                      <a:pPr algn="just" rtl="1">
                        <a:lnSpc>
                          <a:spcPct val="150000"/>
                        </a:lnSpc>
                        <a:spcAft>
                          <a:spcPts val="800"/>
                        </a:spcAft>
                      </a:pPr>
                      <a:r>
                        <a:rPr lang="en-US" sz="2000" dirty="0">
                          <a:effectLst/>
                        </a:rPr>
                        <a:t>1441</a:t>
                      </a:r>
                      <a:endParaRPr lang="en-US" sz="2000" dirty="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extLst>
                  <a:ext uri="{0D108BD9-81ED-4DB2-BD59-A6C34878D82A}">
                    <a16:rowId xmlns:a16="http://schemas.microsoft.com/office/drawing/2014/main" val="3785973794"/>
                  </a:ext>
                </a:extLst>
              </a:tr>
              <a:tr h="493280">
                <a:tc>
                  <a:txBody>
                    <a:bodyPr/>
                    <a:lstStyle/>
                    <a:p>
                      <a:pPr algn="just" rtl="1">
                        <a:lnSpc>
                          <a:spcPct val="150000"/>
                        </a:lnSpc>
                        <a:spcAft>
                          <a:spcPts val="800"/>
                        </a:spcAft>
                      </a:pPr>
                      <a:r>
                        <a:rPr lang="en-US" sz="2000">
                          <a:effectLst/>
                        </a:rPr>
                        <a:t>TOF in</a:t>
                      </a:r>
                      <a:endParaRPr lang="en-US" sz="20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tc>
                  <a:txBody>
                    <a:bodyPr/>
                    <a:lstStyle/>
                    <a:p>
                      <a:pPr algn="just" rtl="1">
                        <a:lnSpc>
                          <a:spcPct val="150000"/>
                        </a:lnSpc>
                        <a:spcAft>
                          <a:spcPts val="800"/>
                        </a:spcAft>
                      </a:pPr>
                      <a:r>
                        <a:rPr lang="en-US" sz="2000">
                          <a:effectLst/>
                        </a:rPr>
                        <a:t>44</a:t>
                      </a:r>
                      <a:endParaRPr lang="en-US" sz="20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tc>
                  <a:txBody>
                    <a:bodyPr/>
                    <a:lstStyle/>
                    <a:p>
                      <a:pPr algn="just" rtl="1">
                        <a:lnSpc>
                          <a:spcPct val="150000"/>
                        </a:lnSpc>
                        <a:spcAft>
                          <a:spcPts val="800"/>
                        </a:spcAft>
                      </a:pPr>
                      <a:r>
                        <a:rPr lang="en-US" sz="2000">
                          <a:effectLst/>
                        </a:rPr>
                        <a:t>4616</a:t>
                      </a:r>
                      <a:endParaRPr lang="en-US" sz="20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tc>
                  <a:txBody>
                    <a:bodyPr/>
                    <a:lstStyle/>
                    <a:p>
                      <a:pPr algn="just" rtl="1">
                        <a:lnSpc>
                          <a:spcPct val="150000"/>
                        </a:lnSpc>
                        <a:spcAft>
                          <a:spcPts val="800"/>
                        </a:spcAft>
                      </a:pPr>
                      <a:r>
                        <a:rPr lang="en-US" sz="2000">
                          <a:effectLst/>
                        </a:rPr>
                        <a:t>448</a:t>
                      </a:r>
                      <a:endParaRPr lang="en-US" sz="200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tc>
                  <a:txBody>
                    <a:bodyPr/>
                    <a:lstStyle/>
                    <a:p>
                      <a:pPr algn="just" rtl="1">
                        <a:lnSpc>
                          <a:spcPct val="150000"/>
                        </a:lnSpc>
                        <a:spcAft>
                          <a:spcPts val="800"/>
                        </a:spcAft>
                      </a:pPr>
                      <a:r>
                        <a:rPr lang="en-US" sz="2000" dirty="0">
                          <a:effectLst/>
                        </a:rPr>
                        <a:t>68</a:t>
                      </a:r>
                      <a:endParaRPr lang="en-US" sz="2000" dirty="0">
                        <a:effectLst/>
                        <a:latin typeface="Aptos" panose="020B0004020202020204" pitchFamily="34" charset="0"/>
                        <a:ea typeface="Aptos" panose="020B0004020202020204" pitchFamily="34" charset="0"/>
                        <a:cs typeface="Arial" panose="020B0604020202020204" pitchFamily="34" charset="0"/>
                      </a:endParaRPr>
                    </a:p>
                  </a:txBody>
                  <a:tcPr marL="34616" marR="34616" marT="17308" marB="0"/>
                </a:tc>
                <a:extLst>
                  <a:ext uri="{0D108BD9-81ED-4DB2-BD59-A6C34878D82A}">
                    <a16:rowId xmlns:a16="http://schemas.microsoft.com/office/drawing/2014/main" val="3452588341"/>
                  </a:ext>
                </a:extLst>
              </a:tr>
            </a:tbl>
          </a:graphicData>
        </a:graphic>
      </p:graphicFrame>
    </p:spTree>
    <p:extLst>
      <p:ext uri="{BB962C8B-B14F-4D97-AF65-F5344CB8AC3E}">
        <p14:creationId xmlns:p14="http://schemas.microsoft.com/office/powerpoint/2010/main" val="1338412662"/>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267AFD3-7D3D-1BC9-FF45-28D6A0BEF058}"/>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59D462F5-B302-A1BE-00A8-E41A7B8C50E1}"/>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12" name="عنوان 11">
            <a:extLst>
              <a:ext uri="{FF2B5EF4-FFF2-40B4-BE49-F238E27FC236}">
                <a16:creationId xmlns:a16="http://schemas.microsoft.com/office/drawing/2014/main" id="{6F68A707-D116-3046-0A67-2E90DF807FF4}"/>
              </a:ext>
            </a:extLst>
          </p:cNvPr>
          <p:cNvSpPr>
            <a:spLocks noGrp="1"/>
          </p:cNvSpPr>
          <p:nvPr>
            <p:ph type="title"/>
          </p:nvPr>
        </p:nvSpPr>
        <p:spPr>
          <a:xfrm>
            <a:off x="1676380" y="47943"/>
            <a:ext cx="10515600" cy="1325563"/>
          </a:xfrm>
        </p:spPr>
        <p:txBody>
          <a:bodyPr/>
          <a:lstStyle/>
          <a:p>
            <a:r>
              <a:rPr lang="ar-SA" dirty="0"/>
              <a:t>اختبار </a:t>
            </a:r>
            <a:r>
              <a:rPr lang="en-US" dirty="0"/>
              <a:t>t</a:t>
            </a:r>
            <a:r>
              <a:rPr lang="ar-SA" dirty="0"/>
              <a:t> لعدد الركاب المغادرين وعدد الركاب الواصلين</a:t>
            </a:r>
          </a:p>
        </p:txBody>
      </p:sp>
      <p:graphicFrame>
        <p:nvGraphicFramePr>
          <p:cNvPr id="17" name="عنصر نائب للمحتوى 16">
            <a:extLst>
              <a:ext uri="{FF2B5EF4-FFF2-40B4-BE49-F238E27FC236}">
                <a16:creationId xmlns:a16="http://schemas.microsoft.com/office/drawing/2014/main" id="{86B1BFB3-B6B4-B464-78BD-67C0F6C8AAC0}"/>
              </a:ext>
            </a:extLst>
          </p:cNvPr>
          <p:cNvGraphicFramePr>
            <a:graphicFrameLocks noGrp="1"/>
          </p:cNvGraphicFramePr>
          <p:nvPr>
            <p:ph idx="1"/>
            <p:extLst>
              <p:ext uri="{D42A27DB-BD31-4B8C-83A1-F6EECF244321}">
                <p14:modId xmlns:p14="http://schemas.microsoft.com/office/powerpoint/2010/main" val="3587199396"/>
              </p:ext>
            </p:extLst>
          </p:nvPr>
        </p:nvGraphicFramePr>
        <p:xfrm>
          <a:off x="557529" y="1421448"/>
          <a:ext cx="4965446" cy="1325563"/>
        </p:xfrm>
        <a:graphic>
          <a:graphicData uri="http://schemas.openxmlformats.org/drawingml/2006/table">
            <a:tbl>
              <a:tblPr>
                <a:tableStyleId>{5C22544A-7EE6-4342-B048-85BDC9FD1C3A}</a:tableStyleId>
              </a:tblPr>
              <a:tblGrid>
                <a:gridCol w="1246391">
                  <a:extLst>
                    <a:ext uri="{9D8B030D-6E8A-4147-A177-3AD203B41FA5}">
                      <a16:colId xmlns:a16="http://schemas.microsoft.com/office/drawing/2014/main" val="493769607"/>
                    </a:ext>
                  </a:extLst>
                </a:gridCol>
                <a:gridCol w="408199">
                  <a:extLst>
                    <a:ext uri="{9D8B030D-6E8A-4147-A177-3AD203B41FA5}">
                      <a16:colId xmlns:a16="http://schemas.microsoft.com/office/drawing/2014/main" val="3596688190"/>
                    </a:ext>
                  </a:extLst>
                </a:gridCol>
                <a:gridCol w="1021755">
                  <a:extLst>
                    <a:ext uri="{9D8B030D-6E8A-4147-A177-3AD203B41FA5}">
                      <a16:colId xmlns:a16="http://schemas.microsoft.com/office/drawing/2014/main" val="717083970"/>
                    </a:ext>
                  </a:extLst>
                </a:gridCol>
                <a:gridCol w="1021755">
                  <a:extLst>
                    <a:ext uri="{9D8B030D-6E8A-4147-A177-3AD203B41FA5}">
                      <a16:colId xmlns:a16="http://schemas.microsoft.com/office/drawing/2014/main" val="1571325613"/>
                    </a:ext>
                  </a:extLst>
                </a:gridCol>
                <a:gridCol w="1267346">
                  <a:extLst>
                    <a:ext uri="{9D8B030D-6E8A-4147-A177-3AD203B41FA5}">
                      <a16:colId xmlns:a16="http://schemas.microsoft.com/office/drawing/2014/main" val="2046849022"/>
                    </a:ext>
                  </a:extLst>
                </a:gridCol>
              </a:tblGrid>
              <a:tr h="395175">
                <a:tc>
                  <a:txBody>
                    <a:bodyPr/>
                    <a:lstStyle/>
                    <a:p>
                      <a:pPr algn="just" rtl="0">
                        <a:lnSpc>
                          <a:spcPct val="107000"/>
                        </a:lnSpc>
                        <a:spcAft>
                          <a:spcPts val="800"/>
                        </a:spcAft>
                      </a:pPr>
                      <a:r>
                        <a:rPr lang="en-US" sz="1600" b="1" dirty="0">
                          <a:solidFill>
                            <a:schemeClr val="tx1"/>
                          </a:solidFill>
                          <a:effectLst/>
                        </a:rPr>
                        <a:t>Sample</a:t>
                      </a:r>
                      <a:endParaRPr lang="en-US" sz="32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just" rtl="0">
                        <a:lnSpc>
                          <a:spcPct val="107000"/>
                        </a:lnSpc>
                        <a:spcAft>
                          <a:spcPts val="800"/>
                        </a:spcAft>
                      </a:pPr>
                      <a:r>
                        <a:rPr lang="en-US" sz="1600" b="1" dirty="0">
                          <a:solidFill>
                            <a:schemeClr val="tx1"/>
                          </a:solidFill>
                          <a:effectLst/>
                        </a:rPr>
                        <a:t>N</a:t>
                      </a:r>
                      <a:endParaRPr lang="en-US" sz="32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just" rtl="0">
                        <a:lnSpc>
                          <a:spcPct val="107000"/>
                        </a:lnSpc>
                        <a:spcAft>
                          <a:spcPts val="800"/>
                        </a:spcAft>
                      </a:pPr>
                      <a:r>
                        <a:rPr lang="en-US" sz="1600" b="1" dirty="0">
                          <a:solidFill>
                            <a:schemeClr val="tx1"/>
                          </a:solidFill>
                          <a:effectLst/>
                        </a:rPr>
                        <a:t>Mean</a:t>
                      </a:r>
                      <a:endParaRPr lang="en-US" sz="32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just" rtl="0">
                        <a:lnSpc>
                          <a:spcPct val="107000"/>
                        </a:lnSpc>
                        <a:spcAft>
                          <a:spcPts val="800"/>
                        </a:spcAft>
                      </a:pPr>
                      <a:r>
                        <a:rPr lang="en-US" sz="1600" b="1" dirty="0" err="1">
                          <a:solidFill>
                            <a:schemeClr val="tx1"/>
                          </a:solidFill>
                          <a:effectLst/>
                        </a:rPr>
                        <a:t>StDev</a:t>
                      </a:r>
                      <a:endParaRPr lang="en-US" sz="32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just" rtl="0">
                        <a:lnSpc>
                          <a:spcPct val="107000"/>
                        </a:lnSpc>
                        <a:spcAft>
                          <a:spcPts val="800"/>
                        </a:spcAft>
                      </a:pPr>
                      <a:r>
                        <a:rPr lang="en-US" sz="1600" b="1" dirty="0">
                          <a:solidFill>
                            <a:schemeClr val="tx1"/>
                          </a:solidFill>
                          <a:effectLst/>
                        </a:rPr>
                        <a:t>SE Mean</a:t>
                      </a:r>
                      <a:endParaRPr lang="en-US" sz="32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extLst>
                  <a:ext uri="{0D108BD9-81ED-4DB2-BD59-A6C34878D82A}">
                    <a16:rowId xmlns:a16="http://schemas.microsoft.com/office/drawing/2014/main" val="2278859981"/>
                  </a:ext>
                </a:extLst>
              </a:tr>
              <a:tr h="465194">
                <a:tc>
                  <a:txBody>
                    <a:bodyPr/>
                    <a:lstStyle/>
                    <a:p>
                      <a:pPr algn="just" rtl="0">
                        <a:lnSpc>
                          <a:spcPct val="107000"/>
                        </a:lnSpc>
                        <a:spcAft>
                          <a:spcPts val="800"/>
                        </a:spcAft>
                      </a:pPr>
                      <a:r>
                        <a:rPr lang="en-US" sz="1600">
                          <a:effectLst/>
                        </a:rPr>
                        <a:t>TOP OUT</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tx1">
                        <a:lumMod val="75000"/>
                      </a:schemeClr>
                    </a:solidFill>
                  </a:tcPr>
                </a:tc>
                <a:tc>
                  <a:txBody>
                    <a:bodyPr/>
                    <a:lstStyle/>
                    <a:p>
                      <a:pPr algn="just" rtl="0">
                        <a:lnSpc>
                          <a:spcPct val="107000"/>
                        </a:lnSpc>
                        <a:spcAft>
                          <a:spcPts val="800"/>
                        </a:spcAft>
                      </a:pPr>
                      <a:r>
                        <a:rPr lang="en-US" sz="1600">
                          <a:effectLst/>
                        </a:rPr>
                        <a:t>48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tx1">
                        <a:lumMod val="75000"/>
                      </a:schemeClr>
                    </a:solidFill>
                  </a:tcPr>
                </a:tc>
                <a:tc>
                  <a:txBody>
                    <a:bodyPr/>
                    <a:lstStyle/>
                    <a:p>
                      <a:pPr algn="just" rtl="0">
                        <a:lnSpc>
                          <a:spcPct val="107000"/>
                        </a:lnSpc>
                        <a:spcAft>
                          <a:spcPts val="800"/>
                        </a:spcAft>
                      </a:pPr>
                      <a:r>
                        <a:rPr lang="en-US" sz="1600">
                          <a:effectLst/>
                        </a:rPr>
                        <a:t>2783551</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tx1">
                        <a:lumMod val="75000"/>
                      </a:schemeClr>
                    </a:solidFill>
                  </a:tcPr>
                </a:tc>
                <a:tc>
                  <a:txBody>
                    <a:bodyPr/>
                    <a:lstStyle/>
                    <a:p>
                      <a:pPr algn="just" rtl="0">
                        <a:lnSpc>
                          <a:spcPct val="107000"/>
                        </a:lnSpc>
                        <a:spcAft>
                          <a:spcPts val="800"/>
                        </a:spcAft>
                      </a:pPr>
                      <a:r>
                        <a:rPr lang="en-US" sz="1600">
                          <a:effectLst/>
                        </a:rPr>
                        <a:t>1439101</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tx1">
                        <a:lumMod val="75000"/>
                      </a:schemeClr>
                    </a:solidFill>
                  </a:tcPr>
                </a:tc>
                <a:tc>
                  <a:txBody>
                    <a:bodyPr/>
                    <a:lstStyle/>
                    <a:p>
                      <a:pPr algn="just" rtl="0">
                        <a:lnSpc>
                          <a:spcPct val="107000"/>
                        </a:lnSpc>
                        <a:spcAft>
                          <a:spcPts val="800"/>
                        </a:spcAft>
                      </a:pPr>
                      <a:r>
                        <a:rPr lang="en-US" sz="1600" dirty="0">
                          <a:effectLst/>
                        </a:rPr>
                        <a:t>207716</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tx1">
                        <a:lumMod val="75000"/>
                      </a:schemeClr>
                    </a:solidFill>
                  </a:tcPr>
                </a:tc>
                <a:extLst>
                  <a:ext uri="{0D108BD9-81ED-4DB2-BD59-A6C34878D82A}">
                    <a16:rowId xmlns:a16="http://schemas.microsoft.com/office/drawing/2014/main" val="1879826210"/>
                  </a:ext>
                </a:extLst>
              </a:tr>
              <a:tr h="465194">
                <a:tc>
                  <a:txBody>
                    <a:bodyPr/>
                    <a:lstStyle/>
                    <a:p>
                      <a:pPr algn="just" rtl="0">
                        <a:lnSpc>
                          <a:spcPct val="107000"/>
                        </a:lnSpc>
                        <a:spcAft>
                          <a:spcPts val="800"/>
                        </a:spcAft>
                      </a:pPr>
                      <a:r>
                        <a:rPr lang="en-US" sz="1600">
                          <a:effectLst/>
                        </a:rPr>
                        <a:t>TOP IN</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just" rtl="0">
                        <a:lnSpc>
                          <a:spcPct val="107000"/>
                        </a:lnSpc>
                        <a:spcAft>
                          <a:spcPts val="800"/>
                        </a:spcAft>
                      </a:pPr>
                      <a:r>
                        <a:rPr lang="en-US" sz="1600">
                          <a:effectLst/>
                        </a:rPr>
                        <a:t>44</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just" rtl="0">
                        <a:lnSpc>
                          <a:spcPct val="107000"/>
                        </a:lnSpc>
                        <a:spcAft>
                          <a:spcPts val="800"/>
                        </a:spcAft>
                      </a:pPr>
                      <a:r>
                        <a:rPr lang="en-US" sz="1600">
                          <a:effectLst/>
                        </a:rPr>
                        <a:t>625148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just" rtl="0">
                        <a:lnSpc>
                          <a:spcPct val="107000"/>
                        </a:lnSpc>
                        <a:spcAft>
                          <a:spcPts val="800"/>
                        </a:spcAft>
                      </a:pPr>
                      <a:r>
                        <a:rPr lang="en-US" sz="1600">
                          <a:effectLst/>
                        </a:rPr>
                        <a:t>135587</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just" rtl="0">
                        <a:lnSpc>
                          <a:spcPct val="107000"/>
                        </a:lnSpc>
                        <a:spcAft>
                          <a:spcPts val="800"/>
                        </a:spcAft>
                      </a:pPr>
                      <a:r>
                        <a:rPr lang="en-US" sz="1600" dirty="0">
                          <a:effectLst/>
                        </a:rPr>
                        <a:t>20441</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460847910"/>
                  </a:ext>
                </a:extLst>
              </a:tr>
            </a:tbl>
          </a:graphicData>
        </a:graphic>
      </p:graphicFrame>
      <p:graphicFrame>
        <p:nvGraphicFramePr>
          <p:cNvPr id="18" name="جدول 17">
            <a:extLst>
              <a:ext uri="{FF2B5EF4-FFF2-40B4-BE49-F238E27FC236}">
                <a16:creationId xmlns:a16="http://schemas.microsoft.com/office/drawing/2014/main" id="{933B2591-620B-3AC2-95A1-07C3C967F109}"/>
              </a:ext>
            </a:extLst>
          </p:cNvPr>
          <p:cNvGraphicFramePr>
            <a:graphicFrameLocks noGrp="1"/>
          </p:cNvGraphicFramePr>
          <p:nvPr>
            <p:extLst>
              <p:ext uri="{D42A27DB-BD31-4B8C-83A1-F6EECF244321}">
                <p14:modId xmlns:p14="http://schemas.microsoft.com/office/powerpoint/2010/main" val="1419375404"/>
              </p:ext>
            </p:extLst>
          </p:nvPr>
        </p:nvGraphicFramePr>
        <p:xfrm>
          <a:off x="557529" y="3692280"/>
          <a:ext cx="4965446" cy="1192385"/>
        </p:xfrm>
        <a:graphic>
          <a:graphicData uri="http://schemas.openxmlformats.org/drawingml/2006/table">
            <a:tbl>
              <a:tblPr>
                <a:tableStyleId>{5C22544A-7EE6-4342-B048-85BDC9FD1C3A}</a:tableStyleId>
              </a:tblPr>
              <a:tblGrid>
                <a:gridCol w="1470450">
                  <a:extLst>
                    <a:ext uri="{9D8B030D-6E8A-4147-A177-3AD203B41FA5}">
                      <a16:colId xmlns:a16="http://schemas.microsoft.com/office/drawing/2014/main" val="2418179055"/>
                    </a:ext>
                  </a:extLst>
                </a:gridCol>
                <a:gridCol w="1009058">
                  <a:extLst>
                    <a:ext uri="{9D8B030D-6E8A-4147-A177-3AD203B41FA5}">
                      <a16:colId xmlns:a16="http://schemas.microsoft.com/office/drawing/2014/main" val="3022261976"/>
                    </a:ext>
                  </a:extLst>
                </a:gridCol>
                <a:gridCol w="676656">
                  <a:extLst>
                    <a:ext uri="{9D8B030D-6E8A-4147-A177-3AD203B41FA5}">
                      <a16:colId xmlns:a16="http://schemas.microsoft.com/office/drawing/2014/main" val="2093002825"/>
                    </a:ext>
                  </a:extLst>
                </a:gridCol>
                <a:gridCol w="1755648">
                  <a:extLst>
                    <a:ext uri="{9D8B030D-6E8A-4147-A177-3AD203B41FA5}">
                      <a16:colId xmlns:a16="http://schemas.microsoft.com/office/drawing/2014/main" val="476079031"/>
                    </a:ext>
                  </a:extLst>
                </a:gridCol>
                <a:gridCol w="53634">
                  <a:extLst>
                    <a:ext uri="{9D8B030D-6E8A-4147-A177-3AD203B41FA5}">
                      <a16:colId xmlns:a16="http://schemas.microsoft.com/office/drawing/2014/main" val="2399633930"/>
                    </a:ext>
                  </a:extLst>
                </a:gridCol>
              </a:tblGrid>
              <a:tr h="263683">
                <a:tc gridSpan="2">
                  <a:txBody>
                    <a:bodyPr/>
                    <a:lstStyle/>
                    <a:p>
                      <a:pPr algn="l" rtl="0">
                        <a:lnSpc>
                          <a:spcPct val="107000"/>
                        </a:lnSpc>
                        <a:spcAft>
                          <a:spcPts val="800"/>
                        </a:spcAft>
                      </a:pPr>
                      <a:r>
                        <a:rPr lang="en-US" sz="1800" b="1" dirty="0">
                          <a:solidFill>
                            <a:schemeClr val="tx1"/>
                          </a:solidFill>
                          <a:effectLst/>
                        </a:rPr>
                        <a:t>Null hypothesis</a:t>
                      </a:r>
                      <a:endParaRPr lang="en-US" sz="24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gridSpan="3">
                  <a:txBody>
                    <a:bodyPr/>
                    <a:lstStyle/>
                    <a:p>
                      <a:pPr algn="l" rtl="0">
                        <a:lnSpc>
                          <a:spcPct val="107000"/>
                        </a:lnSpc>
                        <a:spcAft>
                          <a:spcPts val="800"/>
                        </a:spcAft>
                      </a:pPr>
                      <a:r>
                        <a:rPr lang="en-US" sz="1800" b="1" dirty="0">
                          <a:solidFill>
                            <a:schemeClr val="tx1"/>
                          </a:solidFill>
                          <a:effectLst/>
                        </a:rPr>
                        <a:t>H₀: μ₁ - µ₂ = 0</a:t>
                      </a:r>
                      <a:endParaRPr lang="en-US" sz="24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938018157"/>
                  </a:ext>
                </a:extLst>
              </a:tr>
              <a:tr h="338584">
                <a:tc gridSpan="2">
                  <a:txBody>
                    <a:bodyPr/>
                    <a:lstStyle/>
                    <a:p>
                      <a:pPr algn="l" rtl="0">
                        <a:lnSpc>
                          <a:spcPct val="107000"/>
                        </a:lnSpc>
                        <a:spcAft>
                          <a:spcPts val="800"/>
                        </a:spcAft>
                      </a:pPr>
                      <a:r>
                        <a:rPr lang="en-US" sz="1800" b="1">
                          <a:solidFill>
                            <a:schemeClr val="tx1"/>
                          </a:solidFill>
                          <a:effectLst/>
                        </a:rPr>
                        <a:t>Alternative hypothesis</a:t>
                      </a:r>
                      <a:endParaRPr lang="en-US" sz="2400" b="1">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gridSpan="3">
                  <a:txBody>
                    <a:bodyPr/>
                    <a:lstStyle/>
                    <a:p>
                      <a:pPr algn="l" rtl="0">
                        <a:lnSpc>
                          <a:spcPct val="107000"/>
                        </a:lnSpc>
                        <a:spcAft>
                          <a:spcPts val="800"/>
                        </a:spcAft>
                      </a:pPr>
                      <a:r>
                        <a:rPr lang="en-US" sz="1800" b="1" dirty="0">
                          <a:solidFill>
                            <a:schemeClr val="tx1"/>
                          </a:solidFill>
                          <a:effectLst/>
                        </a:rPr>
                        <a:t>H₁: μ₁ - µ₂ ≠ 0</a:t>
                      </a:r>
                      <a:endParaRPr lang="en-US" sz="24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400240253"/>
                  </a:ext>
                </a:extLst>
              </a:tr>
              <a:tr h="263683">
                <a:tc>
                  <a:txBody>
                    <a:bodyPr/>
                    <a:lstStyle/>
                    <a:p>
                      <a:pPr algn="ctr" rtl="0">
                        <a:lnSpc>
                          <a:spcPct val="107000"/>
                        </a:lnSpc>
                        <a:spcAft>
                          <a:spcPts val="800"/>
                        </a:spcAft>
                      </a:pPr>
                      <a:r>
                        <a:rPr lang="en-US" sz="1200">
                          <a:effectLst/>
                        </a:rPr>
                        <a:t>T-Value</a:t>
                      </a:r>
                      <a:endParaRPr lang="en-US" sz="2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tx1">
                        <a:lumMod val="65000"/>
                      </a:schemeClr>
                    </a:solidFill>
                  </a:tcPr>
                </a:tc>
                <a:tc gridSpan="2">
                  <a:txBody>
                    <a:bodyPr/>
                    <a:lstStyle/>
                    <a:p>
                      <a:pPr algn="ctr" rtl="0">
                        <a:lnSpc>
                          <a:spcPct val="107000"/>
                        </a:lnSpc>
                        <a:spcAft>
                          <a:spcPts val="800"/>
                        </a:spcAft>
                      </a:pPr>
                      <a:r>
                        <a:rPr lang="en-US" sz="1200">
                          <a:effectLst/>
                        </a:rPr>
                        <a:t>DF</a:t>
                      </a:r>
                      <a:endParaRPr lang="en-US" sz="2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tx1">
                        <a:lumMod val="65000"/>
                      </a:schemeClr>
                    </a:solidFill>
                  </a:tcPr>
                </a:tc>
                <a:tc hMerge="1">
                  <a:txBody>
                    <a:bodyPr/>
                    <a:lstStyle/>
                    <a:p>
                      <a:pPr rtl="1"/>
                      <a:endParaRPr lang="ar-SA"/>
                    </a:p>
                  </a:txBody>
                  <a:tcPr/>
                </a:tc>
                <a:tc>
                  <a:txBody>
                    <a:bodyPr/>
                    <a:lstStyle/>
                    <a:p>
                      <a:pPr algn="ctr" rtl="0">
                        <a:lnSpc>
                          <a:spcPct val="107000"/>
                        </a:lnSpc>
                        <a:spcAft>
                          <a:spcPts val="800"/>
                        </a:spcAft>
                      </a:pPr>
                      <a:r>
                        <a:rPr lang="en-US" sz="1200" dirty="0">
                          <a:effectLst/>
                        </a:rPr>
                        <a:t>P-Value</a:t>
                      </a:r>
                      <a:endParaRPr lang="en-US" sz="2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tx1">
                        <a:lumMod val="65000"/>
                      </a:schemeClr>
                    </a:solidFill>
                  </a:tcPr>
                </a:tc>
                <a:tc>
                  <a:txBody>
                    <a:bodyPr/>
                    <a:lstStyle/>
                    <a:p>
                      <a:pPr algn="r" rtl="1">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solidFill>
                      <a:schemeClr val="tx1">
                        <a:lumMod val="65000"/>
                      </a:schemeClr>
                    </a:solidFill>
                  </a:tcPr>
                </a:tc>
                <a:extLst>
                  <a:ext uri="{0D108BD9-81ED-4DB2-BD59-A6C34878D82A}">
                    <a16:rowId xmlns:a16="http://schemas.microsoft.com/office/drawing/2014/main" val="536018895"/>
                  </a:ext>
                </a:extLst>
              </a:tr>
              <a:tr h="299034">
                <a:tc>
                  <a:txBody>
                    <a:bodyPr/>
                    <a:lstStyle/>
                    <a:p>
                      <a:pPr algn="ctr" rtl="0">
                        <a:lnSpc>
                          <a:spcPct val="107000"/>
                        </a:lnSpc>
                        <a:spcAft>
                          <a:spcPts val="800"/>
                        </a:spcAft>
                      </a:pPr>
                      <a:r>
                        <a:rPr lang="en-US" sz="1600">
                          <a:effectLst/>
                        </a:rPr>
                        <a:t>10.34</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2">
                  <a:txBody>
                    <a:bodyPr/>
                    <a:lstStyle/>
                    <a:p>
                      <a:pPr algn="ctr" rtl="0">
                        <a:lnSpc>
                          <a:spcPct val="107000"/>
                        </a:lnSpc>
                        <a:spcAft>
                          <a:spcPts val="800"/>
                        </a:spcAft>
                      </a:pPr>
                      <a:r>
                        <a:rPr lang="en-US" sz="1600">
                          <a:effectLst/>
                        </a:rPr>
                        <a:t>47</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a:txBody>
                    <a:bodyPr/>
                    <a:lstStyle/>
                    <a:p>
                      <a:pPr algn="ctr" rtl="0">
                        <a:lnSpc>
                          <a:spcPct val="107000"/>
                        </a:lnSpc>
                        <a:spcAft>
                          <a:spcPts val="800"/>
                        </a:spcAft>
                      </a:pPr>
                      <a:r>
                        <a:rPr lang="en-US" sz="1600" dirty="0">
                          <a:effectLst/>
                        </a:rPr>
                        <a:t>0.000</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918220905"/>
                  </a:ext>
                </a:extLst>
              </a:tr>
            </a:tbl>
          </a:graphicData>
        </a:graphic>
      </p:graphicFrame>
      <p:sp>
        <p:nvSpPr>
          <p:cNvPr id="19" name="مربع نص 18">
            <a:extLst>
              <a:ext uri="{FF2B5EF4-FFF2-40B4-BE49-F238E27FC236}">
                <a16:creationId xmlns:a16="http://schemas.microsoft.com/office/drawing/2014/main" id="{50F00855-7F75-5820-2358-0140CD5A5FCE}"/>
              </a:ext>
            </a:extLst>
          </p:cNvPr>
          <p:cNvSpPr txBox="1"/>
          <p:nvPr/>
        </p:nvSpPr>
        <p:spPr>
          <a:xfrm>
            <a:off x="5466206" y="2747011"/>
            <a:ext cx="6706871" cy="4431983"/>
          </a:xfrm>
          <a:prstGeom prst="rect">
            <a:avLst/>
          </a:prstGeom>
          <a:noFill/>
        </p:spPr>
        <p:txBody>
          <a:bodyPr wrap="square" rtlCol="1">
            <a:spAutoFit/>
          </a:bodyPr>
          <a:lstStyle/>
          <a:p>
            <a:pPr marL="342900" indent="-342900">
              <a:buFont typeface="Arial" panose="020B0604020202020204" pitchFamily="34" charset="0"/>
              <a:buChar char="•"/>
            </a:pPr>
            <a:r>
              <a:rPr lang="ar-SA" sz="2200" dirty="0"/>
              <a:t>هذا الاختبار استعملنا اختبار </a:t>
            </a:r>
            <a:r>
              <a:rPr lang="en-US" sz="2200" dirty="0"/>
              <a:t>t</a:t>
            </a:r>
            <a:r>
              <a:rPr lang="ar-SA" sz="2200" dirty="0"/>
              <a:t> لعينتين مستقلتين لمعرفة ما أذا كانت هناك اختلافات جوهرية بين متوسطات عدد الركاب المغادرين وعدد الركاب الواصلين.</a:t>
            </a:r>
          </a:p>
          <a:p>
            <a:endParaRPr lang="en-US" sz="2200" dirty="0"/>
          </a:p>
          <a:p>
            <a:endParaRPr lang="en-US" sz="2200" dirty="0"/>
          </a:p>
          <a:p>
            <a:endParaRPr lang="ar-SA" sz="2200" dirty="0"/>
          </a:p>
          <a:p>
            <a:pPr marL="342900" indent="-342900">
              <a:buFont typeface="Arial" panose="020B0604020202020204" pitchFamily="34" charset="0"/>
              <a:buChar char="•"/>
            </a:pPr>
            <a:r>
              <a:rPr lang="ar-SA" sz="2200" dirty="0"/>
              <a:t>وكما نرى بنتائج الاختبار ان قيمة </a:t>
            </a:r>
            <a:r>
              <a:rPr lang="en-US" sz="2200" dirty="0"/>
              <a:t>P-Value</a:t>
            </a:r>
            <a:r>
              <a:rPr lang="ar-SA" sz="2200" dirty="0"/>
              <a:t> اقل من </a:t>
            </a:r>
            <a:r>
              <a:rPr lang="en-US" sz="2200" dirty="0"/>
              <a:t>0.05</a:t>
            </a:r>
            <a:r>
              <a:rPr lang="ar-SA" sz="2200" dirty="0"/>
              <a:t> لذا فأننا نرفض الفرضية الصفرية </a:t>
            </a:r>
            <a:r>
              <a:rPr lang="ar-SA" sz="2200" dirty="0" err="1"/>
              <a:t>ونأكد</a:t>
            </a:r>
            <a:r>
              <a:rPr lang="ar-SA" sz="2200" dirty="0"/>
              <a:t> ان يوجد هناك اختلافات جوهرية ذات دلالة إحصائية بين عدد الركاب المغادرين وعدد الركاب الواصلين وان الفرق بينهم ليس ناتجا عن صدفة.</a:t>
            </a:r>
          </a:p>
          <a:p>
            <a:endParaRPr lang="ar-SA" sz="2200" dirty="0"/>
          </a:p>
          <a:p>
            <a:endParaRPr lang="ar-SA" sz="2200" dirty="0"/>
          </a:p>
          <a:p>
            <a:endParaRPr lang="ar-SA" dirty="0"/>
          </a:p>
        </p:txBody>
      </p:sp>
    </p:spTree>
    <p:extLst>
      <p:ext uri="{BB962C8B-B14F-4D97-AF65-F5344CB8AC3E}">
        <p14:creationId xmlns:p14="http://schemas.microsoft.com/office/powerpoint/2010/main" val="3520742757"/>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ACE1C5B-B2C9-4454-2194-F2408CF6AC3F}"/>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3316B32D-2846-1009-421C-027A72167D8D}"/>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5" name="عنوان 4">
            <a:extLst>
              <a:ext uri="{FF2B5EF4-FFF2-40B4-BE49-F238E27FC236}">
                <a16:creationId xmlns:a16="http://schemas.microsoft.com/office/drawing/2014/main" id="{FA088FF9-9DBF-B250-B0DD-32C33F43CC5B}"/>
              </a:ext>
            </a:extLst>
          </p:cNvPr>
          <p:cNvSpPr>
            <a:spLocks noGrp="1"/>
          </p:cNvSpPr>
          <p:nvPr>
            <p:ph type="title"/>
          </p:nvPr>
        </p:nvSpPr>
        <p:spPr/>
        <p:txBody>
          <a:bodyPr/>
          <a:lstStyle/>
          <a:p>
            <a:r>
              <a:rPr lang="ar-SA" dirty="0"/>
              <a:t>تحليل الانحدار للرحلات الواصلة</a:t>
            </a:r>
          </a:p>
        </p:txBody>
      </p:sp>
      <p:graphicFrame>
        <p:nvGraphicFramePr>
          <p:cNvPr id="16" name="عنصر نائب للمحتوى 15">
            <a:extLst>
              <a:ext uri="{FF2B5EF4-FFF2-40B4-BE49-F238E27FC236}">
                <a16:creationId xmlns:a16="http://schemas.microsoft.com/office/drawing/2014/main" id="{93058FC3-F180-CBD0-3C04-C4AEE37B4E1E}"/>
              </a:ext>
            </a:extLst>
          </p:cNvPr>
          <p:cNvGraphicFramePr>
            <a:graphicFrameLocks noGrp="1"/>
          </p:cNvGraphicFramePr>
          <p:nvPr>
            <p:ph idx="1"/>
            <p:extLst>
              <p:ext uri="{D42A27DB-BD31-4B8C-83A1-F6EECF244321}">
                <p14:modId xmlns:p14="http://schemas.microsoft.com/office/powerpoint/2010/main" val="2468372035"/>
              </p:ext>
            </p:extLst>
          </p:nvPr>
        </p:nvGraphicFramePr>
        <p:xfrm>
          <a:off x="838200" y="1505585"/>
          <a:ext cx="5611368" cy="731520"/>
        </p:xfrm>
        <a:graphic>
          <a:graphicData uri="http://schemas.openxmlformats.org/drawingml/2006/table">
            <a:tbl>
              <a:tblPr rtl="1" firstRow="1" bandRow="1">
                <a:tableStyleId>{5C22544A-7EE6-4342-B048-85BDC9FD1C3A}</a:tableStyleId>
              </a:tblPr>
              <a:tblGrid>
                <a:gridCol w="5611368">
                  <a:extLst>
                    <a:ext uri="{9D8B030D-6E8A-4147-A177-3AD203B41FA5}">
                      <a16:colId xmlns:a16="http://schemas.microsoft.com/office/drawing/2014/main" val="3867508989"/>
                    </a:ext>
                  </a:extLst>
                </a:gridCol>
              </a:tblGrid>
              <a:tr h="173820">
                <a:tc>
                  <a:txBody>
                    <a:bodyPr/>
                    <a:lstStyle/>
                    <a:p>
                      <a:pPr algn="l" rtl="1"/>
                      <a:r>
                        <a:rPr lang="en-US" dirty="0"/>
                        <a:t>Regression Equation</a:t>
                      </a:r>
                      <a:endParaRPr lang="ar-SA" dirty="0"/>
                    </a:p>
                  </a:txBody>
                  <a:tcPr/>
                </a:tc>
                <a:extLst>
                  <a:ext uri="{0D108BD9-81ED-4DB2-BD59-A6C34878D82A}">
                    <a16:rowId xmlns:a16="http://schemas.microsoft.com/office/drawing/2014/main" val="1648651763"/>
                  </a:ext>
                </a:extLst>
              </a:tr>
              <a:tr h="359707">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Total of Flights = 2918 + 0.002716 Total of Passengers</a:t>
                      </a:r>
                    </a:p>
                  </a:txBody>
                  <a:tcPr/>
                </a:tc>
                <a:extLst>
                  <a:ext uri="{0D108BD9-81ED-4DB2-BD59-A6C34878D82A}">
                    <a16:rowId xmlns:a16="http://schemas.microsoft.com/office/drawing/2014/main" val="3637487139"/>
                  </a:ext>
                </a:extLst>
              </a:tr>
            </a:tbl>
          </a:graphicData>
        </a:graphic>
      </p:graphicFrame>
      <p:sp>
        <p:nvSpPr>
          <p:cNvPr id="19" name="مربع نص 18">
            <a:extLst>
              <a:ext uri="{FF2B5EF4-FFF2-40B4-BE49-F238E27FC236}">
                <a16:creationId xmlns:a16="http://schemas.microsoft.com/office/drawing/2014/main" id="{1DC9F8C3-27BC-E0AF-458F-7A079B733753}"/>
              </a:ext>
            </a:extLst>
          </p:cNvPr>
          <p:cNvSpPr txBox="1"/>
          <p:nvPr/>
        </p:nvSpPr>
        <p:spPr>
          <a:xfrm>
            <a:off x="6449568" y="1408688"/>
            <a:ext cx="4904232" cy="5355312"/>
          </a:xfrm>
          <a:prstGeom prst="rect">
            <a:avLst/>
          </a:prstGeom>
          <a:noFill/>
        </p:spPr>
        <p:txBody>
          <a:bodyPr wrap="square" rtlCol="1">
            <a:spAutoFit/>
          </a:bodyPr>
          <a:lstStyle/>
          <a:p>
            <a:pPr marL="285750" indent="-285750">
              <a:buFont typeface="Arial" panose="020B0604020202020204" pitchFamily="34" charset="0"/>
              <a:buChar char="•"/>
            </a:pPr>
            <a:r>
              <a:rPr lang="ar-SA" dirty="0"/>
              <a:t>اخترنا المتغيرات حسب المنطق وهو ان عدد الركاب يؤثر الى زيادة عدد الرحلات الواصلة.</a:t>
            </a:r>
          </a:p>
          <a:p>
            <a:pPr marL="285750" indent="-285750">
              <a:buFont typeface="Arial" panose="020B0604020202020204" pitchFamily="34" charset="0"/>
              <a:buChar char="•"/>
            </a:pPr>
            <a:r>
              <a:rPr lang="ar-SA" dirty="0"/>
              <a:t>المتغير التابع هو عدد الرحلات الواصلة بناء على طبيعة البيانات لأننا نفترض ان التغير في عدد الركاب قد يؤثر على عدد الرحلات.</a:t>
            </a:r>
          </a:p>
          <a:p>
            <a:pPr marL="285750" indent="-285750">
              <a:buFont typeface="Arial" panose="020B0604020202020204" pitchFamily="34" charset="0"/>
              <a:buChar char="•"/>
            </a:pPr>
            <a:r>
              <a:rPr lang="ar-SA" dirty="0"/>
              <a:t>المتغير المستقل هو عدد الركاب الواصلين لأنه يعتمد على عدد الرحلات.</a:t>
            </a:r>
          </a:p>
          <a:p>
            <a:pPr marL="285750" indent="-285750">
              <a:buFont typeface="Arial" panose="020B0604020202020204" pitchFamily="34" charset="0"/>
              <a:buChar char="•"/>
            </a:pPr>
            <a:endParaRPr lang="ar-SA" dirty="0"/>
          </a:p>
          <a:p>
            <a:pPr marL="285750" indent="-285750">
              <a:buFont typeface="Arial" panose="020B0604020202020204" pitchFamily="34" charset="0"/>
              <a:buChar char="•"/>
            </a:pPr>
            <a:endParaRPr lang="ar-SA" dirty="0"/>
          </a:p>
          <a:p>
            <a:pPr marL="285750" indent="-285750">
              <a:buFont typeface="Arial" panose="020B0604020202020204" pitchFamily="34" charset="0"/>
              <a:buChar char="•"/>
            </a:pPr>
            <a:r>
              <a:rPr lang="ar-SA" dirty="0"/>
              <a:t> تبلغ قيمة </a:t>
            </a:r>
            <a:r>
              <a:rPr lang="en-US" dirty="0"/>
              <a:t>R-Squared</a:t>
            </a:r>
            <a:r>
              <a:rPr lang="ar-SA" dirty="0"/>
              <a:t> </a:t>
            </a:r>
            <a:r>
              <a:rPr lang="en-US" dirty="0"/>
              <a:t>0.67</a:t>
            </a:r>
            <a:r>
              <a:rPr lang="ar-SA" dirty="0"/>
              <a:t> أي ان النموذج يفسر </a:t>
            </a:r>
            <a:r>
              <a:rPr lang="en-US" dirty="0"/>
              <a:t>67.61%</a:t>
            </a:r>
            <a:r>
              <a:rPr lang="ar-SA" dirty="0"/>
              <a:t> من التباين في عدد الركاب, تعتبر النسبة عالية أي ان النموذج جيد.</a:t>
            </a:r>
          </a:p>
          <a:p>
            <a:pPr marL="285750" indent="-285750">
              <a:buFont typeface="Arial" panose="020B0604020202020204" pitchFamily="34" charset="0"/>
              <a:buChar char="•"/>
            </a:pPr>
            <a:endParaRPr lang="ar-SA" dirty="0"/>
          </a:p>
          <a:p>
            <a:pPr marL="285750" indent="-285750">
              <a:buFont typeface="Arial" panose="020B0604020202020204" pitchFamily="34" charset="0"/>
              <a:buChar char="•"/>
            </a:pPr>
            <a:r>
              <a:rPr lang="ar-SA" dirty="0"/>
              <a:t>قيمة </a:t>
            </a:r>
            <a:r>
              <a:rPr lang="en-US" dirty="0"/>
              <a:t>p-value</a:t>
            </a:r>
            <a:r>
              <a:rPr lang="ar-SA" dirty="0"/>
              <a:t> للمتغير المستقل اقل من </a:t>
            </a:r>
            <a:r>
              <a:rPr lang="en-US" dirty="0"/>
              <a:t>0.05</a:t>
            </a:r>
            <a:r>
              <a:rPr lang="ar-SA" dirty="0"/>
              <a:t> نرفض القيمة الصفرية أي ان هناك علاقة خطية بين عدد الركاب وعدد الرحلات, وان زيادة عدد الركاب ترتبط بزيادة عدد الرحلات.</a:t>
            </a:r>
          </a:p>
          <a:p>
            <a:pPr marL="285750" indent="-285750">
              <a:buFont typeface="Arial" panose="020B0604020202020204" pitchFamily="34" charset="0"/>
              <a:buChar char="•"/>
            </a:pPr>
            <a:r>
              <a:rPr lang="ar-SA" dirty="0"/>
              <a:t>قيمة </a:t>
            </a:r>
            <a:r>
              <a:rPr lang="en-US" dirty="0"/>
              <a:t>p-value</a:t>
            </a:r>
            <a:r>
              <a:rPr lang="ar-SA" dirty="0"/>
              <a:t> للثابت اقل من </a:t>
            </a:r>
            <a:r>
              <a:rPr lang="en-US" dirty="0"/>
              <a:t>0.05</a:t>
            </a:r>
            <a:r>
              <a:rPr lang="ar-SA" dirty="0"/>
              <a:t> نرفض الفرضية الصفرية أي ان الثابت له تأثير في النموذج ولا يمكن ان تكون قيمته صفرا.</a:t>
            </a:r>
          </a:p>
        </p:txBody>
      </p:sp>
      <p:graphicFrame>
        <p:nvGraphicFramePr>
          <p:cNvPr id="22" name="جدول 21">
            <a:extLst>
              <a:ext uri="{FF2B5EF4-FFF2-40B4-BE49-F238E27FC236}">
                <a16:creationId xmlns:a16="http://schemas.microsoft.com/office/drawing/2014/main" id="{B5D6AF02-6AE0-021C-FD22-50804DB2A9D8}"/>
              </a:ext>
            </a:extLst>
          </p:cNvPr>
          <p:cNvGraphicFramePr>
            <a:graphicFrameLocks noGrp="1"/>
          </p:cNvGraphicFramePr>
          <p:nvPr>
            <p:extLst>
              <p:ext uri="{D42A27DB-BD31-4B8C-83A1-F6EECF244321}">
                <p14:modId xmlns:p14="http://schemas.microsoft.com/office/powerpoint/2010/main" val="2859310650"/>
              </p:ext>
            </p:extLst>
          </p:nvPr>
        </p:nvGraphicFramePr>
        <p:xfrm>
          <a:off x="773685" y="3331582"/>
          <a:ext cx="5675883" cy="754762"/>
        </p:xfrm>
        <a:graphic>
          <a:graphicData uri="http://schemas.openxmlformats.org/drawingml/2006/table">
            <a:tbl>
              <a:tblPr rtl="1" firstRow="1" bandRow="1">
                <a:tableStyleId>{5C22544A-7EE6-4342-B048-85BDC9FD1C3A}</a:tableStyleId>
              </a:tblPr>
              <a:tblGrid>
                <a:gridCol w="1891961">
                  <a:extLst>
                    <a:ext uri="{9D8B030D-6E8A-4147-A177-3AD203B41FA5}">
                      <a16:colId xmlns:a16="http://schemas.microsoft.com/office/drawing/2014/main" val="1429645091"/>
                    </a:ext>
                  </a:extLst>
                </a:gridCol>
                <a:gridCol w="1891961">
                  <a:extLst>
                    <a:ext uri="{9D8B030D-6E8A-4147-A177-3AD203B41FA5}">
                      <a16:colId xmlns:a16="http://schemas.microsoft.com/office/drawing/2014/main" val="1205498285"/>
                    </a:ext>
                  </a:extLst>
                </a:gridCol>
                <a:gridCol w="1891961">
                  <a:extLst>
                    <a:ext uri="{9D8B030D-6E8A-4147-A177-3AD203B41FA5}">
                      <a16:colId xmlns:a16="http://schemas.microsoft.com/office/drawing/2014/main" val="4036138127"/>
                    </a:ext>
                  </a:extLst>
                </a:gridCol>
              </a:tblGrid>
              <a:tr h="246317">
                <a:tc>
                  <a:txBody>
                    <a:bodyPr/>
                    <a:lstStyle/>
                    <a:p>
                      <a:pPr algn="l" rtl="1">
                        <a:lnSpc>
                          <a:spcPct val="150000"/>
                        </a:lnSpc>
                        <a:spcAft>
                          <a:spcPts val="800"/>
                        </a:spcAft>
                      </a:pPr>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S</a:t>
                      </a:r>
                      <a:endParaRPr lang="en-US" sz="16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800" b="1">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R-sq</a:t>
                      </a:r>
                      <a:endParaRPr lang="en-US" sz="16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R-sq(adj)</a:t>
                      </a:r>
                      <a:endParaRPr lang="en-US" sz="16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1217672161"/>
                  </a:ext>
                </a:extLst>
              </a:tr>
              <a:tr h="246317">
                <a:tc>
                  <a:txBody>
                    <a:bodyPr/>
                    <a:lstStyle/>
                    <a:p>
                      <a:pPr algn="l" rtl="1">
                        <a:lnSpc>
                          <a:spcPct val="150000"/>
                        </a:lnSpc>
                        <a:spcAft>
                          <a:spcPts val="800"/>
                        </a:spcAft>
                      </a:pPr>
                      <a:r>
                        <a:rPr lang="en-US" sz="18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257.874</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67.61%</a:t>
                      </a:r>
                      <a:endParaRPr lang="en-US" sz="16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8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66.84%</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1509969655"/>
                  </a:ext>
                </a:extLst>
              </a:tr>
            </a:tbl>
          </a:graphicData>
        </a:graphic>
      </p:graphicFrame>
      <p:graphicFrame>
        <p:nvGraphicFramePr>
          <p:cNvPr id="26" name="جدول 25">
            <a:extLst>
              <a:ext uri="{FF2B5EF4-FFF2-40B4-BE49-F238E27FC236}">
                <a16:creationId xmlns:a16="http://schemas.microsoft.com/office/drawing/2014/main" id="{08BC4A2B-73FB-C180-F8CF-A2457532A2A1}"/>
              </a:ext>
            </a:extLst>
          </p:cNvPr>
          <p:cNvGraphicFramePr>
            <a:graphicFrameLocks noGrp="1"/>
          </p:cNvGraphicFramePr>
          <p:nvPr>
            <p:extLst>
              <p:ext uri="{D42A27DB-BD31-4B8C-83A1-F6EECF244321}">
                <p14:modId xmlns:p14="http://schemas.microsoft.com/office/powerpoint/2010/main" val="3106835617"/>
              </p:ext>
            </p:extLst>
          </p:nvPr>
        </p:nvGraphicFramePr>
        <p:xfrm>
          <a:off x="805942" y="5012426"/>
          <a:ext cx="5611368" cy="1112520"/>
        </p:xfrm>
        <a:graphic>
          <a:graphicData uri="http://schemas.openxmlformats.org/drawingml/2006/table">
            <a:tbl>
              <a:tblPr rtl="1" firstRow="1" bandRow="1">
                <a:tableStyleId>{5C22544A-7EE6-4342-B048-85BDC9FD1C3A}</a:tableStyleId>
              </a:tblPr>
              <a:tblGrid>
                <a:gridCol w="935228">
                  <a:extLst>
                    <a:ext uri="{9D8B030D-6E8A-4147-A177-3AD203B41FA5}">
                      <a16:colId xmlns:a16="http://schemas.microsoft.com/office/drawing/2014/main" val="100472511"/>
                    </a:ext>
                  </a:extLst>
                </a:gridCol>
                <a:gridCol w="935228">
                  <a:extLst>
                    <a:ext uri="{9D8B030D-6E8A-4147-A177-3AD203B41FA5}">
                      <a16:colId xmlns:a16="http://schemas.microsoft.com/office/drawing/2014/main" val="3480274589"/>
                    </a:ext>
                  </a:extLst>
                </a:gridCol>
                <a:gridCol w="935228">
                  <a:extLst>
                    <a:ext uri="{9D8B030D-6E8A-4147-A177-3AD203B41FA5}">
                      <a16:colId xmlns:a16="http://schemas.microsoft.com/office/drawing/2014/main" val="175584996"/>
                    </a:ext>
                  </a:extLst>
                </a:gridCol>
                <a:gridCol w="935228">
                  <a:extLst>
                    <a:ext uri="{9D8B030D-6E8A-4147-A177-3AD203B41FA5}">
                      <a16:colId xmlns:a16="http://schemas.microsoft.com/office/drawing/2014/main" val="1659453749"/>
                    </a:ext>
                  </a:extLst>
                </a:gridCol>
                <a:gridCol w="935228">
                  <a:extLst>
                    <a:ext uri="{9D8B030D-6E8A-4147-A177-3AD203B41FA5}">
                      <a16:colId xmlns:a16="http://schemas.microsoft.com/office/drawing/2014/main" val="459206338"/>
                    </a:ext>
                  </a:extLst>
                </a:gridCol>
                <a:gridCol w="935228">
                  <a:extLst>
                    <a:ext uri="{9D8B030D-6E8A-4147-A177-3AD203B41FA5}">
                      <a16:colId xmlns:a16="http://schemas.microsoft.com/office/drawing/2014/main" val="3388305523"/>
                    </a:ext>
                  </a:extLst>
                </a:gridCol>
              </a:tblGrid>
              <a:tr h="251587">
                <a:tc>
                  <a:txBody>
                    <a:bodyPr/>
                    <a:lstStyle/>
                    <a:p>
                      <a:pPr algn="l" rtl="1"/>
                      <a:r>
                        <a:rPr lang="en-US" sz="1600" dirty="0"/>
                        <a:t>VIF</a:t>
                      </a:r>
                      <a:endParaRPr lang="ar-SA" sz="1600" dirty="0"/>
                    </a:p>
                  </a:txBody>
                  <a:tcPr/>
                </a:tc>
                <a:tc>
                  <a:txBody>
                    <a:bodyPr/>
                    <a:lstStyle/>
                    <a:p>
                      <a:pPr algn="l" rtl="1"/>
                      <a:r>
                        <a:rPr lang="en-US" sz="1600" dirty="0"/>
                        <a:t>P-Value</a:t>
                      </a:r>
                      <a:endParaRPr lang="ar-SA" sz="1600" dirty="0"/>
                    </a:p>
                  </a:txBody>
                  <a:tcPr/>
                </a:tc>
                <a:tc>
                  <a:txBody>
                    <a:bodyPr/>
                    <a:lstStyle/>
                    <a:p>
                      <a:pPr algn="l" rtl="1"/>
                      <a:r>
                        <a:rPr lang="en-US" sz="1600" dirty="0"/>
                        <a:t>T-Value</a:t>
                      </a:r>
                      <a:endParaRPr lang="ar-SA" sz="1600" dirty="0"/>
                    </a:p>
                  </a:txBody>
                  <a:tcPr/>
                </a:tc>
                <a:tc>
                  <a:txBody>
                    <a:bodyPr/>
                    <a:lstStyle/>
                    <a:p>
                      <a:pPr algn="l" rtl="1"/>
                      <a:r>
                        <a:rPr lang="en-US" sz="1600" dirty="0"/>
                        <a:t>SE </a:t>
                      </a:r>
                      <a:r>
                        <a:rPr lang="en-US" sz="1600" dirty="0" err="1"/>
                        <a:t>Coef</a:t>
                      </a:r>
                      <a:endParaRPr lang="ar-SA" sz="1600" dirty="0"/>
                    </a:p>
                  </a:txBody>
                  <a:tcPr/>
                </a:tc>
                <a:tc>
                  <a:txBody>
                    <a:bodyPr/>
                    <a:lstStyle/>
                    <a:p>
                      <a:pPr algn="l" rtl="1"/>
                      <a:r>
                        <a:rPr lang="en-US" sz="1600" dirty="0" err="1"/>
                        <a:t>Coef</a:t>
                      </a:r>
                      <a:endParaRPr lang="ar-SA" sz="1600" dirty="0"/>
                    </a:p>
                  </a:txBody>
                  <a:tcPr/>
                </a:tc>
                <a:tc>
                  <a:txBody>
                    <a:bodyPr/>
                    <a:lstStyle/>
                    <a:p>
                      <a:pPr algn="l" rtl="1"/>
                      <a:r>
                        <a:rPr lang="en-US" sz="1600" dirty="0"/>
                        <a:t>Terms</a:t>
                      </a:r>
                      <a:endParaRPr lang="ar-SA" sz="1600" dirty="0"/>
                    </a:p>
                  </a:txBody>
                  <a:tcPr/>
                </a:tc>
                <a:extLst>
                  <a:ext uri="{0D108BD9-81ED-4DB2-BD59-A6C34878D82A}">
                    <a16:rowId xmlns:a16="http://schemas.microsoft.com/office/drawing/2014/main" val="3840170497"/>
                  </a:ext>
                </a:extLst>
              </a:tr>
              <a:tr h="251587">
                <a:tc>
                  <a:txBody>
                    <a:bodyPr/>
                    <a:lstStyle/>
                    <a:p>
                      <a:pPr rtl="1"/>
                      <a:endParaRPr lang="ar-SA"/>
                    </a:p>
                  </a:txBody>
                  <a:tcPr/>
                </a:tc>
                <a:tc>
                  <a:txBody>
                    <a:bodyPr/>
                    <a:lstStyle/>
                    <a:p>
                      <a:pPr algn="l" rtl="1"/>
                      <a:r>
                        <a:rPr lang="en-US" sz="1400" dirty="0"/>
                        <a:t>0.000</a:t>
                      </a:r>
                      <a:endParaRPr lang="ar-SA" sz="1400" dirty="0"/>
                    </a:p>
                  </a:txBody>
                  <a:tcPr/>
                </a:tc>
                <a:tc>
                  <a:txBody>
                    <a:bodyPr/>
                    <a:lstStyle/>
                    <a:p>
                      <a:pPr algn="l" rtl="1"/>
                      <a:r>
                        <a:rPr lang="en-US" sz="1400" dirty="0"/>
                        <a:t>15.74</a:t>
                      </a:r>
                      <a:endParaRPr lang="ar-SA" sz="1400" dirty="0"/>
                    </a:p>
                  </a:txBody>
                  <a:tcPr/>
                </a:tc>
                <a:tc>
                  <a:txBody>
                    <a:bodyPr/>
                    <a:lstStyle/>
                    <a:p>
                      <a:pPr algn="l" rtl="1"/>
                      <a:r>
                        <a:rPr lang="en-US" sz="1400" dirty="0"/>
                        <a:t>185</a:t>
                      </a:r>
                      <a:endParaRPr lang="ar-SA" sz="1400" dirty="0"/>
                    </a:p>
                  </a:txBody>
                  <a:tcPr/>
                </a:tc>
                <a:tc>
                  <a:txBody>
                    <a:bodyPr/>
                    <a:lstStyle/>
                    <a:p>
                      <a:pPr algn="l" rtl="1"/>
                      <a:r>
                        <a:rPr lang="en-US" sz="1400" dirty="0"/>
                        <a:t>2918</a:t>
                      </a:r>
                      <a:endParaRPr lang="ar-SA" sz="2400" dirty="0"/>
                    </a:p>
                  </a:txBody>
                  <a:tcPr/>
                </a:tc>
                <a:tc>
                  <a:txBody>
                    <a:bodyPr/>
                    <a:lstStyle/>
                    <a:p>
                      <a:pPr algn="l" rtl="1"/>
                      <a:r>
                        <a:rPr lang="en-US" sz="1050" dirty="0"/>
                        <a:t>Constant</a:t>
                      </a:r>
                      <a:endParaRPr lang="ar-SA" sz="1050" dirty="0"/>
                    </a:p>
                  </a:txBody>
                  <a:tcPr/>
                </a:tc>
                <a:extLst>
                  <a:ext uri="{0D108BD9-81ED-4DB2-BD59-A6C34878D82A}">
                    <a16:rowId xmlns:a16="http://schemas.microsoft.com/office/drawing/2014/main" val="2882987685"/>
                  </a:ext>
                </a:extLst>
              </a:tr>
              <a:tr h="251587">
                <a:tc>
                  <a:txBody>
                    <a:bodyPr/>
                    <a:lstStyle/>
                    <a:p>
                      <a:pPr algn="l" rtl="1"/>
                      <a:r>
                        <a:rPr lang="en-US" sz="1400" dirty="0"/>
                        <a:t>1.00</a:t>
                      </a:r>
                      <a:endParaRPr lang="ar-SA" sz="1400" dirty="0"/>
                    </a:p>
                  </a:txBody>
                  <a:tcPr/>
                </a:tc>
                <a:tc>
                  <a:txBody>
                    <a:bodyPr/>
                    <a:lstStyle/>
                    <a:p>
                      <a:pPr algn="l" rtl="1"/>
                      <a:r>
                        <a:rPr lang="en-US" sz="1400" dirty="0"/>
                        <a:t>0.000</a:t>
                      </a:r>
                      <a:endParaRPr lang="ar-SA" sz="1400" dirty="0"/>
                    </a:p>
                  </a:txBody>
                  <a:tcPr/>
                </a:tc>
                <a:tc>
                  <a:txBody>
                    <a:bodyPr/>
                    <a:lstStyle/>
                    <a:p>
                      <a:pPr algn="l" rtl="1"/>
                      <a:r>
                        <a:rPr lang="en-US" sz="1400" dirty="0"/>
                        <a:t>9.36</a:t>
                      </a:r>
                      <a:endParaRPr lang="ar-SA" sz="1400" dirty="0"/>
                    </a:p>
                  </a:txBody>
                  <a:tcPr/>
                </a:tc>
                <a:tc>
                  <a:txBody>
                    <a:bodyPr/>
                    <a:lstStyle/>
                    <a:p>
                      <a:pPr algn="l" rtl="1"/>
                      <a:r>
                        <a:rPr lang="en-US" sz="1400" dirty="0"/>
                        <a:t>0.000290</a:t>
                      </a:r>
                      <a:endParaRPr lang="ar-SA" sz="1400" dirty="0"/>
                    </a:p>
                  </a:txBody>
                  <a:tcPr/>
                </a:tc>
                <a:tc>
                  <a:txBody>
                    <a:bodyPr/>
                    <a:lstStyle/>
                    <a:p>
                      <a:pPr algn="l" rtl="1"/>
                      <a:r>
                        <a:rPr lang="en-US" sz="1400" dirty="0"/>
                        <a:t>0.002716</a:t>
                      </a:r>
                      <a:endParaRPr lang="ar-SA" sz="1400" dirty="0"/>
                    </a:p>
                  </a:txBody>
                  <a:tcPr/>
                </a:tc>
                <a:tc>
                  <a:txBody>
                    <a:bodyPr/>
                    <a:lstStyle/>
                    <a:p>
                      <a:pPr algn="l" rtl="1"/>
                      <a:r>
                        <a:rPr lang="en-US" sz="1050" dirty="0"/>
                        <a:t>Total Of Passengers</a:t>
                      </a:r>
                      <a:endParaRPr lang="ar-SA" sz="1050" dirty="0"/>
                    </a:p>
                  </a:txBody>
                  <a:tcPr/>
                </a:tc>
                <a:extLst>
                  <a:ext uri="{0D108BD9-81ED-4DB2-BD59-A6C34878D82A}">
                    <a16:rowId xmlns:a16="http://schemas.microsoft.com/office/drawing/2014/main" val="2882690664"/>
                  </a:ext>
                </a:extLst>
              </a:tr>
            </a:tbl>
          </a:graphicData>
        </a:graphic>
      </p:graphicFrame>
    </p:spTree>
    <p:extLst>
      <p:ext uri="{BB962C8B-B14F-4D97-AF65-F5344CB8AC3E}">
        <p14:creationId xmlns:p14="http://schemas.microsoft.com/office/powerpoint/2010/main" val="2604671062"/>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E415DB3-9443-5413-8F8B-04E57985A764}"/>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CC1DFBA6-9395-7811-0265-981021FF6BE6}"/>
              </a:ext>
            </a:extLst>
          </p:cNvPr>
          <p:cNvPicPr>
            <a:picLocks noChangeAspect="1"/>
          </p:cNvPicPr>
          <p:nvPr/>
        </p:nvPicPr>
        <p:blipFill>
          <a:blip r:embed="rId2">
            <a:alphaModFix amt="50000"/>
          </a:blip>
          <a:srcRect r="4000"/>
          <a:stretch/>
        </p:blipFill>
        <p:spPr>
          <a:xfrm>
            <a:off x="20" y="0"/>
            <a:ext cx="12191980" cy="6857999"/>
          </a:xfrm>
          <a:prstGeom prst="rect">
            <a:avLst/>
          </a:prstGeom>
        </p:spPr>
      </p:pic>
      <p:sp>
        <p:nvSpPr>
          <p:cNvPr id="7" name="عنوان 6">
            <a:extLst>
              <a:ext uri="{FF2B5EF4-FFF2-40B4-BE49-F238E27FC236}">
                <a16:creationId xmlns:a16="http://schemas.microsoft.com/office/drawing/2014/main" id="{08DACEA5-C30A-4DD5-D88C-D8B3D1069F1A}"/>
              </a:ext>
            </a:extLst>
          </p:cNvPr>
          <p:cNvSpPr>
            <a:spLocks noGrp="1"/>
          </p:cNvSpPr>
          <p:nvPr>
            <p:ph type="title"/>
          </p:nvPr>
        </p:nvSpPr>
        <p:spPr>
          <a:xfrm>
            <a:off x="7423151" y="345440"/>
            <a:ext cx="3932237" cy="1600200"/>
          </a:xfrm>
        </p:spPr>
        <p:txBody>
          <a:bodyPr/>
          <a:lstStyle/>
          <a:p>
            <a:r>
              <a:rPr lang="ar-SA" dirty="0"/>
              <a:t>تحليل البواقي.</a:t>
            </a:r>
          </a:p>
        </p:txBody>
      </p:sp>
      <p:sp>
        <p:nvSpPr>
          <p:cNvPr id="10" name="عنصر نائب للنص 9">
            <a:extLst>
              <a:ext uri="{FF2B5EF4-FFF2-40B4-BE49-F238E27FC236}">
                <a16:creationId xmlns:a16="http://schemas.microsoft.com/office/drawing/2014/main" id="{280CD820-A281-2E75-EB6C-FF1AF323B1DB}"/>
              </a:ext>
            </a:extLst>
          </p:cNvPr>
          <p:cNvSpPr>
            <a:spLocks noGrp="1"/>
          </p:cNvSpPr>
          <p:nvPr>
            <p:ph type="body" sz="half" idx="2"/>
          </p:nvPr>
        </p:nvSpPr>
        <p:spPr>
          <a:xfrm>
            <a:off x="7423150" y="1997551"/>
            <a:ext cx="3932237" cy="3811588"/>
          </a:xfrm>
        </p:spPr>
        <p:txBody>
          <a:bodyPr>
            <a:normAutofit/>
          </a:bodyPr>
          <a:lstStyle/>
          <a:p>
            <a:pPr marL="285750" indent="-285750">
              <a:buFont typeface="Arial" panose="020B0604020202020204" pitchFamily="34" charset="0"/>
              <a:buChar char="•"/>
            </a:pPr>
            <a:r>
              <a:rPr lang="en-US" sz="1800" dirty="0"/>
              <a:t>Normal Probability Plot</a:t>
            </a:r>
            <a:r>
              <a:rPr lang="ar-SA" sz="1800" dirty="0"/>
              <a:t>: يعبر عن ما أذا كانت البواقي تتوزع توزيع طبيعي ام لا, كما نرى فان قيم البواقي تتوزع بخط مستقيم أي انها تتوزع توزيعا طبيعيا.</a:t>
            </a:r>
          </a:p>
          <a:p>
            <a:pPr marL="285750" indent="-285750">
              <a:buFont typeface="Arial" panose="020B0604020202020204" pitchFamily="34" charset="0"/>
              <a:buChar char="•"/>
            </a:pPr>
            <a:r>
              <a:rPr lang="en-US" sz="1800" dirty="0"/>
              <a:t>Versus Fits</a:t>
            </a:r>
            <a:r>
              <a:rPr lang="ar-SA" sz="1800" dirty="0"/>
              <a:t>: يعبر عن ما اذا كانت البواقي تتوزع توزيع عشوائي حول الصفر, كما نرى فأنها تتوزع توزيع عشوائي وليس له نمط محدد.</a:t>
            </a:r>
          </a:p>
          <a:p>
            <a:pPr marL="285750" indent="-285750">
              <a:buFont typeface="Arial" panose="020B0604020202020204" pitchFamily="34" charset="0"/>
              <a:buChar char="•"/>
            </a:pPr>
            <a:r>
              <a:rPr lang="en-US" sz="1800" dirty="0"/>
              <a:t>Histogram</a:t>
            </a:r>
            <a:r>
              <a:rPr lang="ar-SA" sz="1800" dirty="0"/>
              <a:t>: يساعد على معرفة التوزيع الطبيعي, أذا كان جرسي فانه مؤشر إيجابي.</a:t>
            </a:r>
          </a:p>
          <a:p>
            <a:pPr marL="285750" indent="-285750">
              <a:buFont typeface="Arial" panose="020B0604020202020204" pitchFamily="34" charset="0"/>
              <a:buChar char="•"/>
            </a:pPr>
            <a:r>
              <a:rPr lang="en-US" sz="1800" dirty="0"/>
              <a:t>Versus Order</a:t>
            </a:r>
            <a:r>
              <a:rPr lang="ar-SA" sz="1800" dirty="0"/>
              <a:t>: اذا كانت القيم تتوزع توزيع عشوائي فأنه مؤشر إيجابي, بالشكل المجاور القيم تتوزع بشكل عشوائي.</a:t>
            </a:r>
          </a:p>
        </p:txBody>
      </p:sp>
      <p:pic>
        <p:nvPicPr>
          <p:cNvPr id="11" name="عنصر نائب للمحتوى 10" descr="Residual Plots for Total of Flights">
            <a:extLst>
              <a:ext uri="{FF2B5EF4-FFF2-40B4-BE49-F238E27FC236}">
                <a16:creationId xmlns:a16="http://schemas.microsoft.com/office/drawing/2014/main" id="{8C2F0285-0C61-294C-433B-AFCAC5661E6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08710" y="1694339"/>
            <a:ext cx="6172200" cy="4114800"/>
          </a:xfrm>
          <a:prstGeom prst="rect">
            <a:avLst/>
          </a:prstGeom>
          <a:noFill/>
          <a:ln>
            <a:noFill/>
          </a:ln>
        </p:spPr>
      </p:pic>
    </p:spTree>
    <p:extLst>
      <p:ext uri="{BB962C8B-B14F-4D97-AF65-F5344CB8AC3E}">
        <p14:creationId xmlns:p14="http://schemas.microsoft.com/office/powerpoint/2010/main" val="1120065875"/>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DC63578-3D2C-4050-8660-2F33D1B13CBF}"/>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BDE4ABA4-8E93-4900-B6D7-91C7F051ADDA}"/>
              </a:ext>
            </a:extLst>
          </p:cNvPr>
          <p:cNvPicPr>
            <a:picLocks noChangeAspect="1"/>
          </p:cNvPicPr>
          <p:nvPr/>
        </p:nvPicPr>
        <p:blipFill>
          <a:blip r:embed="rId2">
            <a:alphaModFix amt="50000"/>
          </a:blip>
          <a:srcRect r="4000"/>
          <a:stretch/>
        </p:blipFill>
        <p:spPr>
          <a:xfrm>
            <a:off x="20" y="1"/>
            <a:ext cx="12191980" cy="6857999"/>
          </a:xfrm>
          <a:prstGeom prst="rect">
            <a:avLst/>
          </a:prstGeom>
        </p:spPr>
      </p:pic>
      <p:sp>
        <p:nvSpPr>
          <p:cNvPr id="5" name="عنوان 4">
            <a:extLst>
              <a:ext uri="{FF2B5EF4-FFF2-40B4-BE49-F238E27FC236}">
                <a16:creationId xmlns:a16="http://schemas.microsoft.com/office/drawing/2014/main" id="{9277B382-8007-8178-802B-D88223117618}"/>
              </a:ext>
            </a:extLst>
          </p:cNvPr>
          <p:cNvSpPr>
            <a:spLocks noGrp="1"/>
          </p:cNvSpPr>
          <p:nvPr>
            <p:ph type="title"/>
          </p:nvPr>
        </p:nvSpPr>
        <p:spPr/>
        <p:txBody>
          <a:bodyPr/>
          <a:lstStyle/>
          <a:p>
            <a:r>
              <a:rPr lang="ar-SA" dirty="0"/>
              <a:t>تحليل الانحدار للرحلات المغادرة</a:t>
            </a:r>
          </a:p>
        </p:txBody>
      </p:sp>
      <p:graphicFrame>
        <p:nvGraphicFramePr>
          <p:cNvPr id="16" name="عنصر نائب للمحتوى 15">
            <a:extLst>
              <a:ext uri="{FF2B5EF4-FFF2-40B4-BE49-F238E27FC236}">
                <a16:creationId xmlns:a16="http://schemas.microsoft.com/office/drawing/2014/main" id="{87EB20DD-6A48-18AC-FEEA-C833AF8E825C}"/>
              </a:ext>
            </a:extLst>
          </p:cNvPr>
          <p:cNvGraphicFramePr>
            <a:graphicFrameLocks noGrp="1"/>
          </p:cNvGraphicFramePr>
          <p:nvPr>
            <p:ph idx="1"/>
            <p:extLst>
              <p:ext uri="{D42A27DB-BD31-4B8C-83A1-F6EECF244321}">
                <p14:modId xmlns:p14="http://schemas.microsoft.com/office/powerpoint/2010/main" val="2647602143"/>
              </p:ext>
            </p:extLst>
          </p:nvPr>
        </p:nvGraphicFramePr>
        <p:xfrm>
          <a:off x="838200" y="1505585"/>
          <a:ext cx="5611368" cy="731520"/>
        </p:xfrm>
        <a:graphic>
          <a:graphicData uri="http://schemas.openxmlformats.org/drawingml/2006/table">
            <a:tbl>
              <a:tblPr rtl="1" firstRow="1" bandRow="1">
                <a:tableStyleId>{5C22544A-7EE6-4342-B048-85BDC9FD1C3A}</a:tableStyleId>
              </a:tblPr>
              <a:tblGrid>
                <a:gridCol w="5611368">
                  <a:extLst>
                    <a:ext uri="{9D8B030D-6E8A-4147-A177-3AD203B41FA5}">
                      <a16:colId xmlns:a16="http://schemas.microsoft.com/office/drawing/2014/main" val="3867508989"/>
                    </a:ext>
                  </a:extLst>
                </a:gridCol>
              </a:tblGrid>
              <a:tr h="173820">
                <a:tc>
                  <a:txBody>
                    <a:bodyPr/>
                    <a:lstStyle/>
                    <a:p>
                      <a:pPr algn="l" rtl="1"/>
                      <a:r>
                        <a:rPr lang="en-US" dirty="0"/>
                        <a:t>Regression Equation</a:t>
                      </a:r>
                      <a:endParaRPr lang="ar-SA" dirty="0"/>
                    </a:p>
                  </a:txBody>
                  <a:tcPr/>
                </a:tc>
                <a:extLst>
                  <a:ext uri="{0D108BD9-81ED-4DB2-BD59-A6C34878D82A}">
                    <a16:rowId xmlns:a16="http://schemas.microsoft.com/office/drawing/2014/main" val="1648651763"/>
                  </a:ext>
                </a:extLst>
              </a:tr>
              <a:tr h="359707">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Total of Flights = 2535 + 0.006876 Total of Passengers</a:t>
                      </a:r>
                    </a:p>
                  </a:txBody>
                  <a:tcPr/>
                </a:tc>
                <a:extLst>
                  <a:ext uri="{0D108BD9-81ED-4DB2-BD59-A6C34878D82A}">
                    <a16:rowId xmlns:a16="http://schemas.microsoft.com/office/drawing/2014/main" val="3637487139"/>
                  </a:ext>
                </a:extLst>
              </a:tr>
            </a:tbl>
          </a:graphicData>
        </a:graphic>
      </p:graphicFrame>
      <p:sp>
        <p:nvSpPr>
          <p:cNvPr id="19" name="مربع نص 18">
            <a:extLst>
              <a:ext uri="{FF2B5EF4-FFF2-40B4-BE49-F238E27FC236}">
                <a16:creationId xmlns:a16="http://schemas.microsoft.com/office/drawing/2014/main" id="{0FDF7912-F076-F725-FE09-29E8104F5158}"/>
              </a:ext>
            </a:extLst>
          </p:cNvPr>
          <p:cNvSpPr txBox="1"/>
          <p:nvPr/>
        </p:nvSpPr>
        <p:spPr>
          <a:xfrm>
            <a:off x="6449568" y="1408688"/>
            <a:ext cx="4904232" cy="5355312"/>
          </a:xfrm>
          <a:prstGeom prst="rect">
            <a:avLst/>
          </a:prstGeom>
          <a:noFill/>
        </p:spPr>
        <p:txBody>
          <a:bodyPr wrap="square" rtlCol="1">
            <a:spAutoFit/>
          </a:bodyPr>
          <a:lstStyle/>
          <a:p>
            <a:pPr marL="285750" indent="-285750">
              <a:buFont typeface="Arial" panose="020B0604020202020204" pitchFamily="34" charset="0"/>
              <a:buChar char="•"/>
            </a:pPr>
            <a:r>
              <a:rPr lang="ar-SA" dirty="0"/>
              <a:t>اخترنا المتغيرات حسب المنطق وهو ان عدد الركاب يؤثر الى زيادة عدد الرحلات المغادرة.</a:t>
            </a:r>
          </a:p>
          <a:p>
            <a:pPr marL="285750" indent="-285750">
              <a:buFont typeface="Arial" panose="020B0604020202020204" pitchFamily="34" charset="0"/>
              <a:buChar char="•"/>
            </a:pPr>
            <a:r>
              <a:rPr lang="ar-SA" dirty="0"/>
              <a:t>المتغير المستقل هو عدد الرحلات المغادرة بناء على طبيعة البيانات لأننا نفترض ان التغير في عدد الركاب قد يؤثر على عدد الرحلات.</a:t>
            </a:r>
          </a:p>
          <a:p>
            <a:pPr marL="285750" indent="-285750">
              <a:buFont typeface="Arial" panose="020B0604020202020204" pitchFamily="34" charset="0"/>
              <a:buChar char="•"/>
            </a:pPr>
            <a:r>
              <a:rPr lang="ar-SA" dirty="0"/>
              <a:t>المتغير التابع هو عدد الركاب المغادرين لأنه يعتمد على عدد الركاب.</a:t>
            </a:r>
          </a:p>
          <a:p>
            <a:pPr marL="285750" indent="-285750">
              <a:buFont typeface="Arial" panose="020B0604020202020204" pitchFamily="34" charset="0"/>
              <a:buChar char="•"/>
            </a:pPr>
            <a:endParaRPr lang="ar-SA" dirty="0"/>
          </a:p>
          <a:p>
            <a:pPr marL="285750" indent="-285750">
              <a:buFont typeface="Arial" panose="020B0604020202020204" pitchFamily="34" charset="0"/>
              <a:buChar char="•"/>
            </a:pPr>
            <a:endParaRPr lang="ar-SA" dirty="0"/>
          </a:p>
          <a:p>
            <a:pPr marL="285750" indent="-285750">
              <a:buFont typeface="Arial" panose="020B0604020202020204" pitchFamily="34" charset="0"/>
              <a:buChar char="•"/>
            </a:pPr>
            <a:r>
              <a:rPr lang="ar-SA" dirty="0"/>
              <a:t> تبلغ قيمة </a:t>
            </a:r>
            <a:r>
              <a:rPr lang="en-US" dirty="0"/>
              <a:t>R-Squared</a:t>
            </a:r>
            <a:r>
              <a:rPr lang="ar-SA" dirty="0"/>
              <a:t> </a:t>
            </a:r>
            <a:r>
              <a:rPr lang="en-US" dirty="0"/>
              <a:t>0.98</a:t>
            </a:r>
            <a:r>
              <a:rPr lang="ar-SA" dirty="0"/>
              <a:t> أي ان النموذج يفسر </a:t>
            </a:r>
            <a:r>
              <a:rPr lang="en-US" dirty="0"/>
              <a:t>  </a:t>
            </a:r>
            <a:r>
              <a:rPr lang="ar-SA" dirty="0"/>
              <a:t>   </a:t>
            </a:r>
            <a:r>
              <a:rPr lang="en-US" dirty="0"/>
              <a:t>98.28%</a:t>
            </a:r>
            <a:r>
              <a:rPr lang="ar-SA" dirty="0"/>
              <a:t> من التباين في عدد الركاب, تعتبر النسبة عالية أي ان النموذج جيد.</a:t>
            </a:r>
          </a:p>
          <a:p>
            <a:pPr marL="285750" indent="-285750">
              <a:buFont typeface="Arial" panose="020B0604020202020204" pitchFamily="34" charset="0"/>
              <a:buChar char="•"/>
            </a:pPr>
            <a:endParaRPr lang="ar-SA" dirty="0"/>
          </a:p>
          <a:p>
            <a:pPr marL="285750" indent="-285750">
              <a:buFont typeface="Arial" panose="020B0604020202020204" pitchFamily="34" charset="0"/>
              <a:buChar char="•"/>
            </a:pPr>
            <a:r>
              <a:rPr lang="ar-SA" dirty="0"/>
              <a:t>قيمة </a:t>
            </a:r>
            <a:r>
              <a:rPr lang="en-US" dirty="0"/>
              <a:t>p-value</a:t>
            </a:r>
            <a:r>
              <a:rPr lang="ar-SA" dirty="0"/>
              <a:t> للمتغير المستقل اقل من </a:t>
            </a:r>
            <a:r>
              <a:rPr lang="en-US" dirty="0"/>
              <a:t>0.05</a:t>
            </a:r>
            <a:r>
              <a:rPr lang="ar-SA" dirty="0"/>
              <a:t> نرفض القيمة الصفرية أي ان هناك علاقة خطية بين عدد الركاب وعدد الرحلات, وان زيادة عدد الركاب ترتبط بزيادة عدد الرحلات.</a:t>
            </a:r>
          </a:p>
          <a:p>
            <a:pPr marL="285750" indent="-285750">
              <a:buFont typeface="Arial" panose="020B0604020202020204" pitchFamily="34" charset="0"/>
              <a:buChar char="•"/>
            </a:pPr>
            <a:r>
              <a:rPr lang="ar-SA" dirty="0"/>
              <a:t>قيمة </a:t>
            </a:r>
            <a:r>
              <a:rPr lang="en-US" dirty="0"/>
              <a:t>p-value</a:t>
            </a:r>
            <a:r>
              <a:rPr lang="ar-SA" dirty="0"/>
              <a:t> للثابت اقل من </a:t>
            </a:r>
            <a:r>
              <a:rPr lang="en-US" dirty="0"/>
              <a:t>0.05</a:t>
            </a:r>
            <a:r>
              <a:rPr lang="ar-SA" dirty="0"/>
              <a:t> نرفض الفرضية الصفرية أي ان الثابت له تأثير في النموذج ولا يمكن ان تكون قيمته صفرا.</a:t>
            </a:r>
          </a:p>
        </p:txBody>
      </p:sp>
      <p:graphicFrame>
        <p:nvGraphicFramePr>
          <p:cNvPr id="22" name="جدول 21">
            <a:extLst>
              <a:ext uri="{FF2B5EF4-FFF2-40B4-BE49-F238E27FC236}">
                <a16:creationId xmlns:a16="http://schemas.microsoft.com/office/drawing/2014/main" id="{B8067293-CDBA-54CC-DD5D-7DFAD07945FA}"/>
              </a:ext>
            </a:extLst>
          </p:cNvPr>
          <p:cNvGraphicFramePr>
            <a:graphicFrameLocks noGrp="1"/>
          </p:cNvGraphicFramePr>
          <p:nvPr>
            <p:extLst>
              <p:ext uri="{D42A27DB-BD31-4B8C-83A1-F6EECF244321}">
                <p14:modId xmlns:p14="http://schemas.microsoft.com/office/powerpoint/2010/main" val="3477706337"/>
              </p:ext>
            </p:extLst>
          </p:nvPr>
        </p:nvGraphicFramePr>
        <p:xfrm>
          <a:off x="773685" y="3331582"/>
          <a:ext cx="5675883" cy="754762"/>
        </p:xfrm>
        <a:graphic>
          <a:graphicData uri="http://schemas.openxmlformats.org/drawingml/2006/table">
            <a:tbl>
              <a:tblPr rtl="1" firstRow="1" bandRow="1">
                <a:tableStyleId>{5C22544A-7EE6-4342-B048-85BDC9FD1C3A}</a:tableStyleId>
              </a:tblPr>
              <a:tblGrid>
                <a:gridCol w="1891961">
                  <a:extLst>
                    <a:ext uri="{9D8B030D-6E8A-4147-A177-3AD203B41FA5}">
                      <a16:colId xmlns:a16="http://schemas.microsoft.com/office/drawing/2014/main" val="1429645091"/>
                    </a:ext>
                  </a:extLst>
                </a:gridCol>
                <a:gridCol w="1891961">
                  <a:extLst>
                    <a:ext uri="{9D8B030D-6E8A-4147-A177-3AD203B41FA5}">
                      <a16:colId xmlns:a16="http://schemas.microsoft.com/office/drawing/2014/main" val="1205498285"/>
                    </a:ext>
                  </a:extLst>
                </a:gridCol>
                <a:gridCol w="1891961">
                  <a:extLst>
                    <a:ext uri="{9D8B030D-6E8A-4147-A177-3AD203B41FA5}">
                      <a16:colId xmlns:a16="http://schemas.microsoft.com/office/drawing/2014/main" val="4036138127"/>
                    </a:ext>
                  </a:extLst>
                </a:gridCol>
              </a:tblGrid>
              <a:tr h="246317">
                <a:tc>
                  <a:txBody>
                    <a:bodyPr/>
                    <a:lstStyle/>
                    <a:p>
                      <a:pPr algn="l" rtl="1">
                        <a:lnSpc>
                          <a:spcPct val="150000"/>
                        </a:lnSpc>
                        <a:spcAft>
                          <a:spcPts val="800"/>
                        </a:spcAft>
                      </a:pPr>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S</a:t>
                      </a:r>
                      <a:endParaRPr lang="en-US" sz="16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800" b="1">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R-sq</a:t>
                      </a:r>
                      <a:endParaRPr lang="en-US" sz="16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R-sq(adj)</a:t>
                      </a:r>
                      <a:endParaRPr lang="en-US" sz="16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1217672161"/>
                  </a:ext>
                </a:extLst>
              </a:tr>
              <a:tr h="246317">
                <a:tc>
                  <a:txBody>
                    <a:bodyPr/>
                    <a:lstStyle/>
                    <a:p>
                      <a:pPr algn="l" rtl="1">
                        <a:lnSpc>
                          <a:spcPct val="150000"/>
                        </a:lnSpc>
                        <a:spcAft>
                          <a:spcPts val="800"/>
                        </a:spcAft>
                      </a:pPr>
                      <a:r>
                        <a:rPr lang="en-US" sz="18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1324.12</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8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98.28%</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8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98.28%</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1509969655"/>
                  </a:ext>
                </a:extLst>
              </a:tr>
            </a:tbl>
          </a:graphicData>
        </a:graphic>
      </p:graphicFrame>
      <p:graphicFrame>
        <p:nvGraphicFramePr>
          <p:cNvPr id="26" name="جدول 25">
            <a:extLst>
              <a:ext uri="{FF2B5EF4-FFF2-40B4-BE49-F238E27FC236}">
                <a16:creationId xmlns:a16="http://schemas.microsoft.com/office/drawing/2014/main" id="{813572AB-9D0E-BF9F-FC5D-BDB0642E495D}"/>
              </a:ext>
            </a:extLst>
          </p:cNvPr>
          <p:cNvGraphicFramePr>
            <a:graphicFrameLocks noGrp="1"/>
          </p:cNvGraphicFramePr>
          <p:nvPr>
            <p:extLst>
              <p:ext uri="{D42A27DB-BD31-4B8C-83A1-F6EECF244321}">
                <p14:modId xmlns:p14="http://schemas.microsoft.com/office/powerpoint/2010/main" val="4221456027"/>
              </p:ext>
            </p:extLst>
          </p:nvPr>
        </p:nvGraphicFramePr>
        <p:xfrm>
          <a:off x="805942" y="5012426"/>
          <a:ext cx="5611368" cy="1112520"/>
        </p:xfrm>
        <a:graphic>
          <a:graphicData uri="http://schemas.openxmlformats.org/drawingml/2006/table">
            <a:tbl>
              <a:tblPr rtl="1" firstRow="1" bandRow="1">
                <a:tableStyleId>{5C22544A-7EE6-4342-B048-85BDC9FD1C3A}</a:tableStyleId>
              </a:tblPr>
              <a:tblGrid>
                <a:gridCol w="935228">
                  <a:extLst>
                    <a:ext uri="{9D8B030D-6E8A-4147-A177-3AD203B41FA5}">
                      <a16:colId xmlns:a16="http://schemas.microsoft.com/office/drawing/2014/main" val="100472511"/>
                    </a:ext>
                  </a:extLst>
                </a:gridCol>
                <a:gridCol w="935228">
                  <a:extLst>
                    <a:ext uri="{9D8B030D-6E8A-4147-A177-3AD203B41FA5}">
                      <a16:colId xmlns:a16="http://schemas.microsoft.com/office/drawing/2014/main" val="3480274589"/>
                    </a:ext>
                  </a:extLst>
                </a:gridCol>
                <a:gridCol w="935228">
                  <a:extLst>
                    <a:ext uri="{9D8B030D-6E8A-4147-A177-3AD203B41FA5}">
                      <a16:colId xmlns:a16="http://schemas.microsoft.com/office/drawing/2014/main" val="175584996"/>
                    </a:ext>
                  </a:extLst>
                </a:gridCol>
                <a:gridCol w="935228">
                  <a:extLst>
                    <a:ext uri="{9D8B030D-6E8A-4147-A177-3AD203B41FA5}">
                      <a16:colId xmlns:a16="http://schemas.microsoft.com/office/drawing/2014/main" val="1659453749"/>
                    </a:ext>
                  </a:extLst>
                </a:gridCol>
                <a:gridCol w="935228">
                  <a:extLst>
                    <a:ext uri="{9D8B030D-6E8A-4147-A177-3AD203B41FA5}">
                      <a16:colId xmlns:a16="http://schemas.microsoft.com/office/drawing/2014/main" val="459206338"/>
                    </a:ext>
                  </a:extLst>
                </a:gridCol>
                <a:gridCol w="935228">
                  <a:extLst>
                    <a:ext uri="{9D8B030D-6E8A-4147-A177-3AD203B41FA5}">
                      <a16:colId xmlns:a16="http://schemas.microsoft.com/office/drawing/2014/main" val="3388305523"/>
                    </a:ext>
                  </a:extLst>
                </a:gridCol>
              </a:tblGrid>
              <a:tr h="251587">
                <a:tc>
                  <a:txBody>
                    <a:bodyPr/>
                    <a:lstStyle/>
                    <a:p>
                      <a:pPr algn="l" rtl="1"/>
                      <a:r>
                        <a:rPr lang="en-US" sz="1600" dirty="0"/>
                        <a:t>VIF</a:t>
                      </a:r>
                      <a:endParaRPr lang="ar-SA" sz="1600" dirty="0"/>
                    </a:p>
                  </a:txBody>
                  <a:tcPr/>
                </a:tc>
                <a:tc>
                  <a:txBody>
                    <a:bodyPr/>
                    <a:lstStyle/>
                    <a:p>
                      <a:pPr algn="l" rtl="1"/>
                      <a:r>
                        <a:rPr lang="en-US" sz="1600" dirty="0"/>
                        <a:t>P-Value</a:t>
                      </a:r>
                      <a:endParaRPr lang="ar-SA" sz="1600" dirty="0"/>
                    </a:p>
                  </a:txBody>
                  <a:tcPr/>
                </a:tc>
                <a:tc>
                  <a:txBody>
                    <a:bodyPr/>
                    <a:lstStyle/>
                    <a:p>
                      <a:pPr algn="l" rtl="1"/>
                      <a:r>
                        <a:rPr lang="en-US" sz="1600" dirty="0"/>
                        <a:t>T-Value</a:t>
                      </a:r>
                      <a:endParaRPr lang="ar-SA" sz="1600" dirty="0"/>
                    </a:p>
                  </a:txBody>
                  <a:tcPr/>
                </a:tc>
                <a:tc>
                  <a:txBody>
                    <a:bodyPr/>
                    <a:lstStyle/>
                    <a:p>
                      <a:pPr algn="l" rtl="1"/>
                      <a:r>
                        <a:rPr lang="en-US" sz="1600" dirty="0"/>
                        <a:t>SE </a:t>
                      </a:r>
                      <a:r>
                        <a:rPr lang="en-US" sz="1600" dirty="0" err="1"/>
                        <a:t>Coef</a:t>
                      </a:r>
                      <a:endParaRPr lang="ar-SA" sz="1600" dirty="0"/>
                    </a:p>
                  </a:txBody>
                  <a:tcPr/>
                </a:tc>
                <a:tc>
                  <a:txBody>
                    <a:bodyPr/>
                    <a:lstStyle/>
                    <a:p>
                      <a:pPr algn="l" rtl="1"/>
                      <a:r>
                        <a:rPr lang="en-US" sz="1600" dirty="0" err="1"/>
                        <a:t>Coef</a:t>
                      </a:r>
                      <a:endParaRPr lang="ar-SA" sz="1600" dirty="0"/>
                    </a:p>
                  </a:txBody>
                  <a:tcPr/>
                </a:tc>
                <a:tc>
                  <a:txBody>
                    <a:bodyPr/>
                    <a:lstStyle/>
                    <a:p>
                      <a:pPr algn="l" rtl="1"/>
                      <a:r>
                        <a:rPr lang="en-US" sz="1600" dirty="0"/>
                        <a:t>Terms</a:t>
                      </a:r>
                      <a:endParaRPr lang="ar-SA" sz="1600" dirty="0"/>
                    </a:p>
                  </a:txBody>
                  <a:tcPr/>
                </a:tc>
                <a:extLst>
                  <a:ext uri="{0D108BD9-81ED-4DB2-BD59-A6C34878D82A}">
                    <a16:rowId xmlns:a16="http://schemas.microsoft.com/office/drawing/2014/main" val="3840170497"/>
                  </a:ext>
                </a:extLst>
              </a:tr>
              <a:tr h="251587">
                <a:tc>
                  <a:txBody>
                    <a:bodyPr/>
                    <a:lstStyle/>
                    <a:p>
                      <a:pPr rtl="1"/>
                      <a:endParaRPr lang="ar-SA"/>
                    </a:p>
                  </a:txBody>
                  <a:tcPr/>
                </a:tc>
                <a:tc>
                  <a:txBody>
                    <a:bodyPr/>
                    <a:lstStyle/>
                    <a:p>
                      <a:pPr algn="l" rtl="1"/>
                      <a:r>
                        <a:rPr lang="en-US" sz="1400" dirty="0"/>
                        <a:t>0.000</a:t>
                      </a:r>
                      <a:endParaRPr lang="ar-SA" sz="1400" dirty="0"/>
                    </a:p>
                  </a:txBody>
                  <a:tcPr/>
                </a:tc>
                <a:tc>
                  <a:txBody>
                    <a:bodyPr/>
                    <a:lstStyle/>
                    <a:p>
                      <a:pPr algn="l" rtl="1"/>
                      <a:r>
                        <a:rPr lang="en-US" sz="1400" dirty="0"/>
                        <a:t>6.04</a:t>
                      </a:r>
                      <a:endParaRPr lang="ar-SA" sz="1400" dirty="0"/>
                    </a:p>
                  </a:txBody>
                  <a:tcPr/>
                </a:tc>
                <a:tc>
                  <a:txBody>
                    <a:bodyPr/>
                    <a:lstStyle/>
                    <a:p>
                      <a:pPr algn="l" rtl="1"/>
                      <a:r>
                        <a:rPr lang="en-US" sz="1400" dirty="0"/>
                        <a:t>420</a:t>
                      </a:r>
                      <a:endParaRPr lang="ar-SA" sz="1400" dirty="0"/>
                    </a:p>
                  </a:txBody>
                  <a:tcPr/>
                </a:tc>
                <a:tc>
                  <a:txBody>
                    <a:bodyPr/>
                    <a:lstStyle/>
                    <a:p>
                      <a:pPr algn="l" rtl="1"/>
                      <a:r>
                        <a:rPr lang="en-US" sz="1400" dirty="0"/>
                        <a:t>2535</a:t>
                      </a:r>
                      <a:endParaRPr lang="ar-SA" sz="2400" dirty="0"/>
                    </a:p>
                  </a:txBody>
                  <a:tcPr/>
                </a:tc>
                <a:tc>
                  <a:txBody>
                    <a:bodyPr/>
                    <a:lstStyle/>
                    <a:p>
                      <a:pPr algn="l" rtl="1"/>
                      <a:r>
                        <a:rPr lang="en-US" sz="1050" dirty="0"/>
                        <a:t>Constant</a:t>
                      </a:r>
                      <a:endParaRPr lang="ar-SA" sz="1050" dirty="0"/>
                    </a:p>
                  </a:txBody>
                  <a:tcPr/>
                </a:tc>
                <a:extLst>
                  <a:ext uri="{0D108BD9-81ED-4DB2-BD59-A6C34878D82A}">
                    <a16:rowId xmlns:a16="http://schemas.microsoft.com/office/drawing/2014/main" val="2882987685"/>
                  </a:ext>
                </a:extLst>
              </a:tr>
              <a:tr h="251587">
                <a:tc>
                  <a:txBody>
                    <a:bodyPr/>
                    <a:lstStyle/>
                    <a:p>
                      <a:pPr algn="l" rtl="1"/>
                      <a:r>
                        <a:rPr lang="en-US" sz="1400" dirty="0"/>
                        <a:t>1.00</a:t>
                      </a:r>
                      <a:endParaRPr lang="ar-SA" sz="1400" dirty="0"/>
                    </a:p>
                  </a:txBody>
                  <a:tcPr/>
                </a:tc>
                <a:tc>
                  <a:txBody>
                    <a:bodyPr/>
                    <a:lstStyle/>
                    <a:p>
                      <a:pPr algn="l" rtl="1"/>
                      <a:r>
                        <a:rPr lang="en-US" sz="1400" dirty="0"/>
                        <a:t>0.000</a:t>
                      </a:r>
                      <a:endParaRPr lang="ar-SA" sz="1400" dirty="0"/>
                    </a:p>
                  </a:txBody>
                  <a:tcPr/>
                </a:tc>
                <a:tc>
                  <a:txBody>
                    <a:bodyPr/>
                    <a:lstStyle/>
                    <a:p>
                      <a:pPr algn="l" rtl="1"/>
                      <a:r>
                        <a:rPr lang="en-US" sz="1400" dirty="0"/>
                        <a:t>51.23</a:t>
                      </a:r>
                      <a:endParaRPr lang="ar-SA" sz="1400" dirty="0"/>
                    </a:p>
                  </a:txBody>
                  <a:tcPr/>
                </a:tc>
                <a:tc>
                  <a:txBody>
                    <a:bodyPr/>
                    <a:lstStyle/>
                    <a:p>
                      <a:pPr algn="l" rtl="1"/>
                      <a:r>
                        <a:rPr lang="en-US" sz="1400" dirty="0"/>
                        <a:t>0.000134</a:t>
                      </a:r>
                      <a:endParaRPr lang="ar-SA" sz="1400" dirty="0"/>
                    </a:p>
                  </a:txBody>
                  <a:tcPr/>
                </a:tc>
                <a:tc>
                  <a:txBody>
                    <a:bodyPr/>
                    <a:lstStyle/>
                    <a:p>
                      <a:pPr algn="l" rtl="1"/>
                      <a:r>
                        <a:rPr lang="en-US" sz="1400" dirty="0"/>
                        <a:t>0.006876</a:t>
                      </a:r>
                      <a:endParaRPr lang="ar-SA" sz="1400" dirty="0"/>
                    </a:p>
                  </a:txBody>
                  <a:tcPr/>
                </a:tc>
                <a:tc>
                  <a:txBody>
                    <a:bodyPr/>
                    <a:lstStyle/>
                    <a:p>
                      <a:pPr algn="l" rtl="1"/>
                      <a:r>
                        <a:rPr lang="en-US" sz="1050" dirty="0"/>
                        <a:t>Total Of Passengers</a:t>
                      </a:r>
                      <a:endParaRPr lang="ar-SA" sz="1050" dirty="0"/>
                    </a:p>
                  </a:txBody>
                  <a:tcPr/>
                </a:tc>
                <a:extLst>
                  <a:ext uri="{0D108BD9-81ED-4DB2-BD59-A6C34878D82A}">
                    <a16:rowId xmlns:a16="http://schemas.microsoft.com/office/drawing/2014/main" val="2882690664"/>
                  </a:ext>
                </a:extLst>
              </a:tr>
            </a:tbl>
          </a:graphicData>
        </a:graphic>
      </p:graphicFrame>
    </p:spTree>
    <p:extLst>
      <p:ext uri="{BB962C8B-B14F-4D97-AF65-F5344CB8AC3E}">
        <p14:creationId xmlns:p14="http://schemas.microsoft.com/office/powerpoint/2010/main" val="3870478149"/>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C2F43BD-5DCF-4EA6-C0A8-C9297C3EBFC4}"/>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963BDE01-A773-08FF-3518-A7059A560BD1}"/>
              </a:ext>
            </a:extLst>
          </p:cNvPr>
          <p:cNvPicPr>
            <a:picLocks noChangeAspect="1"/>
          </p:cNvPicPr>
          <p:nvPr/>
        </p:nvPicPr>
        <p:blipFill>
          <a:blip r:embed="rId2">
            <a:alphaModFix amt="50000"/>
          </a:blip>
          <a:srcRect r="4000"/>
          <a:stretch/>
        </p:blipFill>
        <p:spPr>
          <a:xfrm>
            <a:off x="20" y="0"/>
            <a:ext cx="12191980" cy="6857999"/>
          </a:xfrm>
          <a:prstGeom prst="rect">
            <a:avLst/>
          </a:prstGeom>
        </p:spPr>
      </p:pic>
      <p:sp>
        <p:nvSpPr>
          <p:cNvPr id="7" name="عنوان 6">
            <a:extLst>
              <a:ext uri="{FF2B5EF4-FFF2-40B4-BE49-F238E27FC236}">
                <a16:creationId xmlns:a16="http://schemas.microsoft.com/office/drawing/2014/main" id="{99BE133B-57D0-A08C-EBBF-5C9640C05DC7}"/>
              </a:ext>
            </a:extLst>
          </p:cNvPr>
          <p:cNvSpPr>
            <a:spLocks noGrp="1"/>
          </p:cNvSpPr>
          <p:nvPr>
            <p:ph type="title"/>
          </p:nvPr>
        </p:nvSpPr>
        <p:spPr>
          <a:xfrm>
            <a:off x="7423151" y="345440"/>
            <a:ext cx="3932237" cy="1600200"/>
          </a:xfrm>
        </p:spPr>
        <p:txBody>
          <a:bodyPr/>
          <a:lstStyle/>
          <a:p>
            <a:r>
              <a:rPr lang="ar-SA" dirty="0"/>
              <a:t>تحليل البواقي.</a:t>
            </a:r>
          </a:p>
        </p:txBody>
      </p:sp>
      <p:sp>
        <p:nvSpPr>
          <p:cNvPr id="10" name="عنصر نائب للنص 9">
            <a:extLst>
              <a:ext uri="{FF2B5EF4-FFF2-40B4-BE49-F238E27FC236}">
                <a16:creationId xmlns:a16="http://schemas.microsoft.com/office/drawing/2014/main" id="{D4F5418B-129C-3687-3BD0-F8698EC17EAE}"/>
              </a:ext>
            </a:extLst>
          </p:cNvPr>
          <p:cNvSpPr>
            <a:spLocks noGrp="1"/>
          </p:cNvSpPr>
          <p:nvPr>
            <p:ph type="body" sz="half" idx="2"/>
          </p:nvPr>
        </p:nvSpPr>
        <p:spPr>
          <a:xfrm>
            <a:off x="7423150" y="1997551"/>
            <a:ext cx="3932237" cy="3811588"/>
          </a:xfrm>
        </p:spPr>
        <p:txBody>
          <a:bodyPr>
            <a:normAutofit/>
          </a:bodyPr>
          <a:lstStyle/>
          <a:p>
            <a:pPr marL="285750" indent="-285750">
              <a:buFont typeface="Arial" panose="020B0604020202020204" pitchFamily="34" charset="0"/>
              <a:buChar char="•"/>
            </a:pPr>
            <a:r>
              <a:rPr lang="en-US" sz="1800" dirty="0"/>
              <a:t>Normal Probability Plot</a:t>
            </a:r>
            <a:r>
              <a:rPr lang="ar-SA" sz="1800" dirty="0"/>
              <a:t>: يعبر عن ما أذا كانت البواقي تتوزع توزيع طبيعي ام لا, كما نرى فان قيم البواقي تتوزع بخط مستقيم أي انها تتوزع توزيعا طبيعيا.</a:t>
            </a:r>
          </a:p>
          <a:p>
            <a:pPr marL="285750" indent="-285750">
              <a:buFont typeface="Arial" panose="020B0604020202020204" pitchFamily="34" charset="0"/>
              <a:buChar char="•"/>
            </a:pPr>
            <a:r>
              <a:rPr lang="en-US" sz="1800" dirty="0"/>
              <a:t>Versus Fits</a:t>
            </a:r>
            <a:r>
              <a:rPr lang="ar-SA" sz="1800" dirty="0"/>
              <a:t>: يعبر عن ما اذا كانت البواقي تتوزع توزيع عشوائي حول الصفر, كما نرى فأنها تتوزع توزيع عشوائي وليس له نمط محدد.</a:t>
            </a:r>
          </a:p>
          <a:p>
            <a:pPr marL="285750" indent="-285750">
              <a:buFont typeface="Arial" panose="020B0604020202020204" pitchFamily="34" charset="0"/>
              <a:buChar char="•"/>
            </a:pPr>
            <a:r>
              <a:rPr lang="en-US" sz="1800" dirty="0"/>
              <a:t>Histogram</a:t>
            </a:r>
            <a:r>
              <a:rPr lang="ar-SA" sz="1800" dirty="0"/>
              <a:t>: يساعد على معرفة التوزيع الطبيعي, أذا كان جرسي فانه مؤشر إيجابي.</a:t>
            </a:r>
          </a:p>
          <a:p>
            <a:pPr marL="285750" indent="-285750">
              <a:buFont typeface="Arial" panose="020B0604020202020204" pitchFamily="34" charset="0"/>
              <a:buChar char="•"/>
            </a:pPr>
            <a:r>
              <a:rPr lang="en-US" sz="1800" dirty="0"/>
              <a:t>Versus Order</a:t>
            </a:r>
            <a:r>
              <a:rPr lang="ar-SA" sz="1800" dirty="0"/>
              <a:t>: اذا كانت القيم تتوزع توزيع عشوائي فأنه مؤشر إيجابي, بالشكل المجاور القيم تتوزع بشكل عشوائي.</a:t>
            </a:r>
          </a:p>
        </p:txBody>
      </p:sp>
      <p:pic>
        <p:nvPicPr>
          <p:cNvPr id="2" name="صورة 1" descr="Residual Plots for total of flghtts">
            <a:extLst>
              <a:ext uri="{FF2B5EF4-FFF2-40B4-BE49-F238E27FC236}">
                <a16:creationId xmlns:a16="http://schemas.microsoft.com/office/drawing/2014/main" id="{D0002DED-E255-CCA1-F1F4-573C0BDEBB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2845" y="1694340"/>
            <a:ext cx="6172200" cy="4114799"/>
          </a:xfrm>
          <a:prstGeom prst="rect">
            <a:avLst/>
          </a:prstGeom>
          <a:noFill/>
          <a:ln>
            <a:noFill/>
          </a:ln>
        </p:spPr>
      </p:pic>
    </p:spTree>
    <p:extLst>
      <p:ext uri="{BB962C8B-B14F-4D97-AF65-F5344CB8AC3E}">
        <p14:creationId xmlns:p14="http://schemas.microsoft.com/office/powerpoint/2010/main" val="2961846672"/>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D94801-A1A7-3E2D-55F7-6D3273C6389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55354A-73EC-6EE0-04A8-4E11D9E0C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8B3FC1A6-3DBA-4237-F2B4-8A0707488706}"/>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32BCC1B1-E24A-BD72-003C-581F2BC54B35}"/>
              </a:ext>
            </a:extLst>
          </p:cNvPr>
          <p:cNvSpPr>
            <a:spLocks noGrp="1"/>
          </p:cNvSpPr>
          <p:nvPr>
            <p:ph type="ctrTitle"/>
          </p:nvPr>
        </p:nvSpPr>
        <p:spPr>
          <a:xfrm>
            <a:off x="6343650" y="4873752"/>
            <a:ext cx="4110990" cy="779057"/>
          </a:xfrm>
        </p:spPr>
        <p:txBody>
          <a:bodyPr anchor="b">
            <a:normAutofit/>
          </a:bodyPr>
          <a:lstStyle/>
          <a:p>
            <a:pPr algn="l"/>
            <a:r>
              <a:rPr lang="ar-SA" sz="4400" dirty="0"/>
              <a:t>تحليل السلاسل الزمنية</a:t>
            </a:r>
          </a:p>
        </p:txBody>
      </p:sp>
      <p:pic>
        <p:nvPicPr>
          <p:cNvPr id="5" name="صورة 4">
            <a:extLst>
              <a:ext uri="{FF2B5EF4-FFF2-40B4-BE49-F238E27FC236}">
                <a16:creationId xmlns:a16="http://schemas.microsoft.com/office/drawing/2014/main" id="{48BB09D0-8EDF-6844-8FD8-D643DD7F887D}"/>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3121733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90B23B-4E74-DB29-B513-81408769F140}"/>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594FB2D-28D2-01E5-38C8-E4A0624B8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D4FEF9C7-0CA8-F87D-9727-004104C6D7F3}"/>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AD70C1D6-67E6-E4FE-6AD8-D788AC93F486}"/>
              </a:ext>
            </a:extLst>
          </p:cNvPr>
          <p:cNvSpPr>
            <a:spLocks noGrp="1"/>
          </p:cNvSpPr>
          <p:nvPr>
            <p:ph type="ctrTitle"/>
          </p:nvPr>
        </p:nvSpPr>
        <p:spPr>
          <a:xfrm>
            <a:off x="5947410" y="4833113"/>
            <a:ext cx="6518910" cy="561848"/>
          </a:xfrm>
        </p:spPr>
        <p:txBody>
          <a:bodyPr anchor="b">
            <a:noAutofit/>
          </a:bodyPr>
          <a:lstStyle/>
          <a:p>
            <a:pPr algn="l"/>
            <a:r>
              <a:rPr lang="ar-SA" sz="3600" dirty="0"/>
              <a:t>تحليل السلسلة الزمنية للرحلات الواصلة</a:t>
            </a:r>
          </a:p>
        </p:txBody>
      </p:sp>
      <p:pic>
        <p:nvPicPr>
          <p:cNvPr id="5" name="صورة 4">
            <a:extLst>
              <a:ext uri="{FF2B5EF4-FFF2-40B4-BE49-F238E27FC236}">
                <a16:creationId xmlns:a16="http://schemas.microsoft.com/office/drawing/2014/main" id="{2A512F5A-E348-0483-E76B-21B9521D62CC}"/>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12375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E9A1427-3F01-D299-1B5E-2C232ACC9C6B}"/>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2F025F73-46F8-B52B-987F-F714A47D6893}"/>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B46DED2C-87A1-C23A-BF7F-9ED64C6E1526}"/>
              </a:ext>
            </a:extLst>
          </p:cNvPr>
          <p:cNvSpPr>
            <a:spLocks noGrp="1"/>
          </p:cNvSpPr>
          <p:nvPr>
            <p:ph type="title"/>
          </p:nvPr>
        </p:nvSpPr>
        <p:spPr>
          <a:xfrm>
            <a:off x="802640" y="0"/>
            <a:ext cx="10552747" cy="1048861"/>
          </a:xfrm>
        </p:spPr>
        <p:txBody>
          <a:bodyPr/>
          <a:lstStyle/>
          <a:p>
            <a:r>
              <a:rPr lang="ar-SA"/>
              <a:t>اختبار الاستقرار للسلسلة الزمنية</a:t>
            </a:r>
            <a:endParaRPr lang="ar-SA" dirty="0"/>
          </a:p>
        </p:txBody>
      </p:sp>
      <p:sp>
        <p:nvSpPr>
          <p:cNvPr id="10" name="عنصر نائب للنص 9">
            <a:extLst>
              <a:ext uri="{FF2B5EF4-FFF2-40B4-BE49-F238E27FC236}">
                <a16:creationId xmlns:a16="http://schemas.microsoft.com/office/drawing/2014/main" id="{95F939F1-D351-1ED7-AEC1-A39B9A6782F6}"/>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t>يمكن اختبار الاستقرار للسلسلة الزمنية عن طريق اختبار </a:t>
            </a:r>
            <a:r>
              <a:rPr lang="en-US" sz="1800" dirty="0"/>
              <a:t>Dickey-Fuller</a:t>
            </a: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r>
              <a:rPr lang="ar-SA" sz="1800" dirty="0"/>
              <a:t>الفرضية الصفرية = البيانات غير مستقرة</a:t>
            </a:r>
          </a:p>
          <a:p>
            <a:pPr marL="285750" indent="-285750">
              <a:buFont typeface="Arial" panose="020B0604020202020204" pitchFamily="34" charset="0"/>
              <a:buChar char="•"/>
            </a:pPr>
            <a:r>
              <a:rPr lang="ar-SA" sz="1800" dirty="0"/>
              <a:t>الفرضية البديلة = البيانات مسقرة</a:t>
            </a:r>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بما ان قيمة </a:t>
            </a:r>
            <a:r>
              <a:rPr lang="en-US" sz="1800" dirty="0">
                <a:effectLst/>
                <a:latin typeface="Times New Roman" panose="02020603050405020304" pitchFamily="18" charset="0"/>
                <a:ea typeface="Aptos" panose="020B0004020202020204" pitchFamily="34" charset="0"/>
                <a:cs typeface="Arial" panose="020B0604020202020204" pitchFamily="34" charset="0"/>
              </a:rPr>
              <a:t>p value = 0.814 </a:t>
            </a:r>
            <a:r>
              <a:rPr lang="ar-SA" sz="1800" dirty="0">
                <a:effectLst/>
                <a:latin typeface="Times New Roman" panose="02020603050405020304" pitchFamily="18" charset="0"/>
                <a:ea typeface="Aptos" panose="020B0004020202020204" pitchFamily="34" charset="0"/>
                <a:cs typeface="Arial" panose="020B0604020202020204" pitchFamily="34" charset="0"/>
              </a:rPr>
              <a:t> أكبر من </a:t>
            </a:r>
            <a:r>
              <a:rPr lang="en-US" sz="1800" dirty="0">
                <a:effectLst/>
                <a:latin typeface="Times New Roman" panose="02020603050405020304" pitchFamily="18" charset="0"/>
                <a:ea typeface="Aptos" panose="020B0004020202020204" pitchFamily="34" charset="0"/>
                <a:cs typeface="Arial" panose="020B0604020202020204" pitchFamily="34" charset="0"/>
              </a:rPr>
              <a:t>0.05</a:t>
            </a:r>
            <a:r>
              <a:rPr lang="ar-SA" sz="1800" dirty="0">
                <a:effectLst/>
                <a:latin typeface="Aptos" panose="020B0004020202020204" pitchFamily="34" charset="0"/>
                <a:ea typeface="Aptos" panose="020B0004020202020204" pitchFamily="34" charset="0"/>
                <a:cs typeface="Times New Roman" panose="02020603050405020304" pitchFamily="18" charset="0"/>
              </a:rPr>
              <a:t> فإننا نقبل الفرضية الصفرية ونقر بان البيانات غير مستقرة.</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effectLst/>
                <a:ea typeface="Aptos" panose="020B0004020202020204" pitchFamily="34" charset="0"/>
                <a:cs typeface="Times New Roman" panose="02020603050405020304" pitchFamily="18" charset="0"/>
              </a:rPr>
              <a:t>كما نلاحظ في الشكل البياني السابق ان الاتجاه في تصاعد والمتوسط غير ثابت بسبب وجود مركبة اتجاه متزايدة واضحة هذا يعني ان التباين غير مستقر والسلسلة الزمنية غير ثابته</a:t>
            </a:r>
            <a:endParaRPr lang="ar-SA" sz="1800" dirty="0"/>
          </a:p>
        </p:txBody>
      </p:sp>
      <p:graphicFrame>
        <p:nvGraphicFramePr>
          <p:cNvPr id="5" name="جدول 4">
            <a:extLst>
              <a:ext uri="{FF2B5EF4-FFF2-40B4-BE49-F238E27FC236}">
                <a16:creationId xmlns:a16="http://schemas.microsoft.com/office/drawing/2014/main" id="{4E4CA520-F4BF-CE7B-7513-94A54E782A0A}"/>
              </a:ext>
            </a:extLst>
          </p:cNvPr>
          <p:cNvGraphicFramePr>
            <a:graphicFrameLocks noGrp="1"/>
          </p:cNvGraphicFramePr>
          <p:nvPr>
            <p:extLst>
              <p:ext uri="{D42A27DB-BD31-4B8C-83A1-F6EECF244321}">
                <p14:modId xmlns:p14="http://schemas.microsoft.com/office/powerpoint/2010/main" val="2397626172"/>
              </p:ext>
            </p:extLst>
          </p:nvPr>
        </p:nvGraphicFramePr>
        <p:xfrm>
          <a:off x="2314257" y="2086799"/>
          <a:ext cx="5534949" cy="1735711"/>
        </p:xfrm>
        <a:graphic>
          <a:graphicData uri="http://schemas.openxmlformats.org/drawingml/2006/table">
            <a:tbl>
              <a:tblPr>
                <a:tableStyleId>{5C22544A-7EE6-4342-B048-85BDC9FD1C3A}</a:tableStyleId>
              </a:tblPr>
              <a:tblGrid>
                <a:gridCol w="1010115">
                  <a:extLst>
                    <a:ext uri="{9D8B030D-6E8A-4147-A177-3AD203B41FA5}">
                      <a16:colId xmlns:a16="http://schemas.microsoft.com/office/drawing/2014/main" val="1281661799"/>
                    </a:ext>
                  </a:extLst>
                </a:gridCol>
                <a:gridCol w="993110">
                  <a:extLst>
                    <a:ext uri="{9D8B030D-6E8A-4147-A177-3AD203B41FA5}">
                      <a16:colId xmlns:a16="http://schemas.microsoft.com/office/drawing/2014/main" val="2774451112"/>
                    </a:ext>
                  </a:extLst>
                </a:gridCol>
                <a:gridCol w="46998">
                  <a:extLst>
                    <a:ext uri="{9D8B030D-6E8A-4147-A177-3AD203B41FA5}">
                      <a16:colId xmlns:a16="http://schemas.microsoft.com/office/drawing/2014/main" val="189104294"/>
                    </a:ext>
                  </a:extLst>
                </a:gridCol>
                <a:gridCol w="2088931">
                  <a:extLst>
                    <a:ext uri="{9D8B030D-6E8A-4147-A177-3AD203B41FA5}">
                      <a16:colId xmlns:a16="http://schemas.microsoft.com/office/drawing/2014/main" val="1966620441"/>
                    </a:ext>
                  </a:extLst>
                </a:gridCol>
                <a:gridCol w="1395795">
                  <a:extLst>
                    <a:ext uri="{9D8B030D-6E8A-4147-A177-3AD203B41FA5}">
                      <a16:colId xmlns:a16="http://schemas.microsoft.com/office/drawing/2014/main" val="1385073140"/>
                    </a:ext>
                  </a:extLst>
                </a:gridCol>
              </a:tblGrid>
              <a:tr h="185420">
                <a:tc gridSpan="3">
                  <a:txBody>
                    <a:bodyPr/>
                    <a:lstStyle/>
                    <a:p>
                      <a:pPr algn="l" rtl="1">
                        <a:lnSpc>
                          <a:spcPct val="150000"/>
                        </a:lnSpc>
                        <a:spcAft>
                          <a:spcPts val="800"/>
                        </a:spcAft>
                      </a:pPr>
                      <a:r>
                        <a:rPr lang="en-US" sz="1100" dirty="0">
                          <a:effectLst/>
                        </a:rPr>
                        <a:t>Null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100">
                          <a:effectLst/>
                        </a:rPr>
                        <a:t>Data are non-stationary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07000"/>
                        </a:lnSpc>
                        <a:spcAft>
                          <a:spcPts val="800"/>
                        </a:spcAft>
                      </a:pPr>
                      <a:r>
                        <a:rPr lang="en-US" sz="1100" dirty="0">
                          <a:effectLst/>
                        </a:rPr>
                        <a:t> </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79196878"/>
                  </a:ext>
                </a:extLst>
              </a:tr>
              <a:tr h="197485">
                <a:tc gridSpan="3">
                  <a:txBody>
                    <a:bodyPr/>
                    <a:lstStyle/>
                    <a:p>
                      <a:pPr algn="l" rtl="1">
                        <a:lnSpc>
                          <a:spcPct val="150000"/>
                        </a:lnSpc>
                        <a:spcAft>
                          <a:spcPts val="800"/>
                        </a:spcAft>
                      </a:pPr>
                      <a:r>
                        <a:rPr lang="en-US" sz="1100" dirty="0">
                          <a:effectLst/>
                        </a:rPr>
                        <a:t>Alternative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100" dirty="0">
                          <a:effectLst/>
                        </a:rPr>
                        <a:t>Data are stationary</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482078653"/>
                  </a:ext>
                </a:extLst>
              </a:tr>
              <a:tr h="382905">
                <a:tc>
                  <a:txBody>
                    <a:bodyPr/>
                    <a:lstStyle/>
                    <a:p>
                      <a:pPr algn="l" rtl="1">
                        <a:lnSpc>
                          <a:spcPct val="150000"/>
                        </a:lnSpc>
                        <a:spcAft>
                          <a:spcPts val="800"/>
                        </a:spcAft>
                      </a:pPr>
                      <a:r>
                        <a:rPr lang="en-US" sz="800">
                          <a:effectLst/>
                        </a:rPr>
                        <a:t>Test</a:t>
                      </a:r>
                      <a:br>
                        <a:rPr lang="en-US" sz="800">
                          <a:effectLst/>
                        </a:rPr>
                      </a:br>
                      <a:r>
                        <a:rPr lang="en-US" sz="800">
                          <a:effectLst/>
                        </a:rPr>
                        <a:t>Statistic</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800" dirty="0">
                          <a:effectLst/>
                        </a:rPr>
                        <a:t>P-Value</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3">
                  <a:txBody>
                    <a:bodyPr/>
                    <a:lstStyle/>
                    <a:p>
                      <a:pPr algn="l" rtl="1">
                        <a:lnSpc>
                          <a:spcPct val="150000"/>
                        </a:lnSpc>
                        <a:spcAft>
                          <a:spcPts val="800"/>
                        </a:spcAft>
                      </a:pPr>
                      <a:r>
                        <a:rPr lang="en-US" sz="800" dirty="0">
                          <a:effectLst/>
                        </a:rPr>
                        <a:t>Recommendation</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851589811"/>
                  </a:ext>
                </a:extLst>
              </a:tr>
              <a:tr h="185420">
                <a:tc>
                  <a:txBody>
                    <a:bodyPr/>
                    <a:lstStyle/>
                    <a:p>
                      <a:pPr algn="l" rtl="1">
                        <a:lnSpc>
                          <a:spcPct val="150000"/>
                        </a:lnSpc>
                        <a:spcAft>
                          <a:spcPts val="800"/>
                        </a:spcAft>
                      </a:pPr>
                      <a:r>
                        <a:rPr lang="en-US" sz="1000">
                          <a:effectLst/>
                        </a:rPr>
                        <a:t>-0.816871</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000">
                          <a:effectLst/>
                        </a:rPr>
                        <a:t>0.814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3">
                  <a:txBody>
                    <a:bodyPr/>
                    <a:lstStyle/>
                    <a:p>
                      <a:pPr algn="l" rtl="1">
                        <a:lnSpc>
                          <a:spcPct val="150000"/>
                        </a:lnSpc>
                        <a:spcAft>
                          <a:spcPts val="800"/>
                        </a:spcAft>
                      </a:pPr>
                      <a:r>
                        <a:rPr lang="en-US" sz="1000" dirty="0">
                          <a:effectLst/>
                        </a:rPr>
                        <a:t>Test statistic &gt; critical value of -2.93330.</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919873791"/>
                  </a:ext>
                </a:extLst>
              </a:tr>
              <a:tr h="185420">
                <a:tc>
                  <a:txBody>
                    <a:bodyPr/>
                    <a:lstStyle/>
                    <a:p>
                      <a:pPr algn="l" rtl="1">
                        <a:lnSpc>
                          <a:spcPct val="150000"/>
                        </a:lnSpc>
                        <a:spcAft>
                          <a:spcPts val="800"/>
                        </a:spcAft>
                      </a:pPr>
                      <a:r>
                        <a:rPr lang="en-US" sz="10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0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000" dirty="0">
                          <a:effectLst/>
                        </a:rPr>
                        <a:t>Significance level = 0.05</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744020075"/>
                  </a:ext>
                </a:extLst>
              </a:tr>
              <a:tr h="197485">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000" dirty="0">
                          <a:effectLst/>
                        </a:rPr>
                        <a:t>Fail to reject null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516308795"/>
                  </a:ext>
                </a:extLst>
              </a:tr>
              <a:tr h="185420">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000" dirty="0">
                          <a:effectLst/>
                        </a:rPr>
                        <a:t>Consider differencing to make data stationary.</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073579360"/>
                  </a:ext>
                </a:extLst>
              </a:tr>
            </a:tbl>
          </a:graphicData>
        </a:graphic>
      </p:graphicFrame>
      <p:pic>
        <p:nvPicPr>
          <p:cNvPr id="8" name="صورة 7">
            <a:extLst>
              <a:ext uri="{FF2B5EF4-FFF2-40B4-BE49-F238E27FC236}">
                <a16:creationId xmlns:a16="http://schemas.microsoft.com/office/drawing/2014/main" id="{62FCE62A-1CF2-CA43-67A9-E935CC50FEE7}"/>
              </a:ext>
            </a:extLst>
          </p:cNvPr>
          <p:cNvPicPr>
            <a:picLocks noChangeAspect="1"/>
          </p:cNvPicPr>
          <p:nvPr/>
        </p:nvPicPr>
        <p:blipFill>
          <a:blip r:embed="rId3"/>
          <a:stretch>
            <a:fillRect/>
          </a:stretch>
        </p:blipFill>
        <p:spPr>
          <a:xfrm>
            <a:off x="2654320" y="4029588"/>
            <a:ext cx="3932237" cy="2621333"/>
          </a:xfrm>
          <a:prstGeom prst="rect">
            <a:avLst/>
          </a:prstGeom>
        </p:spPr>
      </p:pic>
      <p:sp>
        <p:nvSpPr>
          <p:cNvPr id="9" name="مربع نص 8">
            <a:extLst>
              <a:ext uri="{FF2B5EF4-FFF2-40B4-BE49-F238E27FC236}">
                <a16:creationId xmlns:a16="http://schemas.microsoft.com/office/drawing/2014/main" id="{56C6BE04-B916-A6E0-0A5E-42483CA38E45}"/>
              </a:ext>
            </a:extLst>
          </p:cNvPr>
          <p:cNvSpPr txBox="1"/>
          <p:nvPr/>
        </p:nvSpPr>
        <p:spPr>
          <a:xfrm>
            <a:off x="2158534" y="1621094"/>
            <a:ext cx="323088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Augmented Dickey-Fuller Test</a:t>
            </a:r>
            <a:endParaRPr lang="en-US" sz="28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452498235"/>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6BBA8E1-00D5-D59D-762B-D31257269F23}"/>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7FB0C86E-C1F0-D498-1A6F-2097C6B14CC8}"/>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175EACEC-4CC6-8966-C3D3-204130BDFBF4}"/>
              </a:ext>
            </a:extLst>
          </p:cNvPr>
          <p:cNvSpPr>
            <a:spLocks noGrp="1"/>
          </p:cNvSpPr>
          <p:nvPr>
            <p:ph type="title"/>
          </p:nvPr>
        </p:nvSpPr>
        <p:spPr>
          <a:xfrm>
            <a:off x="802640" y="0"/>
            <a:ext cx="10552747" cy="1048861"/>
          </a:xfrm>
        </p:spPr>
        <p:txBody>
          <a:bodyPr/>
          <a:lstStyle/>
          <a:p>
            <a:r>
              <a:rPr lang="ar-SA"/>
              <a:t>اختبار الاستقرار للسلسلة الزمنية</a:t>
            </a:r>
            <a:endParaRPr lang="ar-SA" dirty="0"/>
          </a:p>
        </p:txBody>
      </p:sp>
      <p:sp>
        <p:nvSpPr>
          <p:cNvPr id="10" name="عنصر نائب للنص 9">
            <a:extLst>
              <a:ext uri="{FF2B5EF4-FFF2-40B4-BE49-F238E27FC236}">
                <a16:creationId xmlns:a16="http://schemas.microsoft.com/office/drawing/2014/main" id="{4CA21D24-B780-8291-1EF8-34D2348DAFB4}"/>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t>يمكننا ان نحسب الفروق بين القيم لجعل البيانات مستقرة.</a:t>
            </a:r>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r>
              <a:rPr lang="ar-SA" sz="1800" dirty="0"/>
              <a:t>الفرضية الصفرية = البيانات غير مستقرة</a:t>
            </a:r>
          </a:p>
          <a:p>
            <a:pPr marL="285750" indent="-285750">
              <a:buFont typeface="Arial" panose="020B0604020202020204" pitchFamily="34" charset="0"/>
              <a:buChar char="•"/>
            </a:pPr>
            <a:r>
              <a:rPr lang="ar-SA" sz="1800" dirty="0"/>
              <a:t>الفرضية البديلة = البيانات المستقرة</a:t>
            </a:r>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بما ان قيمة </a:t>
            </a:r>
            <a:r>
              <a:rPr lang="en-US" sz="1800" dirty="0">
                <a:effectLst/>
                <a:latin typeface="Times New Roman" panose="02020603050405020304" pitchFamily="18" charset="0"/>
                <a:ea typeface="Aptos" panose="020B0004020202020204" pitchFamily="34" charset="0"/>
                <a:cs typeface="Arial" panose="020B0604020202020204" pitchFamily="34" charset="0"/>
              </a:rPr>
              <a:t>p value = 0.000</a:t>
            </a:r>
            <a:r>
              <a:rPr lang="ar-SA" sz="1800" dirty="0">
                <a:effectLst/>
                <a:latin typeface="Aptos" panose="020B0004020202020204" pitchFamily="34" charset="0"/>
                <a:ea typeface="Aptos" panose="020B0004020202020204" pitchFamily="34" charset="0"/>
                <a:cs typeface="Times New Roman" panose="02020603050405020304" pitchFamily="18" charset="0"/>
              </a:rPr>
              <a:t> وهي اقل من </a:t>
            </a:r>
            <a:r>
              <a:rPr lang="en-US" sz="1800" dirty="0">
                <a:effectLst/>
                <a:latin typeface="Times New Roman" panose="02020603050405020304" pitchFamily="18" charset="0"/>
                <a:ea typeface="Aptos" panose="020B0004020202020204" pitchFamily="34" charset="0"/>
                <a:cs typeface="Arial" panose="020B0604020202020204" pitchFamily="34" charset="0"/>
              </a:rPr>
              <a:t>0.05</a:t>
            </a:r>
            <a:r>
              <a:rPr lang="ar-SA" sz="1800" dirty="0">
                <a:effectLst/>
                <a:latin typeface="Aptos" panose="020B0004020202020204" pitchFamily="34" charset="0"/>
                <a:ea typeface="Aptos" panose="020B0004020202020204" pitchFamily="34" charset="0"/>
                <a:cs typeface="Times New Roman" panose="02020603050405020304" pitchFamily="18" charset="0"/>
              </a:rPr>
              <a:t> فإننا نرفض الفرضية الصفرية ونقر بان البيانات مستقرة.</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كما نلاحظ من الشكل تحسن في ثبات السلسلة من ناحية المتوسط والتباين ولا توجد مركبة متزايدة على مستوى السلسلة، مما يعني ان السلسلة مستقرة.</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graphicFrame>
        <p:nvGraphicFramePr>
          <p:cNvPr id="2" name="جدول 1">
            <a:extLst>
              <a:ext uri="{FF2B5EF4-FFF2-40B4-BE49-F238E27FC236}">
                <a16:creationId xmlns:a16="http://schemas.microsoft.com/office/drawing/2014/main" id="{5B7562FD-6727-20D6-69F7-4939D26CBFDB}"/>
              </a:ext>
            </a:extLst>
          </p:cNvPr>
          <p:cNvGraphicFramePr>
            <a:graphicFrameLocks noGrp="1"/>
          </p:cNvGraphicFramePr>
          <p:nvPr>
            <p:extLst>
              <p:ext uri="{D42A27DB-BD31-4B8C-83A1-F6EECF244321}">
                <p14:modId xmlns:p14="http://schemas.microsoft.com/office/powerpoint/2010/main" val="1025000100"/>
              </p:ext>
            </p:extLst>
          </p:nvPr>
        </p:nvGraphicFramePr>
        <p:xfrm>
          <a:off x="2101228" y="2099601"/>
          <a:ext cx="5534949" cy="1750289"/>
        </p:xfrm>
        <a:graphic>
          <a:graphicData uri="http://schemas.openxmlformats.org/drawingml/2006/table">
            <a:tbl>
              <a:tblPr>
                <a:tableStyleId>{5C22544A-7EE6-4342-B048-85BDC9FD1C3A}</a:tableStyleId>
              </a:tblPr>
              <a:tblGrid>
                <a:gridCol w="874644">
                  <a:extLst>
                    <a:ext uri="{9D8B030D-6E8A-4147-A177-3AD203B41FA5}">
                      <a16:colId xmlns:a16="http://schemas.microsoft.com/office/drawing/2014/main" val="3537190421"/>
                    </a:ext>
                  </a:extLst>
                </a:gridCol>
                <a:gridCol w="859832">
                  <a:extLst>
                    <a:ext uri="{9D8B030D-6E8A-4147-A177-3AD203B41FA5}">
                      <a16:colId xmlns:a16="http://schemas.microsoft.com/office/drawing/2014/main" val="9447948"/>
                    </a:ext>
                  </a:extLst>
                </a:gridCol>
                <a:gridCol w="45143">
                  <a:extLst>
                    <a:ext uri="{9D8B030D-6E8A-4147-A177-3AD203B41FA5}">
                      <a16:colId xmlns:a16="http://schemas.microsoft.com/office/drawing/2014/main" val="4179369243"/>
                    </a:ext>
                  </a:extLst>
                </a:gridCol>
                <a:gridCol w="1808540">
                  <a:extLst>
                    <a:ext uri="{9D8B030D-6E8A-4147-A177-3AD203B41FA5}">
                      <a16:colId xmlns:a16="http://schemas.microsoft.com/office/drawing/2014/main" val="1320178073"/>
                    </a:ext>
                  </a:extLst>
                </a:gridCol>
                <a:gridCol w="1946790">
                  <a:extLst>
                    <a:ext uri="{9D8B030D-6E8A-4147-A177-3AD203B41FA5}">
                      <a16:colId xmlns:a16="http://schemas.microsoft.com/office/drawing/2014/main" val="778917558"/>
                    </a:ext>
                  </a:extLst>
                </a:gridCol>
              </a:tblGrid>
              <a:tr h="212009">
                <a:tc gridSpan="3">
                  <a:txBody>
                    <a:bodyPr/>
                    <a:lstStyle/>
                    <a:p>
                      <a:pPr algn="l" rtl="1">
                        <a:lnSpc>
                          <a:spcPct val="150000"/>
                        </a:lnSpc>
                        <a:spcAft>
                          <a:spcPts val="800"/>
                        </a:spcAft>
                      </a:pPr>
                      <a:r>
                        <a:rPr lang="en-US" sz="1000" dirty="0">
                          <a:effectLst/>
                        </a:rPr>
                        <a:t>Null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000">
                          <a:effectLst/>
                        </a:rPr>
                        <a:t>Data are non-stationary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977898277"/>
                  </a:ext>
                </a:extLst>
              </a:tr>
              <a:tr h="225222">
                <a:tc gridSpan="3">
                  <a:txBody>
                    <a:bodyPr/>
                    <a:lstStyle/>
                    <a:p>
                      <a:pPr algn="l" rtl="1">
                        <a:lnSpc>
                          <a:spcPct val="150000"/>
                        </a:lnSpc>
                        <a:spcAft>
                          <a:spcPts val="800"/>
                        </a:spcAft>
                      </a:pPr>
                      <a:r>
                        <a:rPr lang="en-US" sz="1000" dirty="0">
                          <a:effectLst/>
                        </a:rPr>
                        <a:t>Alternative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000">
                          <a:effectLst/>
                        </a:rPr>
                        <a:t>Data are 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07000"/>
                        </a:lnSpc>
                        <a:spcAft>
                          <a:spcPts val="800"/>
                        </a:spcAft>
                      </a:pPr>
                      <a:r>
                        <a:rPr lang="en-US" sz="1100" dirty="0">
                          <a:effectLst/>
                        </a:rPr>
                        <a:t> </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009659799"/>
                  </a:ext>
                </a:extLst>
              </a:tr>
              <a:tr h="437231">
                <a:tc>
                  <a:txBody>
                    <a:bodyPr/>
                    <a:lstStyle/>
                    <a:p>
                      <a:pPr algn="l" rtl="1">
                        <a:lnSpc>
                          <a:spcPct val="150000"/>
                        </a:lnSpc>
                        <a:spcAft>
                          <a:spcPts val="800"/>
                        </a:spcAft>
                      </a:pPr>
                      <a:r>
                        <a:rPr lang="en-US" sz="1000">
                          <a:effectLst/>
                        </a:rPr>
                        <a:t>Test</a:t>
                      </a:r>
                      <a:br>
                        <a:rPr lang="en-US" sz="1000">
                          <a:effectLst/>
                        </a:rPr>
                      </a:br>
                      <a:r>
                        <a:rPr lang="en-US" sz="1000">
                          <a:effectLst/>
                        </a:rPr>
                        <a:t>Statistic</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000">
                          <a:effectLst/>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3">
                  <a:txBody>
                    <a:bodyPr/>
                    <a:lstStyle/>
                    <a:p>
                      <a:pPr algn="l" rtl="1">
                        <a:lnSpc>
                          <a:spcPct val="150000"/>
                        </a:lnSpc>
                        <a:spcAft>
                          <a:spcPts val="800"/>
                        </a:spcAft>
                      </a:pPr>
                      <a:r>
                        <a:rPr lang="en-US" sz="1000" dirty="0">
                          <a:effectLst/>
                        </a:rPr>
                        <a:t>Recommendation</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3078069"/>
                  </a:ext>
                </a:extLst>
              </a:tr>
              <a:tr h="212009">
                <a:tc>
                  <a:txBody>
                    <a:bodyPr/>
                    <a:lstStyle/>
                    <a:p>
                      <a:pPr algn="l" rtl="1">
                        <a:lnSpc>
                          <a:spcPct val="150000"/>
                        </a:lnSpc>
                        <a:spcAft>
                          <a:spcPts val="800"/>
                        </a:spcAft>
                      </a:pPr>
                      <a:r>
                        <a:rPr lang="en-US" sz="1000">
                          <a:effectLst/>
                        </a:rPr>
                        <a:t>-10.2308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000">
                          <a:effectLst/>
                        </a:rPr>
                        <a:t>0.000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3">
                  <a:txBody>
                    <a:bodyPr/>
                    <a:lstStyle/>
                    <a:p>
                      <a:pPr algn="l" rtl="1">
                        <a:lnSpc>
                          <a:spcPct val="150000"/>
                        </a:lnSpc>
                        <a:spcAft>
                          <a:spcPts val="800"/>
                        </a:spcAft>
                      </a:pPr>
                      <a:r>
                        <a:rPr lang="en-US" sz="1000" dirty="0">
                          <a:effectLst/>
                        </a:rPr>
                        <a:t>Test statistic &lt;= critical value of -2.93330.</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502639480"/>
                  </a:ext>
                </a:extLst>
              </a:tr>
              <a:tr h="212009">
                <a:tc>
                  <a:txBody>
                    <a:bodyPr/>
                    <a:lstStyle/>
                    <a:p>
                      <a:pPr algn="l" rtl="1">
                        <a:lnSpc>
                          <a:spcPct val="150000"/>
                        </a:lnSpc>
                        <a:spcAft>
                          <a:spcPts val="800"/>
                        </a:spcAft>
                      </a:pPr>
                      <a:r>
                        <a:rPr lang="en-US" sz="10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0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000" dirty="0">
                          <a:effectLst/>
                        </a:rPr>
                        <a:t>Significance level = 0.05</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506402480"/>
                  </a:ext>
                </a:extLst>
              </a:tr>
              <a:tr h="225222">
                <a:tc>
                  <a:txBody>
                    <a:bodyPr/>
                    <a:lstStyle/>
                    <a:p>
                      <a:pPr algn="l" rtl="1">
                        <a:lnSpc>
                          <a:spcPct val="150000"/>
                        </a:lnSpc>
                        <a:spcAft>
                          <a:spcPts val="800"/>
                        </a:spcAft>
                      </a:pPr>
                      <a:r>
                        <a:rPr lang="en-US" sz="10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0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000" dirty="0">
                          <a:effectLst/>
                        </a:rPr>
                        <a:t>Reject null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633906942"/>
                  </a:ext>
                </a:extLst>
              </a:tr>
              <a:tr h="212009">
                <a:tc>
                  <a:txBody>
                    <a:bodyPr/>
                    <a:lstStyle/>
                    <a:p>
                      <a:pPr algn="l" rtl="1">
                        <a:lnSpc>
                          <a:spcPct val="150000"/>
                        </a:lnSpc>
                        <a:spcAft>
                          <a:spcPts val="800"/>
                        </a:spcAft>
                      </a:pPr>
                      <a:r>
                        <a:rPr lang="en-US" sz="10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0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000" dirty="0">
                          <a:effectLst/>
                        </a:rPr>
                        <a:t>Data appears to be stationary, not supporting differencing.</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088131279"/>
                  </a:ext>
                </a:extLst>
              </a:tr>
            </a:tbl>
          </a:graphicData>
        </a:graphic>
      </p:graphicFrame>
      <p:pic>
        <p:nvPicPr>
          <p:cNvPr id="3" name="صورة 2" descr="Time Series Plot of Diff TOF">
            <a:extLst>
              <a:ext uri="{FF2B5EF4-FFF2-40B4-BE49-F238E27FC236}">
                <a16:creationId xmlns:a16="http://schemas.microsoft.com/office/drawing/2014/main" id="{1204FAE2-B141-0128-9371-BF9967E2091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02585" y="4041105"/>
            <a:ext cx="3932237" cy="2625679"/>
          </a:xfrm>
          <a:prstGeom prst="rect">
            <a:avLst/>
          </a:prstGeom>
          <a:noFill/>
          <a:ln>
            <a:noFill/>
          </a:ln>
        </p:spPr>
      </p:pic>
      <p:sp>
        <p:nvSpPr>
          <p:cNvPr id="6" name="مربع نص 5">
            <a:extLst>
              <a:ext uri="{FF2B5EF4-FFF2-40B4-BE49-F238E27FC236}">
                <a16:creationId xmlns:a16="http://schemas.microsoft.com/office/drawing/2014/main" id="{63BA4F32-27C1-2642-61E8-690C6ECC1CBE}"/>
              </a:ext>
            </a:extLst>
          </p:cNvPr>
          <p:cNvSpPr txBox="1"/>
          <p:nvPr/>
        </p:nvSpPr>
        <p:spPr>
          <a:xfrm>
            <a:off x="2011838" y="1633896"/>
            <a:ext cx="323088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Augmented Dickey-Fuller Test</a:t>
            </a:r>
            <a:endParaRPr lang="en-US" sz="28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330204893"/>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054477B-6816-0D5F-829F-8C793F8772D0}"/>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95F64922-1F59-AA36-0F38-98D55235CCF0}"/>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B47B7A1E-A38E-11BC-E289-ED02E52FD63D}"/>
              </a:ext>
            </a:extLst>
          </p:cNvPr>
          <p:cNvSpPr>
            <a:spLocks noGrp="1"/>
          </p:cNvSpPr>
          <p:nvPr>
            <p:ph type="title"/>
          </p:nvPr>
        </p:nvSpPr>
        <p:spPr>
          <a:xfrm>
            <a:off x="802640" y="0"/>
            <a:ext cx="10552747" cy="1048861"/>
          </a:xfrm>
        </p:spPr>
        <p:txBody>
          <a:bodyPr/>
          <a:lstStyle/>
          <a:p>
            <a:r>
              <a:rPr lang="ar-SA" dirty="0"/>
              <a:t>دوال الارتباط الذاتية لتحديد النموذج</a:t>
            </a:r>
          </a:p>
        </p:txBody>
      </p:sp>
      <p:sp>
        <p:nvSpPr>
          <p:cNvPr id="10" name="عنصر نائب للنص 9">
            <a:extLst>
              <a:ext uri="{FF2B5EF4-FFF2-40B4-BE49-F238E27FC236}">
                <a16:creationId xmlns:a16="http://schemas.microsoft.com/office/drawing/2014/main" id="{A144696A-9164-D483-5307-384ADB015A7F}"/>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pic>
        <p:nvPicPr>
          <p:cNvPr id="5" name="صورة 4" descr="Autocorrelation for Diff TOF">
            <a:extLst>
              <a:ext uri="{FF2B5EF4-FFF2-40B4-BE49-F238E27FC236}">
                <a16:creationId xmlns:a16="http://schemas.microsoft.com/office/drawing/2014/main" id="{4C781684-77DA-61A8-0FEC-84E9745516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43346" y="1976720"/>
            <a:ext cx="4770120" cy="3185160"/>
          </a:xfrm>
          <a:prstGeom prst="rect">
            <a:avLst/>
          </a:prstGeom>
          <a:noFill/>
          <a:ln>
            <a:noFill/>
          </a:ln>
        </p:spPr>
      </p:pic>
      <p:pic>
        <p:nvPicPr>
          <p:cNvPr id="6" name="صورة 5" descr="Partial Autocorrelation for Diff TOF">
            <a:extLst>
              <a:ext uri="{FF2B5EF4-FFF2-40B4-BE49-F238E27FC236}">
                <a16:creationId xmlns:a16="http://schemas.microsoft.com/office/drawing/2014/main" id="{7531D8E1-24AE-3424-4218-156EA775F50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6633" y="1976720"/>
            <a:ext cx="4770120" cy="3185160"/>
          </a:xfrm>
          <a:prstGeom prst="rect">
            <a:avLst/>
          </a:prstGeom>
          <a:noFill/>
          <a:ln>
            <a:noFill/>
          </a:ln>
        </p:spPr>
      </p:pic>
      <p:sp>
        <p:nvSpPr>
          <p:cNvPr id="8" name="مربع نص 7">
            <a:extLst>
              <a:ext uri="{FF2B5EF4-FFF2-40B4-BE49-F238E27FC236}">
                <a16:creationId xmlns:a16="http://schemas.microsoft.com/office/drawing/2014/main" id="{EACFADE2-D0D9-8F86-2061-418562A72095}"/>
              </a:ext>
            </a:extLst>
          </p:cNvPr>
          <p:cNvSpPr txBox="1"/>
          <p:nvPr/>
        </p:nvSpPr>
        <p:spPr>
          <a:xfrm>
            <a:off x="6586557" y="1341120"/>
            <a:ext cx="4528483" cy="369332"/>
          </a:xfrm>
          <a:prstGeom prst="rect">
            <a:avLst/>
          </a:prstGeom>
          <a:noFill/>
        </p:spPr>
        <p:txBody>
          <a:bodyPr wrap="square" rtlCol="1">
            <a:spAutoFit/>
          </a:bodyPr>
          <a:lstStyle/>
          <a:p>
            <a:pPr marL="285750" indent="-285750">
              <a:buFont typeface="Arial" panose="020B0604020202020204" pitchFamily="34" charset="0"/>
              <a:buChar char="•"/>
            </a:pPr>
            <a:r>
              <a:rPr lang="ar-SA" dirty="0"/>
              <a:t>دالة الارتباط الذاتية</a:t>
            </a:r>
          </a:p>
        </p:txBody>
      </p:sp>
      <p:sp>
        <p:nvSpPr>
          <p:cNvPr id="9" name="مربع نص 8">
            <a:extLst>
              <a:ext uri="{FF2B5EF4-FFF2-40B4-BE49-F238E27FC236}">
                <a16:creationId xmlns:a16="http://schemas.microsoft.com/office/drawing/2014/main" id="{A8FDBB0C-84F6-7FAC-E6F5-EF4E9F97A763}"/>
              </a:ext>
            </a:extLst>
          </p:cNvPr>
          <p:cNvSpPr txBox="1"/>
          <p:nvPr/>
        </p:nvSpPr>
        <p:spPr>
          <a:xfrm>
            <a:off x="924560" y="1351280"/>
            <a:ext cx="4528483" cy="369332"/>
          </a:xfrm>
          <a:prstGeom prst="rect">
            <a:avLst/>
          </a:prstGeom>
          <a:noFill/>
        </p:spPr>
        <p:txBody>
          <a:bodyPr wrap="square" rtlCol="1">
            <a:spAutoFit/>
          </a:bodyPr>
          <a:lstStyle/>
          <a:p>
            <a:pPr marL="285750" indent="-285750">
              <a:buFont typeface="Arial" panose="020B0604020202020204" pitchFamily="34" charset="0"/>
              <a:buChar char="•"/>
            </a:pPr>
            <a:r>
              <a:rPr lang="ar-SA" dirty="0"/>
              <a:t>دالة الارتباط الجزئية الذاتية</a:t>
            </a:r>
          </a:p>
        </p:txBody>
      </p:sp>
      <p:sp>
        <p:nvSpPr>
          <p:cNvPr id="12" name="مربع نص 11">
            <a:extLst>
              <a:ext uri="{FF2B5EF4-FFF2-40B4-BE49-F238E27FC236}">
                <a16:creationId xmlns:a16="http://schemas.microsoft.com/office/drawing/2014/main" id="{6C0E0CDB-8618-0117-D817-A1D15845D4BB}"/>
              </a:ext>
            </a:extLst>
          </p:cNvPr>
          <p:cNvSpPr txBox="1"/>
          <p:nvPr/>
        </p:nvSpPr>
        <p:spPr>
          <a:xfrm>
            <a:off x="2164080" y="5506720"/>
            <a:ext cx="7488397" cy="369332"/>
          </a:xfrm>
          <a:prstGeom prst="rect">
            <a:avLst/>
          </a:prstGeom>
          <a:noFill/>
        </p:spPr>
        <p:txBody>
          <a:bodyPr wrap="square" rtlCol="1">
            <a:spAutoFit/>
          </a:bodyPr>
          <a:lstStyle/>
          <a:p>
            <a:r>
              <a:rPr lang="ar-SA" dirty="0"/>
              <a:t>نلاحظ بأن معظم القيم تقع داخل حدود الثقة الا التأخير الأول بمعنى بأن السلسلة لا تحتاج نموذج معقد.</a:t>
            </a:r>
          </a:p>
        </p:txBody>
      </p:sp>
    </p:spTree>
    <p:extLst>
      <p:ext uri="{BB962C8B-B14F-4D97-AF65-F5344CB8AC3E}">
        <p14:creationId xmlns:p14="http://schemas.microsoft.com/office/powerpoint/2010/main" val="1119704049"/>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E3CBE30-22CE-A6F9-EFD6-57DCA9DBD22E}"/>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BE7F0712-3752-D915-AFE9-7AA5572FA2A1}"/>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8F59A31A-C46C-5BF7-41E6-084B7D1EDDB1}"/>
              </a:ext>
            </a:extLst>
          </p:cNvPr>
          <p:cNvSpPr>
            <a:spLocks noGrp="1"/>
          </p:cNvSpPr>
          <p:nvPr>
            <p:ph type="title"/>
          </p:nvPr>
        </p:nvSpPr>
        <p:spPr>
          <a:xfrm>
            <a:off x="802640" y="-317352"/>
            <a:ext cx="10552747" cy="1048861"/>
          </a:xfrm>
        </p:spPr>
        <p:txBody>
          <a:bodyPr/>
          <a:lstStyle/>
          <a:p>
            <a:r>
              <a:rPr lang="ar-SA" dirty="0"/>
              <a:t>النموذج </a:t>
            </a:r>
            <a:r>
              <a:rPr lang="en-US" dirty="0"/>
              <a:t>ARIMA(0,0,1)</a:t>
            </a:r>
            <a:endParaRPr lang="ar-SA" dirty="0"/>
          </a:p>
        </p:txBody>
      </p:sp>
      <p:sp>
        <p:nvSpPr>
          <p:cNvPr id="10" name="عنصر نائب للنص 9">
            <a:extLst>
              <a:ext uri="{FF2B5EF4-FFF2-40B4-BE49-F238E27FC236}">
                <a16:creationId xmlns:a16="http://schemas.microsoft.com/office/drawing/2014/main" id="{3B139055-7E43-E790-8D99-D544E274468C}"/>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a:effectLst/>
                <a:latin typeface="Aptos" panose="020B0004020202020204" pitchFamily="34" charset="0"/>
                <a:ea typeface="Aptos" panose="020B0004020202020204" pitchFamily="34" charset="0"/>
                <a:cs typeface="Times New Roman" panose="02020603050405020304" pitchFamily="18" charset="0"/>
              </a:rPr>
              <a:t>.</a:t>
            </a:r>
            <a:endParaRPr lang="en-US" sz="180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graphicFrame>
        <p:nvGraphicFramePr>
          <p:cNvPr id="5" name="جدول 4">
            <a:extLst>
              <a:ext uri="{FF2B5EF4-FFF2-40B4-BE49-F238E27FC236}">
                <a16:creationId xmlns:a16="http://schemas.microsoft.com/office/drawing/2014/main" id="{C65C2996-681F-EB6E-FC85-54F5BF684F72}"/>
              </a:ext>
            </a:extLst>
          </p:cNvPr>
          <p:cNvGraphicFramePr>
            <a:graphicFrameLocks noGrp="1"/>
          </p:cNvGraphicFramePr>
          <p:nvPr>
            <p:extLst>
              <p:ext uri="{D42A27DB-BD31-4B8C-83A1-F6EECF244321}">
                <p14:modId xmlns:p14="http://schemas.microsoft.com/office/powerpoint/2010/main" val="2880641987"/>
              </p:ext>
            </p:extLst>
          </p:nvPr>
        </p:nvGraphicFramePr>
        <p:xfrm>
          <a:off x="217758" y="1757680"/>
          <a:ext cx="5776642" cy="1293332"/>
        </p:xfrm>
        <a:graphic>
          <a:graphicData uri="http://schemas.openxmlformats.org/drawingml/2006/table">
            <a:tbl>
              <a:tblPr firstRow="1" bandRow="1">
                <a:tableStyleId>{5C22544A-7EE6-4342-B048-85BDC9FD1C3A}</a:tableStyleId>
              </a:tblPr>
              <a:tblGrid>
                <a:gridCol w="1380108">
                  <a:extLst>
                    <a:ext uri="{9D8B030D-6E8A-4147-A177-3AD203B41FA5}">
                      <a16:colId xmlns:a16="http://schemas.microsoft.com/office/drawing/2014/main" val="1894445681"/>
                    </a:ext>
                  </a:extLst>
                </a:gridCol>
                <a:gridCol w="953088">
                  <a:extLst>
                    <a:ext uri="{9D8B030D-6E8A-4147-A177-3AD203B41FA5}">
                      <a16:colId xmlns:a16="http://schemas.microsoft.com/office/drawing/2014/main" val="2647942939"/>
                    </a:ext>
                  </a:extLst>
                </a:gridCol>
                <a:gridCol w="953088">
                  <a:extLst>
                    <a:ext uri="{9D8B030D-6E8A-4147-A177-3AD203B41FA5}">
                      <a16:colId xmlns:a16="http://schemas.microsoft.com/office/drawing/2014/main" val="2287917988"/>
                    </a:ext>
                  </a:extLst>
                </a:gridCol>
                <a:gridCol w="1237765">
                  <a:extLst>
                    <a:ext uri="{9D8B030D-6E8A-4147-A177-3AD203B41FA5}">
                      <a16:colId xmlns:a16="http://schemas.microsoft.com/office/drawing/2014/main" val="4201154824"/>
                    </a:ext>
                  </a:extLst>
                </a:gridCol>
                <a:gridCol w="1252593">
                  <a:extLst>
                    <a:ext uri="{9D8B030D-6E8A-4147-A177-3AD203B41FA5}">
                      <a16:colId xmlns:a16="http://schemas.microsoft.com/office/drawing/2014/main" val="2548735232"/>
                    </a:ext>
                  </a:extLst>
                </a:gridCol>
              </a:tblGrid>
              <a:tr h="389852">
                <a:tc>
                  <a:txBody>
                    <a:bodyPr/>
                    <a:lstStyle/>
                    <a:p>
                      <a:pPr algn="l" rtl="1">
                        <a:lnSpc>
                          <a:spcPct val="150000"/>
                        </a:lnSpc>
                        <a:spcAft>
                          <a:spcPts val="800"/>
                        </a:spcAft>
                      </a:pPr>
                      <a:r>
                        <a:rPr lang="en-US" sz="1400" dirty="0">
                          <a:effectLst/>
                        </a:rPr>
                        <a:t>Type</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nchor="b"/>
                </a:tc>
                <a:tc>
                  <a:txBody>
                    <a:bodyPr/>
                    <a:lstStyle/>
                    <a:p>
                      <a:pPr algn="l" rtl="1">
                        <a:lnSpc>
                          <a:spcPct val="150000"/>
                        </a:lnSpc>
                        <a:spcAft>
                          <a:spcPts val="800"/>
                        </a:spcAft>
                      </a:pPr>
                      <a:r>
                        <a:rPr lang="en-US" sz="1400">
                          <a:effectLst/>
                        </a:rPr>
                        <a:t>Coef</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nchor="b"/>
                </a:tc>
                <a:tc>
                  <a:txBody>
                    <a:bodyPr/>
                    <a:lstStyle/>
                    <a:p>
                      <a:pPr algn="l" rtl="1">
                        <a:lnSpc>
                          <a:spcPct val="150000"/>
                        </a:lnSpc>
                        <a:spcAft>
                          <a:spcPts val="800"/>
                        </a:spcAft>
                      </a:pPr>
                      <a:r>
                        <a:rPr lang="en-US" sz="1400">
                          <a:effectLst/>
                        </a:rPr>
                        <a:t>SE Coef</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nchor="b"/>
                </a:tc>
                <a:tc>
                  <a:txBody>
                    <a:bodyPr/>
                    <a:lstStyle/>
                    <a:p>
                      <a:pPr algn="l" rtl="1">
                        <a:lnSpc>
                          <a:spcPct val="150000"/>
                        </a:lnSpc>
                        <a:spcAft>
                          <a:spcPts val="800"/>
                        </a:spcAft>
                      </a:pPr>
                      <a:r>
                        <a:rPr lang="en-US" sz="1400">
                          <a:effectLst/>
                        </a:rPr>
                        <a:t>T-Value</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nchor="b"/>
                </a:tc>
                <a:tc>
                  <a:txBody>
                    <a:bodyPr/>
                    <a:lstStyle/>
                    <a:p>
                      <a:pPr algn="l" rtl="1">
                        <a:lnSpc>
                          <a:spcPct val="150000"/>
                        </a:lnSpc>
                        <a:spcAft>
                          <a:spcPts val="800"/>
                        </a:spcAft>
                      </a:pPr>
                      <a:r>
                        <a:rPr lang="en-US" sz="1400" dirty="0">
                          <a:effectLst/>
                        </a:rPr>
                        <a:t>P-Value</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nchor="b"/>
                </a:tc>
                <a:extLst>
                  <a:ext uri="{0D108BD9-81ED-4DB2-BD59-A6C34878D82A}">
                    <a16:rowId xmlns:a16="http://schemas.microsoft.com/office/drawing/2014/main" val="2984093401"/>
                  </a:ext>
                </a:extLst>
              </a:tr>
              <a:tr h="282376">
                <a:tc>
                  <a:txBody>
                    <a:bodyPr/>
                    <a:lstStyle/>
                    <a:p>
                      <a:pPr algn="l" rtl="1">
                        <a:lnSpc>
                          <a:spcPct val="150000"/>
                        </a:lnSpc>
                        <a:spcAft>
                          <a:spcPts val="800"/>
                        </a:spcAft>
                      </a:pPr>
                      <a:r>
                        <a:rPr lang="en-US" sz="1400" dirty="0">
                          <a:effectLst/>
                        </a:rPr>
                        <a:t>MA   1</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dirty="0">
                          <a:effectLst/>
                        </a:rPr>
                        <a:t>0.465</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a:effectLst/>
                        </a:rPr>
                        <a:t>0.139</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a:effectLst/>
                        </a:rPr>
                        <a:t>3.34</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a:effectLst/>
                        </a:rPr>
                        <a:t>0.002</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extLst>
                  <a:ext uri="{0D108BD9-81ED-4DB2-BD59-A6C34878D82A}">
                    <a16:rowId xmlns:a16="http://schemas.microsoft.com/office/drawing/2014/main" val="1256865374"/>
                  </a:ext>
                </a:extLst>
              </a:tr>
              <a:tr h="282376">
                <a:tc>
                  <a:txBody>
                    <a:bodyPr/>
                    <a:lstStyle/>
                    <a:p>
                      <a:pPr algn="l" rtl="1">
                        <a:lnSpc>
                          <a:spcPct val="150000"/>
                        </a:lnSpc>
                        <a:spcAft>
                          <a:spcPts val="800"/>
                        </a:spcAft>
                      </a:pPr>
                      <a:r>
                        <a:rPr lang="en-US" sz="1400" dirty="0">
                          <a:effectLst/>
                        </a:rPr>
                        <a:t>Constant</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dirty="0">
                          <a:effectLst/>
                        </a:rPr>
                        <a:t>39.7</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dirty="0">
                          <a:effectLst/>
                        </a:rPr>
                        <a:t>17.1</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dirty="0">
                          <a:effectLst/>
                        </a:rPr>
                        <a:t>2.32</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a:effectLst/>
                        </a:rPr>
                        <a:t>0.025</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extLst>
                  <a:ext uri="{0D108BD9-81ED-4DB2-BD59-A6C34878D82A}">
                    <a16:rowId xmlns:a16="http://schemas.microsoft.com/office/drawing/2014/main" val="2447035997"/>
                  </a:ext>
                </a:extLst>
              </a:tr>
              <a:tr h="282376">
                <a:tc>
                  <a:txBody>
                    <a:bodyPr/>
                    <a:lstStyle/>
                    <a:p>
                      <a:pPr algn="l" rtl="1">
                        <a:lnSpc>
                          <a:spcPct val="150000"/>
                        </a:lnSpc>
                        <a:spcAft>
                          <a:spcPts val="800"/>
                        </a:spcAft>
                      </a:pPr>
                      <a:r>
                        <a:rPr lang="en-US" sz="1400" dirty="0">
                          <a:effectLst/>
                        </a:rPr>
                        <a:t>Mean</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dirty="0">
                          <a:effectLst/>
                        </a:rPr>
                        <a:t>39.7</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dirty="0">
                          <a:effectLst/>
                        </a:rPr>
                        <a:t>17.1</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11854" marB="0"/>
                </a:tc>
                <a:tc>
                  <a:txBody>
                    <a:bodyPr/>
                    <a:lstStyle/>
                    <a:p>
                      <a:pPr algn="l" rtl="1">
                        <a:lnSpc>
                          <a:spcPct val="150000"/>
                        </a:lnSpc>
                        <a:spcAft>
                          <a:spcPts val="800"/>
                        </a:spcAft>
                      </a:pPr>
                      <a:r>
                        <a:rPr lang="en-US" sz="1400" dirty="0">
                          <a:effectLst/>
                        </a:rPr>
                        <a:t> </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0" marB="0"/>
                </a:tc>
                <a:tc>
                  <a:txBody>
                    <a:bodyPr/>
                    <a:lstStyle/>
                    <a:p>
                      <a:pPr algn="l" rtl="1">
                        <a:lnSpc>
                          <a:spcPct val="150000"/>
                        </a:lnSpc>
                        <a:spcAft>
                          <a:spcPts val="800"/>
                        </a:spcAft>
                      </a:pPr>
                      <a:r>
                        <a:rPr lang="en-US" sz="1400" dirty="0">
                          <a:effectLst/>
                        </a:rPr>
                        <a:t> </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23709" marR="23709" marT="0" marB="0"/>
                </a:tc>
                <a:extLst>
                  <a:ext uri="{0D108BD9-81ED-4DB2-BD59-A6C34878D82A}">
                    <a16:rowId xmlns:a16="http://schemas.microsoft.com/office/drawing/2014/main" val="3965983535"/>
                  </a:ext>
                </a:extLst>
              </a:tr>
            </a:tbl>
          </a:graphicData>
        </a:graphic>
      </p:graphicFrame>
      <p:sp>
        <p:nvSpPr>
          <p:cNvPr id="8" name="مربع نص 7">
            <a:extLst>
              <a:ext uri="{FF2B5EF4-FFF2-40B4-BE49-F238E27FC236}">
                <a16:creationId xmlns:a16="http://schemas.microsoft.com/office/drawing/2014/main" id="{51F8D0D0-8434-F481-B676-B312552FC156}"/>
              </a:ext>
            </a:extLst>
          </p:cNvPr>
          <p:cNvSpPr txBox="1"/>
          <p:nvPr/>
        </p:nvSpPr>
        <p:spPr>
          <a:xfrm>
            <a:off x="105998" y="1282679"/>
            <a:ext cx="315976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Final Estimates of Parameters</a:t>
            </a:r>
            <a:endParaRPr lang="en-US" sz="24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9" name="مربع نص 8">
                <a:extLst>
                  <a:ext uri="{FF2B5EF4-FFF2-40B4-BE49-F238E27FC236}">
                    <a16:creationId xmlns:a16="http://schemas.microsoft.com/office/drawing/2014/main" id="{F2F0D241-3153-15F1-7F8A-33001CB55184}"/>
                  </a:ext>
                </a:extLst>
              </p:cNvPr>
              <p:cNvSpPr txBox="1"/>
              <p:nvPr/>
            </p:nvSpPr>
            <p:spPr>
              <a:xfrm>
                <a:off x="6095990" y="848319"/>
                <a:ext cx="5130800" cy="6560770"/>
              </a:xfrm>
              <a:prstGeom prst="rect">
                <a:avLst/>
              </a:prstGeom>
              <a:noFill/>
            </p:spPr>
            <p:txBody>
              <a:bodyPr wrap="square" rtlCol="1">
                <a:spAutoFit/>
              </a:bodyPr>
              <a:lstStyle/>
              <a:p>
                <a:r>
                  <a:rPr lang="ar-SA" dirty="0"/>
                  <a:t>في برنامج </a:t>
                </a:r>
                <a:r>
                  <a:rPr lang="en-US" dirty="0" err="1"/>
                  <a:t>minitab</a:t>
                </a:r>
                <a:r>
                  <a:rPr lang="ar-SA" dirty="0"/>
                  <a:t> المستخدم في هذا البحث يوجد خيار يسهل عملية عمل نموذج </a:t>
                </a:r>
                <a:r>
                  <a:rPr lang="en-US" dirty="0"/>
                  <a:t>ARIMA</a:t>
                </a:r>
                <a:r>
                  <a:rPr lang="ar-SA" dirty="0"/>
                  <a:t> وتكون عن طريق اختيار النموذج الذي يحمل اقل </a:t>
                </a:r>
                <a:r>
                  <a:rPr lang="en-US" dirty="0" err="1"/>
                  <a:t>AICc</a:t>
                </a:r>
                <a:r>
                  <a:rPr lang="ar-SA" dirty="0"/>
                  <a:t>.</a:t>
                </a:r>
              </a:p>
              <a:p>
                <a:endParaRPr lang="ar-SA" dirty="0"/>
              </a:p>
              <a:p>
                <a:pPr marL="457200" algn="just" rtl="1">
                  <a:lnSpc>
                    <a:spcPct val="150000"/>
                  </a:lnSpc>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a:effectLst/>
                              <a:latin typeface="Cambria Math" panose="02040503050406030204" pitchFamily="18" charset="0"/>
                              <a:ea typeface="Aptos" panose="020B0004020202020204" pitchFamily="34" charset="0"/>
                              <a:cs typeface="Times New Roman" panose="02020603050405020304" pitchFamily="18" charset="0"/>
                            </a:rPr>
                            <m:t>𝜃</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0</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465</m:t>
                      </m:r>
                    </m:oMath>
                  </m:oMathPara>
                </a14:m>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457200" algn="just" rtl="1">
                  <a:lnSpc>
                    <a:spcPct val="150000"/>
                  </a:lnSpc>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a:effectLst/>
                              <a:latin typeface="Cambria Math" panose="02040503050406030204" pitchFamily="18" charset="0"/>
                              <a:ea typeface="Aptos" panose="020B0004020202020204" pitchFamily="34" charset="0"/>
                              <a:cs typeface="Times New Roman" panose="02020603050405020304" pitchFamily="18" charset="0"/>
                            </a:rPr>
                            <m:t>𝐻</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0</m:t>
                          </m:r>
                        </m:sub>
                      </m:sSub>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𝜃</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0</m:t>
                      </m:r>
                      <m:r>
                        <a:rPr lang="en-US" sz="1800" i="1">
                          <a:effectLst/>
                          <a:latin typeface="Cambria Math" panose="02040503050406030204" pitchFamily="18" charset="0"/>
                          <a:ea typeface="Aptos" panose="020B0004020202020204" pitchFamily="34" charset="0"/>
                          <a:cs typeface="Times New Roman" panose="02020603050405020304" pitchFamily="18" charset="0"/>
                        </a:rPr>
                        <m:t>  </m:t>
                      </m:r>
                      <m:r>
                        <a:rPr lang="en-US" sz="1800" i="1">
                          <a:effectLst/>
                          <a:latin typeface="Cambria Math" panose="02040503050406030204" pitchFamily="18" charset="0"/>
                          <a:ea typeface="Aptos" panose="020B0004020202020204" pitchFamily="34" charset="0"/>
                          <a:cs typeface="Times New Roman" panose="02020603050405020304" pitchFamily="18" charset="0"/>
                        </a:rPr>
                        <m:t>𝑉𝑆</m:t>
                      </m:r>
                      <m:r>
                        <a:rPr lang="en-US" sz="1800" i="1">
                          <a:effectLst/>
                          <a:latin typeface="Cambria Math" panose="02040503050406030204" pitchFamily="18" charset="0"/>
                          <a:ea typeface="Aptos" panose="020B0004020202020204" pitchFamily="34" charset="0"/>
                          <a:cs typeface="Times New Roman" panose="02020603050405020304" pitchFamily="18" charset="0"/>
                        </a:rPr>
                        <m:t> </m:t>
                      </m:r>
                      <m:sSub>
                        <m:sSubPr>
                          <m:ctrlPr>
                            <a:rPr lang="en-US"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a:effectLst/>
                              <a:latin typeface="Cambria Math" panose="02040503050406030204" pitchFamily="18" charset="0"/>
                              <a:ea typeface="Aptos" panose="020B0004020202020204" pitchFamily="34" charset="0"/>
                              <a:cs typeface="Times New Roman" panose="02020603050405020304" pitchFamily="18" charset="0"/>
                            </a:rPr>
                            <m:t>𝐻</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a:effectLst/>
                          <a:latin typeface="Cambria Math" panose="02040503050406030204" pitchFamily="18" charset="0"/>
                          <a:ea typeface="Aptos" panose="020B0004020202020204" pitchFamily="34" charset="0"/>
                          <a:cs typeface="Times New Roman" panose="02020603050405020304" pitchFamily="18" charset="0"/>
                        </a:rPr>
                        <m:t>: </m:t>
                      </m:r>
                      <m:r>
                        <a:rPr lang="en-US" sz="1800" i="1">
                          <a:effectLst/>
                          <a:latin typeface="Cambria Math" panose="02040503050406030204" pitchFamily="18" charset="0"/>
                          <a:ea typeface="Aptos" panose="020B0004020202020204" pitchFamily="34" charset="0"/>
                          <a:cs typeface="Times New Roman" panose="02020603050405020304" pitchFamily="18" charset="0"/>
                        </a:rPr>
                        <m:t>𝜃</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0</m:t>
                      </m:r>
                    </m:oMath>
                  </m:oMathPara>
                </a14:m>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457200" algn="just" rtl="1">
                  <a:lnSpc>
                    <a:spcPct val="150000"/>
                  </a:lnSpc>
                  <a:spcAft>
                    <a:spcPts val="800"/>
                  </a:spcAft>
                </a:pPr>
                <a:r>
                  <a:rPr lang="ar-SA" sz="1800" dirty="0">
                    <a:effectLst/>
                    <a:latin typeface="Aptos" panose="020B0004020202020204" pitchFamily="34" charset="0"/>
                    <a:ea typeface="Times New Roman" panose="02020603050405020304" pitchFamily="18" charset="0"/>
                    <a:cs typeface="Times New Roman" panose="02020603050405020304" pitchFamily="18" charset="0"/>
                  </a:rPr>
                  <a:t>بما ان قيمة </a:t>
                </a:r>
                <a:r>
                  <a:rPr lang="en-US" sz="1800" i="1" dirty="0">
                    <a:effectLst/>
                    <a:latin typeface="Times New Roman" panose="02020603050405020304" pitchFamily="18" charset="0"/>
                    <a:ea typeface="Times New Roman" panose="02020603050405020304" pitchFamily="18" charset="0"/>
                    <a:cs typeface="Arial" panose="020B0604020202020204" pitchFamily="34" charset="0"/>
                  </a:rPr>
                  <a:t>p-value</a:t>
                </a:r>
                <a:r>
                  <a:rPr lang="ar-SA" sz="1800" dirty="0">
                    <a:effectLst/>
                    <a:latin typeface="Aptos" panose="020B0004020202020204" pitchFamily="34" charset="0"/>
                    <a:ea typeface="Times New Roman" panose="02020603050405020304" pitchFamily="18" charset="0"/>
                    <a:cs typeface="Times New Roman" panose="02020603050405020304" pitchFamily="18" charset="0"/>
                  </a:rPr>
                  <a:t> اقل من </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cs typeface="Arial" panose="020B0604020202020204" pitchFamily="34" charset="0"/>
                  </a:rPr>
                  <a:t>0.05</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dirty="0">
                    <a:effectLst/>
                    <a:latin typeface="Times New Roman" panose="02020603050405020304" pitchFamily="18" charset="0"/>
                    <a:ea typeface="Times New Roman" panose="02020603050405020304" pitchFamily="18" charset="0"/>
                    <a:cs typeface="Arial" panose="020B0604020202020204" pitchFamily="34" charset="0"/>
                  </a:rPr>
                  <a:t>إذا نرفض الفرضية الصفرية ونستنتج بان المعلمة </a:t>
                </a:r>
                <a14:m>
                  <m:oMath xmlns:m="http://schemas.openxmlformats.org/officeDocument/2006/math">
                    <m:r>
                      <a:rPr lang="ar-SA" sz="1800" i="1">
                        <a:effectLst/>
                        <a:latin typeface="Cambria Math" panose="02040503050406030204" pitchFamily="18" charset="0"/>
                        <a:ea typeface="Times New Roman" panose="02020603050405020304" pitchFamily="18" charset="0"/>
                        <a:cs typeface="Cambria Math" panose="02040503050406030204" pitchFamily="18" charset="0"/>
                      </a:rPr>
                      <m:t>𝜃</m:t>
                    </m:r>
                  </m:oMath>
                </a14:m>
                <a:r>
                  <a:rPr lang="ar-SA" sz="1800" dirty="0">
                    <a:effectLst/>
                    <a:latin typeface="Aptos" panose="020B0004020202020204" pitchFamily="34" charset="0"/>
                    <a:ea typeface="Times New Roman" panose="02020603050405020304" pitchFamily="18" charset="0"/>
                    <a:cs typeface="Times New Roman" panose="02020603050405020304" pitchFamily="18" charset="0"/>
                  </a:rPr>
                  <a:t> معنوية ويجب ان تبقى في النموذج.</a:t>
                </a:r>
              </a:p>
              <a:p>
                <a:pPr marL="457200" algn="just" rtl="1">
                  <a:lnSpc>
                    <a:spcPct val="150000"/>
                  </a:lnSpc>
                  <a:spcAft>
                    <a:spcPts val="800"/>
                  </a:spcAft>
                </a:pPr>
                <a:endParaRPr lang="ar-SA" sz="1800" dirty="0">
                  <a:effectLst/>
                  <a:latin typeface="Aptos" panose="020B0004020202020204" pitchFamily="34" charset="0"/>
                  <a:ea typeface="Times New Roman" panose="02020603050405020304" pitchFamily="18" charset="0"/>
                  <a:cs typeface="Times New Roman" panose="02020603050405020304" pitchFamily="18" charset="0"/>
                </a:endParaRPr>
              </a:p>
              <a:p>
                <a:pPr marL="457200" algn="just" rtl="1">
                  <a:lnSpc>
                    <a:spcPct val="150000"/>
                  </a:lnSpc>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𝜌</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𝜌</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457200" algn="just" rtl="1">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𝑎𝑡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𝑙𝑒𝑎𝑠𝑡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𝑡𝑤𝑜</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𝑑𝑖𝑓𝑓𝑒𝑟𝑒𝑛𝑐𝑒𝑠</m:t>
                      </m:r>
                    </m:oMath>
                  </m:oMathPara>
                </a14:m>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800" dirty="0">
                    <a:effectLst/>
                    <a:latin typeface="Aptos" panose="020B0004020202020204" pitchFamily="34" charset="0"/>
                    <a:ea typeface="Aptos" panose="020B0004020202020204" pitchFamily="34" charset="0"/>
                    <a:cs typeface="Times New Roman" panose="02020603050405020304" pitchFamily="18" charset="0"/>
                  </a:rPr>
                  <a:t>  وكما هو موضح بجميع قيم </a:t>
                </a:r>
                <a:r>
                  <a:rPr lang="en-US" sz="1800" dirty="0">
                    <a:effectLst/>
                    <a:latin typeface="Times New Roman" panose="02020603050405020304" pitchFamily="18" charset="0"/>
                    <a:ea typeface="Aptos" panose="020B0004020202020204" pitchFamily="34" charset="0"/>
                    <a:cs typeface="Arial" panose="020B0604020202020204" pitchFamily="34" charset="0"/>
                  </a:rPr>
                  <a:t>p-value</a:t>
                </a:r>
                <a:r>
                  <a:rPr lang="ar-SA" sz="1800" dirty="0">
                    <a:effectLst/>
                    <a:latin typeface="Aptos" panose="020B0004020202020204" pitchFamily="34" charset="0"/>
                    <a:ea typeface="Aptos" panose="020B0004020202020204" pitchFamily="34" charset="0"/>
                    <a:cs typeface="Times New Roman" panose="02020603050405020304" pitchFamily="18" charset="0"/>
                  </a:rPr>
                  <a:t> انها أكبر من </a:t>
                </a:r>
                <a:r>
                  <a:rPr lang="en-US" sz="1800" dirty="0">
                    <a:effectLst/>
                    <a:latin typeface="Times New Roman" panose="02020603050405020304" pitchFamily="18" charset="0"/>
                    <a:ea typeface="Aptos" panose="020B0004020202020204" pitchFamily="34" charset="0"/>
                    <a:cs typeface="Arial" panose="020B0604020202020204" pitchFamily="34" charset="0"/>
                  </a:rPr>
                  <a:t>0.05 </a:t>
                </a:r>
                <a:r>
                  <a:rPr lang="ar-SA" sz="1800" dirty="0">
                    <a:effectLst/>
                    <a:latin typeface="Times New Roman" panose="02020603050405020304" pitchFamily="18" charset="0"/>
                    <a:ea typeface="Aptos" panose="020B0004020202020204" pitchFamily="34" charset="0"/>
                    <a:cs typeface="Arial" panose="020B0604020202020204" pitchFamily="34" charset="0"/>
                  </a:rPr>
                  <a:t>إذا نقبل الفرضية الصفرية ونقر بان      النموذج مناسب للبيانات.</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457200" algn="just" rtl="1">
                  <a:lnSpc>
                    <a:spcPct val="150000"/>
                  </a:lnSpc>
                  <a:spcAft>
                    <a:spcPts val="800"/>
                  </a:spcAft>
                </a:pP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dirty="0"/>
              </a:p>
            </p:txBody>
          </p:sp>
        </mc:Choice>
        <mc:Fallback>
          <p:sp>
            <p:nvSpPr>
              <p:cNvPr id="9" name="مربع نص 8">
                <a:extLst>
                  <a:ext uri="{FF2B5EF4-FFF2-40B4-BE49-F238E27FC236}">
                    <a16:creationId xmlns:a16="http://schemas.microsoft.com/office/drawing/2014/main" id="{F2F0D241-3153-15F1-7F8A-33001CB55184}"/>
                  </a:ext>
                </a:extLst>
              </p:cNvPr>
              <p:cNvSpPr txBox="1">
                <a:spLocks noRot="1" noChangeAspect="1" noMove="1" noResize="1" noEditPoints="1" noAdjustHandles="1" noChangeArrowheads="1" noChangeShapeType="1" noTextEdit="1"/>
              </p:cNvSpPr>
              <p:nvPr/>
            </p:nvSpPr>
            <p:spPr>
              <a:xfrm>
                <a:off x="6095990" y="848319"/>
                <a:ext cx="5130800" cy="6560770"/>
              </a:xfrm>
              <a:prstGeom prst="rect">
                <a:avLst/>
              </a:prstGeom>
              <a:blipFill>
                <a:blip r:embed="rId3"/>
                <a:stretch>
                  <a:fillRect l="-2257" t="-558" r="-831"/>
                </a:stretch>
              </a:blipFill>
            </p:spPr>
            <p:txBody>
              <a:bodyPr/>
              <a:lstStyle/>
              <a:p>
                <a:r>
                  <a:rPr lang="ar-SA">
                    <a:noFill/>
                  </a:rPr>
                  <a:t> </a:t>
                </a:r>
              </a:p>
            </p:txBody>
          </p:sp>
        </mc:Fallback>
      </mc:AlternateContent>
      <p:graphicFrame>
        <p:nvGraphicFramePr>
          <p:cNvPr id="11" name="جدول 10">
            <a:extLst>
              <a:ext uri="{FF2B5EF4-FFF2-40B4-BE49-F238E27FC236}">
                <a16:creationId xmlns:a16="http://schemas.microsoft.com/office/drawing/2014/main" id="{A8D45FF0-954F-905E-CFD0-EAAC29BEBC62}"/>
              </a:ext>
            </a:extLst>
          </p:cNvPr>
          <p:cNvGraphicFramePr>
            <a:graphicFrameLocks noGrp="1"/>
          </p:cNvGraphicFramePr>
          <p:nvPr>
            <p:extLst>
              <p:ext uri="{D42A27DB-BD31-4B8C-83A1-F6EECF244321}">
                <p14:modId xmlns:p14="http://schemas.microsoft.com/office/powerpoint/2010/main" val="985207856"/>
              </p:ext>
            </p:extLst>
          </p:nvPr>
        </p:nvGraphicFramePr>
        <p:xfrm>
          <a:off x="217758" y="4395067"/>
          <a:ext cx="5852160" cy="1483360"/>
        </p:xfrm>
        <a:graphic>
          <a:graphicData uri="http://schemas.openxmlformats.org/drawingml/2006/table">
            <a:tbl>
              <a:tblPr firstRow="1" bandRow="1">
                <a:tableStyleId>{5C22544A-7EE6-4342-B048-85BDC9FD1C3A}</a:tableStyleId>
              </a:tblPr>
              <a:tblGrid>
                <a:gridCol w="1170432">
                  <a:extLst>
                    <a:ext uri="{9D8B030D-6E8A-4147-A177-3AD203B41FA5}">
                      <a16:colId xmlns:a16="http://schemas.microsoft.com/office/drawing/2014/main" val="2745845235"/>
                    </a:ext>
                  </a:extLst>
                </a:gridCol>
                <a:gridCol w="1170432">
                  <a:extLst>
                    <a:ext uri="{9D8B030D-6E8A-4147-A177-3AD203B41FA5}">
                      <a16:colId xmlns:a16="http://schemas.microsoft.com/office/drawing/2014/main" val="1855526350"/>
                    </a:ext>
                  </a:extLst>
                </a:gridCol>
                <a:gridCol w="1170432">
                  <a:extLst>
                    <a:ext uri="{9D8B030D-6E8A-4147-A177-3AD203B41FA5}">
                      <a16:colId xmlns:a16="http://schemas.microsoft.com/office/drawing/2014/main" val="3982215950"/>
                    </a:ext>
                  </a:extLst>
                </a:gridCol>
                <a:gridCol w="1170432">
                  <a:extLst>
                    <a:ext uri="{9D8B030D-6E8A-4147-A177-3AD203B41FA5}">
                      <a16:colId xmlns:a16="http://schemas.microsoft.com/office/drawing/2014/main" val="2611255064"/>
                    </a:ext>
                  </a:extLst>
                </a:gridCol>
                <a:gridCol w="1170432">
                  <a:extLst>
                    <a:ext uri="{9D8B030D-6E8A-4147-A177-3AD203B41FA5}">
                      <a16:colId xmlns:a16="http://schemas.microsoft.com/office/drawing/2014/main" val="4092930727"/>
                    </a:ext>
                  </a:extLst>
                </a:gridCol>
              </a:tblGrid>
              <a:tr h="370840">
                <a:tc>
                  <a:txBody>
                    <a:bodyPr/>
                    <a:lstStyle/>
                    <a:p>
                      <a:pPr algn="l" rtl="1">
                        <a:lnSpc>
                          <a:spcPct val="150000"/>
                        </a:lnSpc>
                        <a:spcAft>
                          <a:spcPts val="800"/>
                        </a:spcAft>
                      </a:pPr>
                      <a:r>
                        <a:rPr lang="en-US" sz="16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Lag</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12</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24</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6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36</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6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48</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996198558"/>
                  </a:ext>
                </a:extLst>
              </a:tr>
              <a:tr h="370840">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Chi-Square</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4.26</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10.11</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17.94</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2681129494"/>
                  </a:ext>
                </a:extLst>
              </a:tr>
              <a:tr h="370840">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DF</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10</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22</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34</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3303722780"/>
                  </a:ext>
                </a:extLst>
              </a:tr>
              <a:tr h="370840">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0.935</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0.985</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0.989</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1358716933"/>
                  </a:ext>
                </a:extLst>
              </a:tr>
            </a:tbl>
          </a:graphicData>
        </a:graphic>
      </p:graphicFrame>
      <p:sp>
        <p:nvSpPr>
          <p:cNvPr id="13" name="مربع نص 12">
            <a:extLst>
              <a:ext uri="{FF2B5EF4-FFF2-40B4-BE49-F238E27FC236}">
                <a16:creationId xmlns:a16="http://schemas.microsoft.com/office/drawing/2014/main" id="{3A125611-A2A7-860A-3BCF-729A78B52398}"/>
              </a:ext>
            </a:extLst>
          </p:cNvPr>
          <p:cNvSpPr txBox="1"/>
          <p:nvPr/>
        </p:nvSpPr>
        <p:spPr>
          <a:xfrm>
            <a:off x="121910" y="3904167"/>
            <a:ext cx="609600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Modified Box-Pierce (</a:t>
            </a:r>
            <a:r>
              <a:rPr lang="en-US" sz="1800" b="1" dirty="0" err="1">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Ljung</a:t>
            </a: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-Box) Chi-Square Statistic</a:t>
            </a:r>
            <a:endParaRPr lang="en-US" sz="24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607663520"/>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63B04E9-A16B-0E11-9C3B-9BD325EB92ED}"/>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5D4B69BE-C862-2A7B-C89F-B359FAFE52A6}"/>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4D451516-FD3A-5026-F07E-950A47F1E6BE}"/>
              </a:ext>
            </a:extLst>
          </p:cNvPr>
          <p:cNvSpPr>
            <a:spLocks noGrp="1"/>
          </p:cNvSpPr>
          <p:nvPr>
            <p:ph type="title"/>
          </p:nvPr>
        </p:nvSpPr>
        <p:spPr>
          <a:xfrm>
            <a:off x="802640" y="0"/>
            <a:ext cx="10552747" cy="1048861"/>
          </a:xfrm>
        </p:spPr>
        <p:txBody>
          <a:bodyPr/>
          <a:lstStyle/>
          <a:p>
            <a:r>
              <a:rPr lang="ar-SA" dirty="0"/>
              <a:t>دوال الارتباط الذاتية لبواقي النموذج</a:t>
            </a:r>
          </a:p>
        </p:txBody>
      </p:sp>
      <p:sp>
        <p:nvSpPr>
          <p:cNvPr id="10" name="عنصر نائب للنص 9">
            <a:extLst>
              <a:ext uri="{FF2B5EF4-FFF2-40B4-BE49-F238E27FC236}">
                <a16:creationId xmlns:a16="http://schemas.microsoft.com/office/drawing/2014/main" id="{A7A971F1-A9B8-6C2E-E5C4-147995CC7DB9}"/>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pic>
        <p:nvPicPr>
          <p:cNvPr id="2" name="صورة 1" descr="ACF of Residuals for Diff TOF">
            <a:extLst>
              <a:ext uri="{FF2B5EF4-FFF2-40B4-BE49-F238E27FC236}">
                <a16:creationId xmlns:a16="http://schemas.microsoft.com/office/drawing/2014/main" id="{D3E72A97-9E05-A541-1DEB-026B94B4C0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72921" y="1803400"/>
            <a:ext cx="4582466" cy="3060000"/>
          </a:xfrm>
          <a:prstGeom prst="rect">
            <a:avLst/>
          </a:prstGeom>
          <a:noFill/>
          <a:ln>
            <a:noFill/>
          </a:ln>
        </p:spPr>
      </p:pic>
      <p:pic>
        <p:nvPicPr>
          <p:cNvPr id="3" name="صورة 2" descr="PACF of Residuals for Diff TOF">
            <a:extLst>
              <a:ext uri="{FF2B5EF4-FFF2-40B4-BE49-F238E27FC236}">
                <a16:creationId xmlns:a16="http://schemas.microsoft.com/office/drawing/2014/main" id="{39D3D445-3C4B-0B77-65CB-4CB8CD7C986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7606" y="1803400"/>
            <a:ext cx="4582679" cy="3060000"/>
          </a:xfrm>
          <a:prstGeom prst="rect">
            <a:avLst/>
          </a:prstGeom>
          <a:noFill/>
          <a:ln>
            <a:noFill/>
          </a:ln>
        </p:spPr>
      </p:pic>
      <p:sp>
        <p:nvSpPr>
          <p:cNvPr id="5" name="مربع نص 4">
            <a:extLst>
              <a:ext uri="{FF2B5EF4-FFF2-40B4-BE49-F238E27FC236}">
                <a16:creationId xmlns:a16="http://schemas.microsoft.com/office/drawing/2014/main" id="{4117CD25-DD16-73B9-D339-A64ADC88135E}"/>
              </a:ext>
            </a:extLst>
          </p:cNvPr>
          <p:cNvSpPr txBox="1"/>
          <p:nvPr/>
        </p:nvSpPr>
        <p:spPr>
          <a:xfrm>
            <a:off x="8971280" y="1290320"/>
            <a:ext cx="2225040" cy="369332"/>
          </a:xfrm>
          <a:prstGeom prst="rect">
            <a:avLst/>
          </a:prstGeom>
          <a:noFill/>
        </p:spPr>
        <p:txBody>
          <a:bodyPr wrap="square" rtlCol="1">
            <a:spAutoFit/>
          </a:bodyPr>
          <a:lstStyle/>
          <a:p>
            <a:r>
              <a:rPr lang="ar-SA" dirty="0"/>
              <a:t>دالة الارتباط الذاتية للبواقي</a:t>
            </a:r>
          </a:p>
        </p:txBody>
      </p:sp>
      <p:sp>
        <p:nvSpPr>
          <p:cNvPr id="6" name="مربع نص 5">
            <a:extLst>
              <a:ext uri="{FF2B5EF4-FFF2-40B4-BE49-F238E27FC236}">
                <a16:creationId xmlns:a16="http://schemas.microsoft.com/office/drawing/2014/main" id="{0E9CCB08-28B0-2741-38BE-E89BD2428BD5}"/>
              </a:ext>
            </a:extLst>
          </p:cNvPr>
          <p:cNvSpPr txBox="1"/>
          <p:nvPr/>
        </p:nvSpPr>
        <p:spPr>
          <a:xfrm>
            <a:off x="2082800" y="1241464"/>
            <a:ext cx="3577485" cy="369332"/>
          </a:xfrm>
          <a:prstGeom prst="rect">
            <a:avLst/>
          </a:prstGeom>
          <a:noFill/>
        </p:spPr>
        <p:txBody>
          <a:bodyPr wrap="square" rtlCol="1">
            <a:spAutoFit/>
          </a:bodyPr>
          <a:lstStyle/>
          <a:p>
            <a:r>
              <a:rPr lang="ar-SA" dirty="0"/>
              <a:t>دالة الارتباط الجزية الذاتية للبواقي</a:t>
            </a:r>
          </a:p>
        </p:txBody>
      </p:sp>
    </p:spTree>
    <p:extLst>
      <p:ext uri="{BB962C8B-B14F-4D97-AF65-F5344CB8AC3E}">
        <p14:creationId xmlns:p14="http://schemas.microsoft.com/office/powerpoint/2010/main" val="3472683843"/>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A0E26CB-7B8B-2387-BAA2-2497E98994A8}"/>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4A815188-8E2E-2DDA-2380-52674A50042D}"/>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3391EA15-0575-C19B-75D5-7B8EC341A549}"/>
              </a:ext>
            </a:extLst>
          </p:cNvPr>
          <p:cNvSpPr>
            <a:spLocks noGrp="1"/>
          </p:cNvSpPr>
          <p:nvPr>
            <p:ph type="title"/>
          </p:nvPr>
        </p:nvSpPr>
        <p:spPr>
          <a:xfrm>
            <a:off x="802640" y="0"/>
            <a:ext cx="10552747" cy="1048861"/>
          </a:xfrm>
        </p:spPr>
        <p:txBody>
          <a:bodyPr/>
          <a:lstStyle/>
          <a:p>
            <a:r>
              <a:rPr lang="ar-SA" dirty="0"/>
              <a:t>تحليل بواقي النموذج</a:t>
            </a:r>
          </a:p>
        </p:txBody>
      </p:sp>
      <p:sp>
        <p:nvSpPr>
          <p:cNvPr id="10" name="عنصر نائب للنص 9">
            <a:extLst>
              <a:ext uri="{FF2B5EF4-FFF2-40B4-BE49-F238E27FC236}">
                <a16:creationId xmlns:a16="http://schemas.microsoft.com/office/drawing/2014/main" id="{2019B50B-667F-5738-F7AF-72AAEB98A196}"/>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sp>
        <p:nvSpPr>
          <p:cNvPr id="2" name="مربع نص 1">
            <a:extLst>
              <a:ext uri="{FF2B5EF4-FFF2-40B4-BE49-F238E27FC236}">
                <a16:creationId xmlns:a16="http://schemas.microsoft.com/office/drawing/2014/main" id="{A49EAEE1-D6E4-5376-9AB2-23EDBB74E139}"/>
              </a:ext>
            </a:extLst>
          </p:cNvPr>
          <p:cNvSpPr txBox="1"/>
          <p:nvPr/>
        </p:nvSpPr>
        <p:spPr>
          <a:xfrm>
            <a:off x="6169977" y="1152411"/>
            <a:ext cx="5201920" cy="4154984"/>
          </a:xfrm>
          <a:prstGeom prst="rect">
            <a:avLst/>
          </a:prstGeom>
          <a:noFill/>
        </p:spPr>
        <p:txBody>
          <a:bodyPr wrap="square" rtlCol="1">
            <a:spAutoFit/>
          </a:bodyPr>
          <a:lstStyle/>
          <a:p>
            <a:pPr marL="285750" indent="-285750">
              <a:buFont typeface="Arial" panose="020B0604020202020204" pitchFamily="34" charset="0"/>
              <a:buChar char="•"/>
            </a:pPr>
            <a:r>
              <a:rPr lang="ar-SA" sz="2000" dirty="0"/>
              <a:t>البواقي تتبع التوزيع الطبيعي:</a:t>
            </a:r>
          </a:p>
          <a:p>
            <a:r>
              <a:rPr lang="ar-SA" sz="2000" dirty="0"/>
              <a:t>الشكل يختبر الفرضيات التالية</a:t>
            </a:r>
          </a:p>
          <a:p>
            <a:pPr algn="ctr"/>
            <a:r>
              <a:rPr lang="ar-SA" sz="2000" dirty="0"/>
              <a:t>الفرضية الصفرية: البواقي تتبع التوزيع الطبيعي</a:t>
            </a:r>
          </a:p>
          <a:p>
            <a:pPr algn="ctr"/>
            <a:r>
              <a:rPr lang="ar-SA" sz="2000" dirty="0"/>
              <a:t>الفرضية البديلة: البواقي لا تتبع التوزيع الطبيعي</a:t>
            </a:r>
          </a:p>
          <a:p>
            <a:r>
              <a:rPr lang="ar-SA" sz="2000" dirty="0">
                <a:effectLst/>
                <a:latin typeface="Aptos" panose="020B0004020202020204" pitchFamily="34" charset="0"/>
                <a:ea typeface="Times New Roman" panose="02020603050405020304" pitchFamily="18" charset="0"/>
                <a:cs typeface="Times New Roman" panose="02020603050405020304" pitchFamily="18" charset="0"/>
              </a:rPr>
              <a:t>بما ان قيمه </a:t>
            </a:r>
            <a:r>
              <a:rPr lang="en-US" sz="2000" dirty="0">
                <a:effectLst/>
                <a:latin typeface="Aptos" panose="020B0004020202020204" pitchFamily="34" charset="0"/>
                <a:ea typeface="Times New Roman" panose="02020603050405020304" pitchFamily="18" charset="0"/>
                <a:cs typeface="Times New Roman" panose="02020603050405020304" pitchFamily="18" charset="0"/>
              </a:rPr>
              <a:t>P-Value</a:t>
            </a:r>
            <a:r>
              <a:rPr lang="ar-SA" sz="2000" dirty="0">
                <a:effectLst/>
                <a:latin typeface="Aptos" panose="020B0004020202020204" pitchFamily="34" charset="0"/>
                <a:ea typeface="Times New Roman" panose="02020603050405020304" pitchFamily="18" charset="0"/>
                <a:cs typeface="Times New Roman" panose="02020603050405020304" pitchFamily="18" charset="0"/>
              </a:rPr>
              <a:t> أكبر من </a:t>
            </a:r>
            <a:r>
              <a:rPr lang="en-US" sz="2000" dirty="0">
                <a:effectLst/>
                <a:latin typeface="Aptos" panose="020B0004020202020204" pitchFamily="34" charset="0"/>
                <a:ea typeface="Times New Roman" panose="02020603050405020304" pitchFamily="18" charset="0"/>
                <a:cs typeface="Times New Roman" panose="02020603050405020304" pitchFamily="18" charset="0"/>
              </a:rPr>
              <a:t>0.05</a:t>
            </a:r>
            <a:r>
              <a:rPr lang="ar-SA" sz="2000" dirty="0">
                <a:effectLst/>
                <a:latin typeface="Aptos" panose="020B0004020202020204" pitchFamily="34" charset="0"/>
                <a:ea typeface="Times New Roman" panose="02020603050405020304" pitchFamily="18" charset="0"/>
                <a:cs typeface="Times New Roman" panose="02020603050405020304" pitchFamily="18" charset="0"/>
              </a:rPr>
              <a:t> فإننا نقبل الفرضية الصفرية أي ان البواقي تتبع التوزيع الطبيعي.</a:t>
            </a:r>
            <a:endParaRPr lang="en-US" sz="2000" dirty="0">
              <a:effectLst/>
              <a:latin typeface="Aptos" panose="020B0004020202020204" pitchFamily="34" charset="0"/>
              <a:ea typeface="Aptos" panose="020B0004020202020204" pitchFamily="34" charset="0"/>
              <a:cs typeface="Arial" panose="020B0604020202020204" pitchFamily="34" charset="0"/>
            </a:endParaRPr>
          </a:p>
          <a:p>
            <a:endParaRPr lang="ar-SA" dirty="0"/>
          </a:p>
          <a:p>
            <a:endParaRPr lang="ar-SA" dirty="0"/>
          </a:p>
          <a:p>
            <a:endParaRPr lang="ar-SA" dirty="0"/>
          </a:p>
          <a:p>
            <a:endParaRPr lang="ar-SA" dirty="0"/>
          </a:p>
          <a:p>
            <a:pPr marL="285750" indent="-285750">
              <a:buFont typeface="Arial" panose="020B0604020202020204" pitchFamily="34" charset="0"/>
              <a:buChar char="•"/>
            </a:pPr>
            <a:r>
              <a:rPr lang="ar-SA" dirty="0"/>
              <a:t>تباين البواقي ثابت:</a:t>
            </a:r>
          </a:p>
          <a:p>
            <a:r>
              <a:rPr lang="ar-SA" dirty="0"/>
              <a:t>الرسم البياني يوضح تباين البواقي وكما هو واضح فانه لا يأخذ نمط معين ويؤكد الشكل ثبات التباين عبر الزمن.</a:t>
            </a:r>
          </a:p>
          <a:p>
            <a:endParaRPr lang="ar-SA" dirty="0"/>
          </a:p>
        </p:txBody>
      </p:sp>
      <p:pic>
        <p:nvPicPr>
          <p:cNvPr id="3" name="صورة 2" descr="Probability Plot of Residuals_2">
            <a:extLst>
              <a:ext uri="{FF2B5EF4-FFF2-40B4-BE49-F238E27FC236}">
                <a16:creationId xmlns:a16="http://schemas.microsoft.com/office/drawing/2014/main" id="{24806DA2-95F4-7BD8-60E7-61CB7109D5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2641" y="1152411"/>
            <a:ext cx="4013200" cy="2679740"/>
          </a:xfrm>
          <a:prstGeom prst="rect">
            <a:avLst/>
          </a:prstGeom>
          <a:noFill/>
          <a:ln>
            <a:noFill/>
          </a:ln>
        </p:spPr>
      </p:pic>
      <p:pic>
        <p:nvPicPr>
          <p:cNvPr id="5" name="صورة 4" descr="Residuals vs Fits for Diff TOF">
            <a:extLst>
              <a:ext uri="{FF2B5EF4-FFF2-40B4-BE49-F238E27FC236}">
                <a16:creationId xmlns:a16="http://schemas.microsoft.com/office/drawing/2014/main" id="{D59BA64D-912F-7661-D936-14EE5BE8C71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0104" y="3987445"/>
            <a:ext cx="4013200" cy="2679740"/>
          </a:xfrm>
          <a:prstGeom prst="rect">
            <a:avLst/>
          </a:prstGeom>
          <a:noFill/>
          <a:ln>
            <a:noFill/>
          </a:ln>
        </p:spPr>
      </p:pic>
    </p:spTree>
    <p:extLst>
      <p:ext uri="{BB962C8B-B14F-4D97-AF65-F5344CB8AC3E}">
        <p14:creationId xmlns:p14="http://schemas.microsoft.com/office/powerpoint/2010/main" val="362881332"/>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5C81657-419E-BE26-95E2-1DCE7EFF050D}"/>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8D3864B7-0AFB-B30E-7730-3619B6911176}"/>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B97317DA-5A4D-319B-5666-EC9B58474B0C}"/>
              </a:ext>
            </a:extLst>
          </p:cNvPr>
          <p:cNvSpPr>
            <a:spLocks noGrp="1"/>
          </p:cNvSpPr>
          <p:nvPr>
            <p:ph type="title"/>
          </p:nvPr>
        </p:nvSpPr>
        <p:spPr>
          <a:xfrm>
            <a:off x="802640" y="0"/>
            <a:ext cx="10552747" cy="1048861"/>
          </a:xfrm>
        </p:spPr>
        <p:txBody>
          <a:bodyPr/>
          <a:lstStyle/>
          <a:p>
            <a:r>
              <a:rPr lang="ar-SA" dirty="0"/>
              <a:t>تحليل بواقي النموذج</a:t>
            </a:r>
          </a:p>
        </p:txBody>
      </p:sp>
      <p:sp>
        <p:nvSpPr>
          <p:cNvPr id="10" name="عنصر نائب للنص 9">
            <a:extLst>
              <a:ext uri="{FF2B5EF4-FFF2-40B4-BE49-F238E27FC236}">
                <a16:creationId xmlns:a16="http://schemas.microsoft.com/office/drawing/2014/main" id="{E29CC681-736E-D8C2-7089-533BF1E98357}"/>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sp>
        <p:nvSpPr>
          <p:cNvPr id="2" name="مربع نص 1">
            <a:extLst>
              <a:ext uri="{FF2B5EF4-FFF2-40B4-BE49-F238E27FC236}">
                <a16:creationId xmlns:a16="http://schemas.microsoft.com/office/drawing/2014/main" id="{5D239BBA-5619-CD94-132D-BADC48DA0CB4}"/>
              </a:ext>
            </a:extLst>
          </p:cNvPr>
          <p:cNvSpPr txBox="1"/>
          <p:nvPr/>
        </p:nvSpPr>
        <p:spPr>
          <a:xfrm>
            <a:off x="5730240" y="1300480"/>
            <a:ext cx="5435600" cy="5355312"/>
          </a:xfrm>
          <a:prstGeom prst="rect">
            <a:avLst/>
          </a:prstGeom>
          <a:noFill/>
        </p:spPr>
        <p:txBody>
          <a:bodyPr wrap="square" rtlCol="1">
            <a:spAutoFit/>
          </a:bodyPr>
          <a:lstStyle/>
          <a:p>
            <a:pPr marL="285750" indent="-285750">
              <a:buFont typeface="Arial" panose="020B0604020202020204" pitchFamily="34" charset="0"/>
              <a:buChar char="•"/>
            </a:pPr>
            <a:r>
              <a:rPr lang="ar-SA" dirty="0"/>
              <a:t>متوسط البواقي يساوي صفر:</a:t>
            </a:r>
          </a:p>
          <a:p>
            <a:r>
              <a:rPr lang="ar-SA" dirty="0"/>
              <a:t>يمكن ان نستخدم اختبار </a:t>
            </a:r>
            <a:r>
              <a:rPr lang="en-US" dirty="0"/>
              <a:t>Z</a:t>
            </a:r>
            <a:r>
              <a:rPr lang="ar-SA" dirty="0"/>
              <a:t> لمعرفة ما اذا كان المتوسط يساوي صفر ام لا</a:t>
            </a:r>
          </a:p>
          <a:p>
            <a:pPr algn="ctr"/>
            <a:r>
              <a:rPr lang="ar-SA" dirty="0"/>
              <a:t>الفرضية الصفرية: المتوسط يساوي صفر</a:t>
            </a:r>
          </a:p>
          <a:p>
            <a:pPr algn="ctr"/>
            <a:r>
              <a:rPr lang="ar-SA" dirty="0"/>
              <a:t>الفرضية البديلة: لا يساوي صفر</a:t>
            </a:r>
          </a:p>
          <a:p>
            <a:r>
              <a:rPr lang="ar-SA" sz="1800" dirty="0">
                <a:effectLst/>
                <a:latin typeface="Aptos" panose="020B0004020202020204" pitchFamily="34" charset="0"/>
                <a:ea typeface="Times New Roman" panose="02020603050405020304" pitchFamily="18" charset="0"/>
                <a:cs typeface="Times New Roman" panose="02020603050405020304" pitchFamily="18" charset="0"/>
              </a:rPr>
              <a:t>كما نرى ان قيمة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p value </a:t>
            </a:r>
            <a:r>
              <a:rPr lang="ar-SA" sz="1800" dirty="0">
                <a:effectLst/>
                <a:latin typeface="Aptos" panose="020B0004020202020204" pitchFamily="34" charset="0"/>
                <a:ea typeface="Times New Roman" panose="02020603050405020304" pitchFamily="18" charset="0"/>
                <a:cs typeface="Times New Roman" panose="02020603050405020304" pitchFamily="18" charset="0"/>
              </a:rPr>
              <a:t>أكبر من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0.05</a:t>
            </a:r>
            <a:r>
              <a:rPr lang="ar-SA" sz="1800" dirty="0">
                <a:effectLst/>
                <a:latin typeface="Aptos" panose="020B0004020202020204" pitchFamily="34" charset="0"/>
                <a:ea typeface="Times New Roman" panose="02020603050405020304" pitchFamily="18" charset="0"/>
                <a:cs typeface="Times New Roman" panose="02020603050405020304" pitchFamily="18" charset="0"/>
              </a:rPr>
              <a:t> لذا نقبل الفرضية الصفرية ويعني ان متوسط بواقي النموذج يساوي صفر.</a:t>
            </a:r>
          </a:p>
          <a:p>
            <a:endParaRPr lang="ar-SA"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عشوائية البواقي:</a:t>
            </a:r>
          </a:p>
          <a:p>
            <a:r>
              <a:rPr lang="ar-SA" dirty="0">
                <a:latin typeface="Aptos" panose="020B0004020202020204" pitchFamily="34" charset="0"/>
                <a:ea typeface="Aptos" panose="020B0004020202020204" pitchFamily="34" charset="0"/>
                <a:cs typeface="Times New Roman" panose="02020603050405020304" pitchFamily="18" charset="0"/>
              </a:rPr>
              <a:t>نستعمل اختبار </a:t>
            </a:r>
            <a:r>
              <a:rPr lang="en-US" dirty="0">
                <a:latin typeface="Aptos" panose="020B0004020202020204" pitchFamily="34" charset="0"/>
                <a:ea typeface="Aptos" panose="020B0004020202020204" pitchFamily="34" charset="0"/>
                <a:cs typeface="Times New Roman" panose="02020603050405020304" pitchFamily="18" charset="0"/>
              </a:rPr>
              <a:t>Run Test</a:t>
            </a:r>
            <a:r>
              <a:rPr lang="ar-SA" dirty="0">
                <a:latin typeface="Aptos" panose="020B0004020202020204" pitchFamily="34" charset="0"/>
                <a:ea typeface="Aptos" panose="020B0004020202020204" pitchFamily="34" charset="0"/>
                <a:cs typeface="Times New Roman" panose="02020603050405020304" pitchFamily="18" charset="0"/>
              </a:rPr>
              <a:t> </a:t>
            </a:r>
            <a:r>
              <a:rPr lang="ar-SA" dirty="0" err="1">
                <a:latin typeface="Aptos" panose="020B0004020202020204" pitchFamily="34" charset="0"/>
                <a:ea typeface="Aptos" panose="020B0004020202020204" pitchFamily="34" charset="0"/>
                <a:cs typeface="Times New Roman" panose="02020603050405020304" pitchFamily="18" charset="0"/>
              </a:rPr>
              <a:t>اللا</a:t>
            </a:r>
            <a:r>
              <a:rPr lang="ar-SA" dirty="0">
                <a:latin typeface="Aptos" panose="020B0004020202020204" pitchFamily="34" charset="0"/>
                <a:ea typeface="Aptos" panose="020B0004020202020204" pitchFamily="34" charset="0"/>
                <a:cs typeface="Times New Roman" panose="02020603050405020304" pitchFamily="18" charset="0"/>
              </a:rPr>
              <a:t> معلمي لاختبار الفرضية التالية</a:t>
            </a:r>
          </a:p>
          <a:p>
            <a:pPr algn="ctr"/>
            <a:r>
              <a:rPr lang="ar-SA" dirty="0">
                <a:latin typeface="Aptos" panose="020B0004020202020204" pitchFamily="34" charset="0"/>
                <a:ea typeface="Aptos" panose="020B0004020202020204" pitchFamily="34" charset="0"/>
                <a:cs typeface="Times New Roman" panose="02020603050405020304" pitchFamily="18" charset="0"/>
              </a:rPr>
              <a:t>الفرضية الصفرية: البواقي عشوائية </a:t>
            </a:r>
          </a:p>
          <a:p>
            <a:pPr algn="ctr"/>
            <a:r>
              <a:rPr lang="ar-SA" dirty="0">
                <a:latin typeface="Aptos" panose="020B0004020202020204" pitchFamily="34" charset="0"/>
                <a:ea typeface="Aptos" panose="020B0004020202020204" pitchFamily="34" charset="0"/>
                <a:cs typeface="Times New Roman" panose="02020603050405020304" pitchFamily="18" charset="0"/>
              </a:rPr>
              <a:t>الفرضية البديلة: البواقي ليست عشوائية</a:t>
            </a:r>
          </a:p>
          <a:p>
            <a:pPr algn="ctr"/>
            <a:endParaRPr lang="ar-SA" dirty="0">
              <a:latin typeface="Aptos" panose="020B0004020202020204" pitchFamily="34" charset="0"/>
              <a:ea typeface="Aptos" panose="020B0004020202020204" pitchFamily="34" charset="0"/>
              <a:cs typeface="Times New Roman" panose="02020603050405020304" pitchFamily="18" charset="0"/>
            </a:endParaRPr>
          </a:p>
          <a:p>
            <a:endParaRPr lang="en-US" sz="1800" dirty="0">
              <a:effectLst/>
              <a:latin typeface="Aptos" panose="020B0004020202020204" pitchFamily="34" charset="0"/>
              <a:ea typeface="Aptos" panose="020B0004020202020204" pitchFamily="34" charset="0"/>
              <a:cs typeface="Arial" panose="020B0604020202020204" pitchFamily="34" charset="0"/>
            </a:endParaRPr>
          </a:p>
          <a:p>
            <a:endParaRPr lang="ar-SA" dirty="0"/>
          </a:p>
          <a:p>
            <a:r>
              <a:rPr lang="ar-SA" dirty="0"/>
              <a:t>بعد تحليل البواقي </a:t>
            </a:r>
            <a:r>
              <a:rPr lang="ar-SA" dirty="0" err="1"/>
              <a:t>نأكد</a:t>
            </a:r>
            <a:r>
              <a:rPr lang="ar-SA" dirty="0"/>
              <a:t> بأن النموذج مناسب للسلسلة الزمنية ويمكن أن </a:t>
            </a:r>
            <a:r>
              <a:rPr lang="ar-SA" dirty="0" err="1"/>
              <a:t>نتبأ</a:t>
            </a:r>
            <a:r>
              <a:rPr lang="ar-SA" dirty="0"/>
              <a:t> بالقيم الان.</a:t>
            </a:r>
          </a:p>
          <a:p>
            <a:endParaRPr lang="ar-SA" dirty="0"/>
          </a:p>
          <a:p>
            <a:endParaRPr lang="ar-SA" dirty="0"/>
          </a:p>
          <a:p>
            <a:endParaRPr lang="ar-SA" dirty="0"/>
          </a:p>
        </p:txBody>
      </p:sp>
      <p:graphicFrame>
        <p:nvGraphicFramePr>
          <p:cNvPr id="5" name="جدول 4">
            <a:extLst>
              <a:ext uri="{FF2B5EF4-FFF2-40B4-BE49-F238E27FC236}">
                <a16:creationId xmlns:a16="http://schemas.microsoft.com/office/drawing/2014/main" id="{BD4DA6EE-63FB-2C87-0AE7-A47DCBE46CCC}"/>
              </a:ext>
            </a:extLst>
          </p:cNvPr>
          <p:cNvGraphicFramePr>
            <a:graphicFrameLocks noGrp="1"/>
          </p:cNvGraphicFramePr>
          <p:nvPr>
            <p:extLst>
              <p:ext uri="{D42A27DB-BD31-4B8C-83A1-F6EECF244321}">
                <p14:modId xmlns:p14="http://schemas.microsoft.com/office/powerpoint/2010/main" val="3236928059"/>
              </p:ext>
            </p:extLst>
          </p:nvPr>
        </p:nvGraphicFramePr>
        <p:xfrm>
          <a:off x="214295" y="1400386"/>
          <a:ext cx="4554556" cy="1479974"/>
        </p:xfrm>
        <a:graphic>
          <a:graphicData uri="http://schemas.openxmlformats.org/drawingml/2006/table">
            <a:tbl>
              <a:tblPr firstRow="1" bandRow="1">
                <a:tableStyleId>{5C22544A-7EE6-4342-B048-85BDC9FD1C3A}</a:tableStyleId>
              </a:tblPr>
              <a:tblGrid>
                <a:gridCol w="1138639">
                  <a:extLst>
                    <a:ext uri="{9D8B030D-6E8A-4147-A177-3AD203B41FA5}">
                      <a16:colId xmlns:a16="http://schemas.microsoft.com/office/drawing/2014/main" val="3966823417"/>
                    </a:ext>
                  </a:extLst>
                </a:gridCol>
                <a:gridCol w="1138639">
                  <a:extLst>
                    <a:ext uri="{9D8B030D-6E8A-4147-A177-3AD203B41FA5}">
                      <a16:colId xmlns:a16="http://schemas.microsoft.com/office/drawing/2014/main" val="3492931298"/>
                    </a:ext>
                  </a:extLst>
                </a:gridCol>
                <a:gridCol w="1138639">
                  <a:extLst>
                    <a:ext uri="{9D8B030D-6E8A-4147-A177-3AD203B41FA5}">
                      <a16:colId xmlns:a16="http://schemas.microsoft.com/office/drawing/2014/main" val="714914145"/>
                    </a:ext>
                  </a:extLst>
                </a:gridCol>
                <a:gridCol w="1138639">
                  <a:extLst>
                    <a:ext uri="{9D8B030D-6E8A-4147-A177-3AD203B41FA5}">
                      <a16:colId xmlns:a16="http://schemas.microsoft.com/office/drawing/2014/main" val="550282066"/>
                    </a:ext>
                  </a:extLst>
                </a:gridCol>
              </a:tblGrid>
              <a:tr h="370840">
                <a:tc gridSpan="3">
                  <a:txBody>
                    <a:bodyPr/>
                    <a:lstStyle/>
                    <a:p>
                      <a:pPr algn="l" rtl="1">
                        <a:lnSpc>
                          <a:spcPct val="150000"/>
                        </a:lnSpc>
                        <a:spcAft>
                          <a:spcPts val="800"/>
                        </a:spcAft>
                      </a:pPr>
                      <a:r>
                        <a:rPr lang="en-US" sz="16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Null hypothesis</a:t>
                      </a:r>
                      <a:endParaRPr lang="en-US" sz="14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just" rtl="1">
                        <a:lnSpc>
                          <a:spcPct val="150000"/>
                        </a:lnSpc>
                        <a:spcAft>
                          <a:spcPts val="800"/>
                        </a:spcAft>
                      </a:pPr>
                      <a:r>
                        <a:rPr lang="en-US" sz="1600" b="1">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H₀: μ = 0</a:t>
                      </a:r>
                      <a:endParaRPr lang="en-US" sz="1400" b="1">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414277029"/>
                  </a:ext>
                </a:extLst>
              </a:tr>
              <a:tr h="370840">
                <a:tc gridSpan="3">
                  <a:txBody>
                    <a:bodyPr/>
                    <a:lstStyle/>
                    <a:p>
                      <a:pPr algn="l" rtl="1">
                        <a:lnSpc>
                          <a:spcPct val="150000"/>
                        </a:lnSpc>
                        <a:spcAft>
                          <a:spcPts val="800"/>
                        </a:spcAft>
                      </a:pPr>
                      <a:r>
                        <a:rPr lang="en-US" sz="16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Alternative hypothesis</a:t>
                      </a:r>
                      <a:endParaRPr lang="en-US" sz="14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hMerge="1">
                  <a:txBody>
                    <a:bodyPr/>
                    <a:lstStyle/>
                    <a:p>
                      <a:pPr rtl="1"/>
                      <a:endParaRPr lang="ar-SA"/>
                    </a:p>
                  </a:txBody>
                  <a:tcPr/>
                </a:tc>
                <a:tc>
                  <a:txBody>
                    <a:bodyPr/>
                    <a:lstStyle/>
                    <a:p>
                      <a:pPr algn="just" rtl="1">
                        <a:lnSpc>
                          <a:spcPct val="150000"/>
                        </a:lnSpc>
                        <a:spcAft>
                          <a:spcPts val="800"/>
                        </a:spcAft>
                      </a:pPr>
                      <a:r>
                        <a:rPr lang="en-US" sz="16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H₁: μ ≠ 0</a:t>
                      </a:r>
                      <a:endParaRPr lang="en-US" sz="14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extLst>
                  <a:ext uri="{0D108BD9-81ED-4DB2-BD59-A6C34878D82A}">
                    <a16:rowId xmlns:a16="http://schemas.microsoft.com/office/drawing/2014/main" val="844499169"/>
                  </a:ext>
                </a:extLst>
              </a:tr>
              <a:tr h="367454">
                <a:tc>
                  <a:txBody>
                    <a:bodyPr/>
                    <a:lstStyle/>
                    <a:p>
                      <a:pPr algn="just" rtl="1">
                        <a:lnSpc>
                          <a:spcPct val="150000"/>
                        </a:lnSpc>
                        <a:spcAft>
                          <a:spcPts val="800"/>
                        </a:spcAft>
                      </a:pPr>
                      <a:r>
                        <a:rPr lang="en-US" sz="9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Z-Value</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just" rtl="1">
                        <a:lnSpc>
                          <a:spcPct val="150000"/>
                        </a:lnSpc>
                        <a:spcAft>
                          <a:spcPts val="800"/>
                        </a:spcAft>
                      </a:pPr>
                      <a:r>
                        <a:rPr lang="en-US" sz="9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just" rtl="1">
                        <a:lnSpc>
                          <a:spcPct val="150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just" rtl="1">
                        <a:lnSpc>
                          <a:spcPct val="150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3748935302"/>
                  </a:ext>
                </a:extLst>
              </a:tr>
              <a:tr h="370840">
                <a:tc>
                  <a:txBody>
                    <a:bodyPr/>
                    <a:lstStyle/>
                    <a:p>
                      <a:pPr algn="just"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-0.13</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just"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0.893</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just" rtl="1">
                        <a:lnSpc>
                          <a:spcPct val="150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just" rtl="1">
                        <a:lnSpc>
                          <a:spcPct val="150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1989742056"/>
                  </a:ext>
                </a:extLst>
              </a:tr>
            </a:tbl>
          </a:graphicData>
        </a:graphic>
      </p:graphicFrame>
      <p:graphicFrame>
        <p:nvGraphicFramePr>
          <p:cNvPr id="6" name="جدول 5">
            <a:extLst>
              <a:ext uri="{FF2B5EF4-FFF2-40B4-BE49-F238E27FC236}">
                <a16:creationId xmlns:a16="http://schemas.microsoft.com/office/drawing/2014/main" id="{07337467-A94C-721C-F625-E8B2250FE7AF}"/>
              </a:ext>
            </a:extLst>
          </p:cNvPr>
          <p:cNvGraphicFramePr>
            <a:graphicFrameLocks noGrp="1"/>
          </p:cNvGraphicFramePr>
          <p:nvPr>
            <p:extLst>
              <p:ext uri="{D42A27DB-BD31-4B8C-83A1-F6EECF244321}">
                <p14:modId xmlns:p14="http://schemas.microsoft.com/office/powerpoint/2010/main" val="3716970817"/>
              </p:ext>
            </p:extLst>
          </p:nvPr>
        </p:nvGraphicFramePr>
        <p:xfrm>
          <a:off x="214296" y="3448999"/>
          <a:ext cx="4554555" cy="1403924"/>
        </p:xfrm>
        <a:graphic>
          <a:graphicData uri="http://schemas.openxmlformats.org/drawingml/2006/table">
            <a:tbl>
              <a:tblPr rtl="1" firstRow="1" bandRow="1">
                <a:tableStyleId>{5C22544A-7EE6-4342-B048-85BDC9FD1C3A}</a:tableStyleId>
              </a:tblPr>
              <a:tblGrid>
                <a:gridCol w="910911">
                  <a:extLst>
                    <a:ext uri="{9D8B030D-6E8A-4147-A177-3AD203B41FA5}">
                      <a16:colId xmlns:a16="http://schemas.microsoft.com/office/drawing/2014/main" val="294285369"/>
                    </a:ext>
                  </a:extLst>
                </a:gridCol>
                <a:gridCol w="910911">
                  <a:extLst>
                    <a:ext uri="{9D8B030D-6E8A-4147-A177-3AD203B41FA5}">
                      <a16:colId xmlns:a16="http://schemas.microsoft.com/office/drawing/2014/main" val="447968891"/>
                    </a:ext>
                  </a:extLst>
                </a:gridCol>
                <a:gridCol w="910911">
                  <a:extLst>
                    <a:ext uri="{9D8B030D-6E8A-4147-A177-3AD203B41FA5}">
                      <a16:colId xmlns:a16="http://schemas.microsoft.com/office/drawing/2014/main" val="1966137155"/>
                    </a:ext>
                  </a:extLst>
                </a:gridCol>
                <a:gridCol w="910911">
                  <a:extLst>
                    <a:ext uri="{9D8B030D-6E8A-4147-A177-3AD203B41FA5}">
                      <a16:colId xmlns:a16="http://schemas.microsoft.com/office/drawing/2014/main" val="2278641299"/>
                    </a:ext>
                  </a:extLst>
                </a:gridCol>
                <a:gridCol w="910911">
                  <a:extLst>
                    <a:ext uri="{9D8B030D-6E8A-4147-A177-3AD203B41FA5}">
                      <a16:colId xmlns:a16="http://schemas.microsoft.com/office/drawing/2014/main" val="110640292"/>
                    </a:ext>
                  </a:extLst>
                </a:gridCol>
              </a:tblGrid>
              <a:tr h="259144">
                <a:tc gridSpan="2">
                  <a:txBody>
                    <a:bodyPr/>
                    <a:lstStyle/>
                    <a:p>
                      <a:pPr algn="l" rtl="1">
                        <a:lnSpc>
                          <a:spcPct val="150000"/>
                        </a:lnSpc>
                        <a:spcAft>
                          <a:spcPts val="800"/>
                        </a:spcAft>
                      </a:pPr>
                      <a:r>
                        <a:rPr lang="en-US" sz="12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Null hypothesis</a:t>
                      </a:r>
                      <a:endParaRPr lang="en-US" sz="16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gridSpan="3">
                  <a:txBody>
                    <a:bodyPr/>
                    <a:lstStyle/>
                    <a:p>
                      <a:pPr algn="l" rtl="1">
                        <a:lnSpc>
                          <a:spcPct val="150000"/>
                        </a:lnSpc>
                        <a:spcAft>
                          <a:spcPts val="800"/>
                        </a:spcAft>
                      </a:pPr>
                      <a:r>
                        <a:rPr lang="en-US" sz="1200" b="1">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H₀: The order of the data is random</a:t>
                      </a:r>
                      <a:endParaRPr lang="en-US" sz="1600" b="1">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378498565"/>
                  </a:ext>
                </a:extLst>
              </a:tr>
              <a:tr h="259144">
                <a:tc gridSpan="2">
                  <a:txBody>
                    <a:bodyPr/>
                    <a:lstStyle/>
                    <a:p>
                      <a:pPr algn="l" rtl="1">
                        <a:lnSpc>
                          <a:spcPct val="150000"/>
                        </a:lnSpc>
                        <a:spcAft>
                          <a:spcPts val="800"/>
                        </a:spcAft>
                      </a:pPr>
                      <a:r>
                        <a:rPr lang="en-US" sz="12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Alternative hypothesis</a:t>
                      </a:r>
                      <a:endParaRPr lang="en-US" sz="16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gridSpan="3">
                  <a:txBody>
                    <a:bodyPr/>
                    <a:lstStyle/>
                    <a:p>
                      <a:pPr algn="l" rtl="1">
                        <a:lnSpc>
                          <a:spcPct val="150000"/>
                        </a:lnSpc>
                        <a:spcAft>
                          <a:spcPts val="800"/>
                        </a:spcAft>
                      </a:pPr>
                      <a:r>
                        <a:rPr lang="en-US" sz="12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H₁: The order of the data is not random</a:t>
                      </a:r>
                      <a:endParaRPr lang="en-US" sz="16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624296133"/>
                  </a:ext>
                </a:extLst>
              </a:tr>
              <a:tr h="259144">
                <a:tc gridSpan="3">
                  <a:txBody>
                    <a:bodyPr/>
                    <a:lstStyle/>
                    <a:p>
                      <a:pPr algn="l" rtl="1">
                        <a:lnSpc>
                          <a:spcPct val="150000"/>
                        </a:lnSpc>
                        <a:spcAft>
                          <a:spcPts val="800"/>
                        </a:spcAft>
                      </a:pPr>
                      <a:r>
                        <a:rPr lang="en-US" sz="14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Number of Runs</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4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07000"/>
                        </a:lnSpc>
                        <a:spcAft>
                          <a:spcPts val="800"/>
                        </a:spcAft>
                      </a:pPr>
                      <a:r>
                        <a:rPr lang="en-US" sz="18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3469974040"/>
                  </a:ext>
                </a:extLst>
              </a:tr>
              <a:tr h="259144">
                <a:tc>
                  <a:txBody>
                    <a:bodyPr/>
                    <a:lstStyle/>
                    <a:p>
                      <a:pPr algn="l" rtl="1">
                        <a:lnSpc>
                          <a:spcPct val="150000"/>
                        </a:lnSpc>
                        <a:spcAft>
                          <a:spcPts val="800"/>
                        </a:spcAft>
                      </a:pPr>
                      <a:r>
                        <a:rPr lang="en-US" sz="14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Observed</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2">
                  <a:txBody>
                    <a:bodyPr/>
                    <a:lstStyle/>
                    <a:p>
                      <a:pPr algn="l" rtl="1">
                        <a:lnSpc>
                          <a:spcPct val="150000"/>
                        </a:lnSpc>
                        <a:spcAft>
                          <a:spcPts val="800"/>
                        </a:spcAft>
                      </a:pPr>
                      <a:r>
                        <a:rPr lang="en-US" sz="14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Expected</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a:txBody>
                    <a:bodyPr/>
                    <a:lstStyle/>
                    <a:p>
                      <a:pPr algn="l" rtl="1">
                        <a:lnSpc>
                          <a:spcPct val="150000"/>
                        </a:lnSpc>
                        <a:spcAft>
                          <a:spcPts val="800"/>
                        </a:spcAft>
                      </a:pPr>
                      <a:r>
                        <a:rPr lang="en-US" sz="14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07000"/>
                        </a:lnSpc>
                        <a:spcAft>
                          <a:spcPts val="800"/>
                        </a:spcAft>
                      </a:pPr>
                      <a:r>
                        <a:rPr lang="en-US" sz="18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3505623393"/>
                  </a:ext>
                </a:extLst>
              </a:tr>
              <a:tr h="259144">
                <a:tc>
                  <a:txBody>
                    <a:bodyPr/>
                    <a:lstStyle/>
                    <a:p>
                      <a:pPr algn="l" rtl="1">
                        <a:lnSpc>
                          <a:spcPct val="150000"/>
                        </a:lnSpc>
                        <a:spcAft>
                          <a:spcPts val="800"/>
                        </a:spcAft>
                      </a:pPr>
                      <a:r>
                        <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22</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2">
                  <a:txBody>
                    <a:bodyPr/>
                    <a:lstStyle/>
                    <a:p>
                      <a:pPr algn="l" rtl="1">
                        <a:lnSpc>
                          <a:spcPct val="150000"/>
                        </a:lnSpc>
                        <a:spcAft>
                          <a:spcPts val="800"/>
                        </a:spcAft>
                      </a:pPr>
                      <a:r>
                        <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22.40</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a:txBody>
                    <a:bodyPr/>
                    <a:lstStyle/>
                    <a:p>
                      <a:pPr algn="l" rtl="1">
                        <a:lnSpc>
                          <a:spcPct val="150000"/>
                        </a:lnSpc>
                        <a:spcAft>
                          <a:spcPts val="800"/>
                        </a:spcAft>
                      </a:pPr>
                      <a:r>
                        <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0.902</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07000"/>
                        </a:lnSpc>
                        <a:spcAft>
                          <a:spcPts val="800"/>
                        </a:spcAft>
                      </a:pPr>
                      <a:r>
                        <a:rPr lang="en-US" sz="1800" dirty="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930386346"/>
                  </a:ext>
                </a:extLst>
              </a:tr>
            </a:tbl>
          </a:graphicData>
        </a:graphic>
      </p:graphicFrame>
    </p:spTree>
    <p:extLst>
      <p:ext uri="{BB962C8B-B14F-4D97-AF65-F5344CB8AC3E}">
        <p14:creationId xmlns:p14="http://schemas.microsoft.com/office/powerpoint/2010/main" val="3349440171"/>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D18D9AA-17EE-E6C7-7346-066917F3DEBC}"/>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7B852F70-B624-8E8A-AEF4-9AC0A3CAEAF3}"/>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AD40718E-F357-FF09-6C02-AED170905096}"/>
              </a:ext>
            </a:extLst>
          </p:cNvPr>
          <p:cNvSpPr>
            <a:spLocks noGrp="1"/>
          </p:cNvSpPr>
          <p:nvPr>
            <p:ph type="title"/>
          </p:nvPr>
        </p:nvSpPr>
        <p:spPr>
          <a:xfrm>
            <a:off x="802640" y="0"/>
            <a:ext cx="10552747" cy="1048861"/>
          </a:xfrm>
        </p:spPr>
        <p:txBody>
          <a:bodyPr/>
          <a:lstStyle/>
          <a:p>
            <a:r>
              <a:rPr lang="ar-SA" dirty="0"/>
              <a:t>التنبؤ</a:t>
            </a:r>
          </a:p>
        </p:txBody>
      </p:sp>
      <p:sp>
        <p:nvSpPr>
          <p:cNvPr id="10" name="عنصر نائب للنص 9">
            <a:extLst>
              <a:ext uri="{FF2B5EF4-FFF2-40B4-BE49-F238E27FC236}">
                <a16:creationId xmlns:a16="http://schemas.microsoft.com/office/drawing/2014/main" id="{6BAD6739-A214-B3D1-DFFE-1EE22FB3D616}"/>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graphicFrame>
        <p:nvGraphicFramePr>
          <p:cNvPr id="3" name="جدول 2">
            <a:extLst>
              <a:ext uri="{FF2B5EF4-FFF2-40B4-BE49-F238E27FC236}">
                <a16:creationId xmlns:a16="http://schemas.microsoft.com/office/drawing/2014/main" id="{3AA62953-8DD5-A888-5EC0-7ADC24283E84}"/>
              </a:ext>
            </a:extLst>
          </p:cNvPr>
          <p:cNvGraphicFramePr>
            <a:graphicFrameLocks noGrp="1"/>
          </p:cNvGraphicFramePr>
          <p:nvPr>
            <p:extLst>
              <p:ext uri="{D42A27DB-BD31-4B8C-83A1-F6EECF244321}">
                <p14:modId xmlns:p14="http://schemas.microsoft.com/office/powerpoint/2010/main" val="715278299"/>
              </p:ext>
            </p:extLst>
          </p:nvPr>
        </p:nvGraphicFramePr>
        <p:xfrm>
          <a:off x="409580" y="1522502"/>
          <a:ext cx="5588004" cy="2866619"/>
        </p:xfrm>
        <a:graphic>
          <a:graphicData uri="http://schemas.openxmlformats.org/drawingml/2006/table">
            <a:tbl>
              <a:tblPr bandRow="1">
                <a:tableStyleId>{5C22544A-7EE6-4342-B048-85BDC9FD1C3A}</a:tableStyleId>
              </a:tblPr>
              <a:tblGrid>
                <a:gridCol w="931334">
                  <a:extLst>
                    <a:ext uri="{9D8B030D-6E8A-4147-A177-3AD203B41FA5}">
                      <a16:colId xmlns:a16="http://schemas.microsoft.com/office/drawing/2014/main" val="4025812998"/>
                    </a:ext>
                  </a:extLst>
                </a:gridCol>
                <a:gridCol w="931334">
                  <a:extLst>
                    <a:ext uri="{9D8B030D-6E8A-4147-A177-3AD203B41FA5}">
                      <a16:colId xmlns:a16="http://schemas.microsoft.com/office/drawing/2014/main" val="187477610"/>
                    </a:ext>
                  </a:extLst>
                </a:gridCol>
                <a:gridCol w="931334">
                  <a:extLst>
                    <a:ext uri="{9D8B030D-6E8A-4147-A177-3AD203B41FA5}">
                      <a16:colId xmlns:a16="http://schemas.microsoft.com/office/drawing/2014/main" val="1648442955"/>
                    </a:ext>
                  </a:extLst>
                </a:gridCol>
                <a:gridCol w="931334">
                  <a:extLst>
                    <a:ext uri="{9D8B030D-6E8A-4147-A177-3AD203B41FA5}">
                      <a16:colId xmlns:a16="http://schemas.microsoft.com/office/drawing/2014/main" val="2879158103"/>
                    </a:ext>
                  </a:extLst>
                </a:gridCol>
                <a:gridCol w="931334">
                  <a:extLst>
                    <a:ext uri="{9D8B030D-6E8A-4147-A177-3AD203B41FA5}">
                      <a16:colId xmlns:a16="http://schemas.microsoft.com/office/drawing/2014/main" val="2894730873"/>
                    </a:ext>
                  </a:extLst>
                </a:gridCol>
                <a:gridCol w="931334">
                  <a:extLst>
                    <a:ext uri="{9D8B030D-6E8A-4147-A177-3AD203B41FA5}">
                      <a16:colId xmlns:a16="http://schemas.microsoft.com/office/drawing/2014/main" val="1496983456"/>
                    </a:ext>
                  </a:extLst>
                </a:gridCol>
              </a:tblGrid>
              <a:tr h="409517">
                <a:tc>
                  <a:txBody>
                    <a:bodyPr/>
                    <a:lstStyle/>
                    <a:p>
                      <a:pPr algn="l" rtl="1">
                        <a:lnSpc>
                          <a:spcPct val="150000"/>
                        </a:lnSpc>
                        <a:spcAft>
                          <a:spcPts val="800"/>
                        </a:spcAft>
                      </a:pPr>
                      <a:r>
                        <a:rPr lang="en-US" sz="75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l" rtl="1">
                        <a:lnSpc>
                          <a:spcPct val="150000"/>
                        </a:lnSpc>
                        <a:spcAft>
                          <a:spcPts val="800"/>
                        </a:spcAft>
                      </a:pPr>
                      <a:r>
                        <a:rPr lang="en-US" sz="7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l" rtl="1">
                        <a:lnSpc>
                          <a:spcPct val="150000"/>
                        </a:lnSpc>
                        <a:spcAft>
                          <a:spcPts val="800"/>
                        </a:spcAft>
                      </a:pPr>
                      <a:r>
                        <a:rPr lang="en-US" sz="7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gridSpan="2">
                  <a:txBody>
                    <a:bodyPr/>
                    <a:lstStyle/>
                    <a:p>
                      <a:pPr algn="l" rtl="1">
                        <a:lnSpc>
                          <a:spcPct val="150000"/>
                        </a:lnSpc>
                        <a:spcAft>
                          <a:spcPts val="800"/>
                        </a:spcAft>
                      </a:pPr>
                      <a:r>
                        <a:rPr lang="en-US" sz="7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95% Limits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hMerge="1">
                  <a:txBody>
                    <a:bodyPr/>
                    <a:lstStyle/>
                    <a:p>
                      <a:pPr rtl="1"/>
                      <a:endParaRPr lang="ar-SA"/>
                    </a:p>
                  </a:txBody>
                  <a:tcPr/>
                </a:tc>
                <a:tc>
                  <a:txBody>
                    <a:bodyPr/>
                    <a:lstStyle/>
                    <a:p>
                      <a:pPr algn="l" rtl="1">
                        <a:lnSpc>
                          <a:spcPct val="150000"/>
                        </a:lnSpc>
                        <a:spcAft>
                          <a:spcPts val="800"/>
                        </a:spcAft>
                      </a:pPr>
                      <a:r>
                        <a:rPr lang="en-US" sz="75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extLst>
                  <a:ext uri="{0D108BD9-81ED-4DB2-BD59-A6C34878D82A}">
                    <a16:rowId xmlns:a16="http://schemas.microsoft.com/office/drawing/2014/main" val="3321361510"/>
                  </a:ext>
                </a:extLst>
              </a:tr>
              <a:tr h="409517">
                <a:tc>
                  <a:txBody>
                    <a:bodyPr/>
                    <a:lstStyle/>
                    <a:p>
                      <a:pPr algn="l" rtl="1">
                        <a:lnSpc>
                          <a:spcPct val="150000"/>
                        </a:lnSpc>
                        <a:spcAft>
                          <a:spcPts val="800"/>
                        </a:spcAft>
                      </a:pPr>
                      <a:r>
                        <a:rPr lang="en-US" sz="7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Time Period</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l" rtl="1">
                        <a:lnSpc>
                          <a:spcPct val="150000"/>
                        </a:lnSpc>
                        <a:spcAft>
                          <a:spcPts val="800"/>
                        </a:spcAft>
                      </a:pPr>
                      <a:r>
                        <a:rPr lang="en-US" sz="7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Forecast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l" rtl="1">
                        <a:lnSpc>
                          <a:spcPct val="150000"/>
                        </a:lnSpc>
                        <a:spcAft>
                          <a:spcPts val="800"/>
                        </a:spcAft>
                      </a:pPr>
                      <a:r>
                        <a:rPr lang="en-US" sz="7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SE Forecast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l" rtl="1">
                        <a:lnSpc>
                          <a:spcPct val="150000"/>
                        </a:lnSpc>
                        <a:spcAft>
                          <a:spcPts val="800"/>
                        </a:spcAft>
                      </a:pPr>
                      <a:r>
                        <a:rPr lang="en-US" sz="7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Lower</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l" rtl="1">
                        <a:lnSpc>
                          <a:spcPct val="150000"/>
                        </a:lnSpc>
                        <a:spcAft>
                          <a:spcPts val="800"/>
                        </a:spcAft>
                      </a:pPr>
                      <a:r>
                        <a:rPr lang="en-US" sz="7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Upper</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tc>
                  <a:txBody>
                    <a:bodyPr/>
                    <a:lstStyle/>
                    <a:p>
                      <a:pPr algn="l" rtl="1">
                        <a:lnSpc>
                          <a:spcPct val="150000"/>
                        </a:lnSpc>
                        <a:spcAft>
                          <a:spcPts val="800"/>
                        </a:spcAft>
                      </a:pPr>
                      <a:r>
                        <a:rPr lang="en-US" sz="75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Actual</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solidFill>
                      <a:schemeClr val="bg2">
                        <a:lumMod val="75000"/>
                        <a:lumOff val="25000"/>
                      </a:schemeClr>
                    </a:solidFill>
                  </a:tcPr>
                </a:tc>
                <a:extLst>
                  <a:ext uri="{0D108BD9-81ED-4DB2-BD59-A6C34878D82A}">
                    <a16:rowId xmlns:a16="http://schemas.microsoft.com/office/drawing/2014/main" val="2156556482"/>
                  </a:ext>
                </a:extLst>
              </a:tr>
              <a:tr h="409517">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-58.0240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208.683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-467.126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351.078</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1234835102"/>
                  </a:ext>
                </a:extLst>
              </a:tr>
              <a:tr h="409517">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39.7092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230.165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-411.506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490.924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1595287942"/>
                  </a:ext>
                </a:extLst>
              </a:tr>
              <a:tr h="409517">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39.7092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230.165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-411.506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490.924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2463491931"/>
                  </a:ext>
                </a:extLst>
              </a:tr>
              <a:tr h="409517">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47</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39.7092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230.165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-411.506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490.924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1048418008"/>
                  </a:ext>
                </a:extLst>
              </a:tr>
              <a:tr h="409517">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39.7092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230.165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-411.506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490.924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1594452781"/>
                  </a:ext>
                </a:extLst>
              </a:tr>
            </a:tbl>
          </a:graphicData>
        </a:graphic>
      </p:graphicFrame>
      <p:pic>
        <p:nvPicPr>
          <p:cNvPr id="5" name="صورة 4" descr="Time Series Plot for Diff TOF">
            <a:extLst>
              <a:ext uri="{FF2B5EF4-FFF2-40B4-BE49-F238E27FC236}">
                <a16:creationId xmlns:a16="http://schemas.microsoft.com/office/drawing/2014/main" id="{B4ED2FC2-69C8-0192-061E-5A887B6C6B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34177" y="1522502"/>
            <a:ext cx="4409450" cy="2866619"/>
          </a:xfrm>
          <a:prstGeom prst="rect">
            <a:avLst/>
          </a:prstGeom>
          <a:noFill/>
          <a:ln>
            <a:noFill/>
          </a:ln>
        </p:spPr>
      </p:pic>
    </p:spTree>
    <p:extLst>
      <p:ext uri="{BB962C8B-B14F-4D97-AF65-F5344CB8AC3E}">
        <p14:creationId xmlns:p14="http://schemas.microsoft.com/office/powerpoint/2010/main" val="4225651369"/>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F2D8E3-18ED-0D39-2316-433B474E704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25E72FB-32C6-FE13-5337-FB5C66A51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1A7D6A5F-C811-5959-0996-152EDD431E67}"/>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D16234E8-36C8-E2A4-DF39-E320FFA828C2}"/>
              </a:ext>
            </a:extLst>
          </p:cNvPr>
          <p:cNvSpPr>
            <a:spLocks noGrp="1"/>
          </p:cNvSpPr>
          <p:nvPr>
            <p:ph type="ctrTitle"/>
          </p:nvPr>
        </p:nvSpPr>
        <p:spPr>
          <a:xfrm>
            <a:off x="5947410" y="4833113"/>
            <a:ext cx="6518910" cy="561848"/>
          </a:xfrm>
        </p:spPr>
        <p:txBody>
          <a:bodyPr anchor="b">
            <a:noAutofit/>
          </a:bodyPr>
          <a:lstStyle/>
          <a:p>
            <a:pPr algn="l"/>
            <a:r>
              <a:rPr lang="ar-SA" sz="3600" dirty="0"/>
              <a:t>تحليل السلسلة الزمنية للركاب الواصلين</a:t>
            </a:r>
          </a:p>
        </p:txBody>
      </p:sp>
      <p:pic>
        <p:nvPicPr>
          <p:cNvPr id="5" name="صورة 4">
            <a:extLst>
              <a:ext uri="{FF2B5EF4-FFF2-40B4-BE49-F238E27FC236}">
                <a16:creationId xmlns:a16="http://schemas.microsoft.com/office/drawing/2014/main" id="{3ED8E909-1A02-60C6-81EF-F45F130F7D8F}"/>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1628017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5B2E29E-5A79-0704-EC7F-672C659637DD}"/>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DA183128-79F1-C5E6-29C8-7E044DB11D09}"/>
              </a:ext>
            </a:extLst>
          </p:cNvPr>
          <p:cNvPicPr>
            <a:picLocks noChangeAspect="1"/>
          </p:cNvPicPr>
          <p:nvPr/>
        </p:nvPicPr>
        <p:blipFill>
          <a:blip r:embed="rId2">
            <a:alphaModFix amt="50000"/>
          </a:blip>
          <a:srcRect r="4000"/>
          <a:stretch/>
        </p:blipFill>
        <p:spPr>
          <a:xfrm>
            <a:off x="0" y="1"/>
            <a:ext cx="12191980" cy="6857999"/>
          </a:xfrm>
          <a:prstGeom prst="rect">
            <a:avLst/>
          </a:prstGeom>
        </p:spPr>
      </p:pic>
      <p:sp>
        <p:nvSpPr>
          <p:cNvPr id="7" name="عنوان 6">
            <a:extLst>
              <a:ext uri="{FF2B5EF4-FFF2-40B4-BE49-F238E27FC236}">
                <a16:creationId xmlns:a16="http://schemas.microsoft.com/office/drawing/2014/main" id="{C65C4AF1-5B6F-8615-045C-E7A4FBA38015}"/>
              </a:ext>
            </a:extLst>
          </p:cNvPr>
          <p:cNvSpPr>
            <a:spLocks noGrp="1"/>
          </p:cNvSpPr>
          <p:nvPr>
            <p:ph type="title"/>
          </p:nvPr>
        </p:nvSpPr>
        <p:spPr>
          <a:xfrm>
            <a:off x="802640" y="0"/>
            <a:ext cx="10552747" cy="1048861"/>
          </a:xfrm>
        </p:spPr>
        <p:txBody>
          <a:bodyPr/>
          <a:lstStyle/>
          <a:p>
            <a:r>
              <a:rPr lang="ar-SA" dirty="0"/>
              <a:t>اختبار الاستقرار للسلسلة الزمنية</a:t>
            </a:r>
          </a:p>
        </p:txBody>
      </p:sp>
      <p:sp>
        <p:nvSpPr>
          <p:cNvPr id="10" name="عنصر نائب للنص 9">
            <a:extLst>
              <a:ext uri="{FF2B5EF4-FFF2-40B4-BE49-F238E27FC236}">
                <a16:creationId xmlns:a16="http://schemas.microsoft.com/office/drawing/2014/main" id="{77F241AC-F43B-2DCE-CF0E-3A5E7F3AD1D8}"/>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t>نكرر نفس الخطوات السابقة (السلسلة الزمنية السابقة)</a:t>
            </a:r>
          </a:p>
        </p:txBody>
      </p:sp>
      <p:graphicFrame>
        <p:nvGraphicFramePr>
          <p:cNvPr id="2" name="جدول 1">
            <a:extLst>
              <a:ext uri="{FF2B5EF4-FFF2-40B4-BE49-F238E27FC236}">
                <a16:creationId xmlns:a16="http://schemas.microsoft.com/office/drawing/2014/main" id="{8A2A74A8-FD13-06CF-74AE-7179CEB01E20}"/>
              </a:ext>
            </a:extLst>
          </p:cNvPr>
          <p:cNvGraphicFramePr>
            <a:graphicFrameLocks noGrp="1"/>
          </p:cNvGraphicFramePr>
          <p:nvPr>
            <p:extLst>
              <p:ext uri="{D42A27DB-BD31-4B8C-83A1-F6EECF244321}">
                <p14:modId xmlns:p14="http://schemas.microsoft.com/office/powerpoint/2010/main" val="2641636961"/>
              </p:ext>
            </p:extLst>
          </p:nvPr>
        </p:nvGraphicFramePr>
        <p:xfrm>
          <a:off x="802640" y="2527345"/>
          <a:ext cx="4846320" cy="1803307"/>
        </p:xfrm>
        <a:graphic>
          <a:graphicData uri="http://schemas.openxmlformats.org/drawingml/2006/table">
            <a:tbl>
              <a:tblPr>
                <a:tableStyleId>{5C22544A-7EE6-4342-B048-85BDC9FD1C3A}</a:tableStyleId>
              </a:tblPr>
              <a:tblGrid>
                <a:gridCol w="872168">
                  <a:extLst>
                    <a:ext uri="{9D8B030D-6E8A-4147-A177-3AD203B41FA5}">
                      <a16:colId xmlns:a16="http://schemas.microsoft.com/office/drawing/2014/main" val="2620353859"/>
                    </a:ext>
                  </a:extLst>
                </a:gridCol>
                <a:gridCol w="857881">
                  <a:extLst>
                    <a:ext uri="{9D8B030D-6E8A-4147-A177-3AD203B41FA5}">
                      <a16:colId xmlns:a16="http://schemas.microsoft.com/office/drawing/2014/main" val="4226124769"/>
                    </a:ext>
                  </a:extLst>
                </a:gridCol>
                <a:gridCol w="102462">
                  <a:extLst>
                    <a:ext uri="{9D8B030D-6E8A-4147-A177-3AD203B41FA5}">
                      <a16:colId xmlns:a16="http://schemas.microsoft.com/office/drawing/2014/main" val="1100257288"/>
                    </a:ext>
                  </a:extLst>
                </a:gridCol>
                <a:gridCol w="1805564">
                  <a:extLst>
                    <a:ext uri="{9D8B030D-6E8A-4147-A177-3AD203B41FA5}">
                      <a16:colId xmlns:a16="http://schemas.microsoft.com/office/drawing/2014/main" val="3487603567"/>
                    </a:ext>
                  </a:extLst>
                </a:gridCol>
                <a:gridCol w="1208245">
                  <a:extLst>
                    <a:ext uri="{9D8B030D-6E8A-4147-A177-3AD203B41FA5}">
                      <a16:colId xmlns:a16="http://schemas.microsoft.com/office/drawing/2014/main" val="665410717"/>
                    </a:ext>
                  </a:extLst>
                </a:gridCol>
              </a:tblGrid>
              <a:tr h="247906">
                <a:tc gridSpan="3">
                  <a:txBody>
                    <a:bodyPr/>
                    <a:lstStyle/>
                    <a:p>
                      <a:pPr algn="l" rtl="1">
                        <a:lnSpc>
                          <a:spcPct val="150000"/>
                        </a:lnSpc>
                        <a:spcAft>
                          <a:spcPts val="800"/>
                        </a:spcAft>
                      </a:pPr>
                      <a:r>
                        <a:rPr lang="en-US" sz="1000">
                          <a:effectLst/>
                        </a:rPr>
                        <a:t>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000">
                          <a:effectLst/>
                        </a:rPr>
                        <a:t>Data are non-stationary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726973072"/>
                  </a:ext>
                </a:extLst>
              </a:tr>
              <a:tr h="247906">
                <a:tc gridSpan="3">
                  <a:txBody>
                    <a:bodyPr/>
                    <a:lstStyle/>
                    <a:p>
                      <a:pPr algn="l" rtl="1">
                        <a:lnSpc>
                          <a:spcPct val="150000"/>
                        </a:lnSpc>
                        <a:spcAft>
                          <a:spcPts val="800"/>
                        </a:spcAft>
                      </a:pPr>
                      <a:r>
                        <a:rPr lang="en-US" sz="1000">
                          <a:effectLst/>
                        </a:rPr>
                        <a:t>Alternative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000">
                          <a:effectLst/>
                        </a:rPr>
                        <a:t>Data are 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779280737"/>
                  </a:ext>
                </a:extLst>
              </a:tr>
              <a:tr h="411683">
                <a:tc>
                  <a:txBody>
                    <a:bodyPr/>
                    <a:lstStyle/>
                    <a:p>
                      <a:pPr algn="l" rtl="1">
                        <a:lnSpc>
                          <a:spcPct val="150000"/>
                        </a:lnSpc>
                        <a:spcAft>
                          <a:spcPts val="800"/>
                        </a:spcAft>
                      </a:pPr>
                      <a:r>
                        <a:rPr lang="en-US" sz="800">
                          <a:effectLst/>
                        </a:rPr>
                        <a:t>Test</a:t>
                      </a:r>
                      <a:br>
                        <a:rPr lang="en-US" sz="800">
                          <a:effectLst/>
                        </a:rPr>
                      </a:br>
                      <a:r>
                        <a:rPr lang="en-US" sz="800">
                          <a:effectLst/>
                        </a:rPr>
                        <a:t>Statistic</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800">
                          <a:effectLst/>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3">
                  <a:txBody>
                    <a:bodyPr/>
                    <a:lstStyle/>
                    <a:p>
                      <a:pPr algn="l" rtl="1">
                        <a:lnSpc>
                          <a:spcPct val="150000"/>
                        </a:lnSpc>
                        <a:spcAft>
                          <a:spcPts val="800"/>
                        </a:spcAft>
                      </a:pPr>
                      <a:r>
                        <a:rPr lang="en-US" sz="800">
                          <a:effectLst/>
                        </a:rPr>
                        <a:t>  Recommendation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934615998"/>
                  </a:ext>
                </a:extLst>
              </a:tr>
              <a:tr h="223953">
                <a:tc>
                  <a:txBody>
                    <a:bodyPr/>
                    <a:lstStyle/>
                    <a:p>
                      <a:pPr algn="l" rtl="1">
                        <a:lnSpc>
                          <a:spcPct val="150000"/>
                        </a:lnSpc>
                        <a:spcAft>
                          <a:spcPts val="800"/>
                        </a:spcAft>
                      </a:pPr>
                      <a:r>
                        <a:rPr lang="en-US" sz="900">
                          <a:effectLst/>
                        </a:rPr>
                        <a:t>-0.964797</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900">
                          <a:effectLst/>
                        </a:rPr>
                        <a:t>0.766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3">
                  <a:txBody>
                    <a:bodyPr/>
                    <a:lstStyle/>
                    <a:p>
                      <a:pPr algn="l" rtl="1">
                        <a:lnSpc>
                          <a:spcPct val="150000"/>
                        </a:lnSpc>
                        <a:spcAft>
                          <a:spcPts val="800"/>
                        </a:spcAft>
                      </a:pPr>
                      <a:r>
                        <a:rPr lang="en-US" sz="900" dirty="0">
                          <a:effectLst/>
                        </a:rPr>
                        <a:t>Test statistic &gt; critical value of -2.93513.</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4150703808"/>
                  </a:ext>
                </a:extLst>
              </a:tr>
              <a:tr h="223953">
                <a:tc>
                  <a:txBody>
                    <a:bodyPr/>
                    <a:lstStyle/>
                    <a:p>
                      <a:pPr algn="l" rtl="1">
                        <a:lnSpc>
                          <a:spcPct val="150000"/>
                        </a:lnSpc>
                        <a:spcAft>
                          <a:spcPts val="800"/>
                        </a:spcAft>
                      </a:pPr>
                      <a:r>
                        <a:rPr lang="en-US" sz="9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9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900">
                          <a:effectLst/>
                        </a:rPr>
                        <a:t>Significance level = 0.05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399211382"/>
                  </a:ext>
                </a:extLst>
              </a:tr>
              <a:tr h="223953">
                <a:tc>
                  <a:txBody>
                    <a:bodyPr/>
                    <a:lstStyle/>
                    <a:p>
                      <a:pPr algn="l" rtl="1">
                        <a:lnSpc>
                          <a:spcPct val="150000"/>
                        </a:lnSpc>
                        <a:spcAft>
                          <a:spcPts val="800"/>
                        </a:spcAft>
                      </a:pPr>
                      <a:r>
                        <a:rPr lang="en-US" sz="9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0">
                        <a:lnSpc>
                          <a:spcPct val="150000"/>
                        </a:lnSpc>
                        <a:spcAft>
                          <a:spcPts val="800"/>
                        </a:spcAft>
                      </a:pPr>
                      <a:r>
                        <a:rPr lang="en-US" sz="9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900">
                          <a:effectLst/>
                        </a:rPr>
                        <a:t>Fail to reject 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699404328"/>
                  </a:ext>
                </a:extLst>
              </a:tr>
              <a:tr h="223953">
                <a:tc>
                  <a:txBody>
                    <a:bodyPr/>
                    <a:lstStyle/>
                    <a:p>
                      <a:pPr algn="r" rtl="1">
                        <a:lnSpc>
                          <a:spcPct val="150000"/>
                        </a:lnSpc>
                        <a:spcAft>
                          <a:spcPts val="800"/>
                        </a:spcAft>
                      </a:pPr>
                      <a:r>
                        <a:rPr lang="en-US" sz="9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r" rtl="1">
                        <a:lnSpc>
                          <a:spcPct val="150000"/>
                        </a:lnSpc>
                        <a:spcAft>
                          <a:spcPts val="800"/>
                        </a:spcAft>
                      </a:pPr>
                      <a:r>
                        <a:rPr lang="en-US" sz="9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900" dirty="0">
                          <a:effectLst/>
                        </a:rPr>
                        <a:t>Consider differencing to make data stationary.</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989848679"/>
                  </a:ext>
                </a:extLst>
              </a:tr>
            </a:tbl>
          </a:graphicData>
        </a:graphic>
      </p:graphicFrame>
      <p:sp>
        <p:nvSpPr>
          <p:cNvPr id="5" name="مربع نص 4">
            <a:extLst>
              <a:ext uri="{FF2B5EF4-FFF2-40B4-BE49-F238E27FC236}">
                <a16:creationId xmlns:a16="http://schemas.microsoft.com/office/drawing/2014/main" id="{8F31CDCA-85BF-8105-4F28-E180C719678A}"/>
              </a:ext>
            </a:extLst>
          </p:cNvPr>
          <p:cNvSpPr txBox="1"/>
          <p:nvPr/>
        </p:nvSpPr>
        <p:spPr>
          <a:xfrm>
            <a:off x="751998" y="2015489"/>
            <a:ext cx="323088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Augmented Dickey-Fuller Test</a:t>
            </a:r>
            <a:endParaRPr lang="en-US" sz="28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pic>
        <p:nvPicPr>
          <p:cNvPr id="6" name="صورة 5" descr="Time Series Plot of Total of Passengers">
            <a:extLst>
              <a:ext uri="{FF2B5EF4-FFF2-40B4-BE49-F238E27FC236}">
                <a16:creationId xmlns:a16="http://schemas.microsoft.com/office/drawing/2014/main" id="{3619B1C8-2D59-5774-7C62-FA2D1AC7318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79013" y="2015489"/>
            <a:ext cx="4233767" cy="2827020"/>
          </a:xfrm>
          <a:prstGeom prst="rect">
            <a:avLst/>
          </a:prstGeom>
          <a:noFill/>
          <a:ln>
            <a:noFill/>
          </a:ln>
        </p:spPr>
      </p:pic>
    </p:spTree>
    <p:extLst>
      <p:ext uri="{BB962C8B-B14F-4D97-AF65-F5344CB8AC3E}">
        <p14:creationId xmlns:p14="http://schemas.microsoft.com/office/powerpoint/2010/main" val="3384129341"/>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EF7E03E-B200-026F-3C92-B509FA1E6668}"/>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2E222695-3360-ED03-7998-2163ABDDDF29}"/>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9D299CEA-9978-4A60-460A-2F5E79F9F24D}"/>
              </a:ext>
            </a:extLst>
          </p:cNvPr>
          <p:cNvSpPr>
            <a:spLocks noGrp="1"/>
          </p:cNvSpPr>
          <p:nvPr>
            <p:ph type="title"/>
          </p:nvPr>
        </p:nvSpPr>
        <p:spPr>
          <a:xfrm>
            <a:off x="802640" y="0"/>
            <a:ext cx="10552747" cy="1048861"/>
          </a:xfrm>
        </p:spPr>
        <p:txBody>
          <a:bodyPr/>
          <a:lstStyle/>
          <a:p>
            <a:r>
              <a:rPr lang="ar-SA" dirty="0"/>
              <a:t>اختبار الاستقرار للسلسلة الزمنية</a:t>
            </a:r>
          </a:p>
        </p:txBody>
      </p:sp>
      <p:sp>
        <p:nvSpPr>
          <p:cNvPr id="10" name="عنصر نائب للنص 9">
            <a:extLst>
              <a:ext uri="{FF2B5EF4-FFF2-40B4-BE49-F238E27FC236}">
                <a16:creationId xmlns:a16="http://schemas.microsoft.com/office/drawing/2014/main" id="{41E9506D-3146-3DE7-4924-4AB49F328D4F}"/>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t>بعد حساب الفروقات يمكن اختبار الاستقرار</a:t>
            </a:r>
          </a:p>
        </p:txBody>
      </p:sp>
      <p:graphicFrame>
        <p:nvGraphicFramePr>
          <p:cNvPr id="2" name="جدول 1">
            <a:extLst>
              <a:ext uri="{FF2B5EF4-FFF2-40B4-BE49-F238E27FC236}">
                <a16:creationId xmlns:a16="http://schemas.microsoft.com/office/drawing/2014/main" id="{FD47743B-3920-974C-912E-0778D889C31A}"/>
              </a:ext>
            </a:extLst>
          </p:cNvPr>
          <p:cNvGraphicFramePr>
            <a:graphicFrameLocks noGrp="1"/>
          </p:cNvGraphicFramePr>
          <p:nvPr>
            <p:extLst>
              <p:ext uri="{D42A27DB-BD31-4B8C-83A1-F6EECF244321}">
                <p14:modId xmlns:p14="http://schemas.microsoft.com/office/powerpoint/2010/main" val="1927928138"/>
              </p:ext>
            </p:extLst>
          </p:nvPr>
        </p:nvGraphicFramePr>
        <p:xfrm>
          <a:off x="1151513" y="2464719"/>
          <a:ext cx="4138414" cy="1928559"/>
        </p:xfrm>
        <a:graphic>
          <a:graphicData uri="http://schemas.openxmlformats.org/drawingml/2006/table">
            <a:tbl>
              <a:tblPr>
                <a:tableStyleId>{5C22544A-7EE6-4342-B048-85BDC9FD1C3A}</a:tableStyleId>
              </a:tblPr>
              <a:tblGrid>
                <a:gridCol w="764540">
                  <a:extLst>
                    <a:ext uri="{9D8B030D-6E8A-4147-A177-3AD203B41FA5}">
                      <a16:colId xmlns:a16="http://schemas.microsoft.com/office/drawing/2014/main" val="27241720"/>
                    </a:ext>
                  </a:extLst>
                </a:gridCol>
                <a:gridCol w="608330">
                  <a:extLst>
                    <a:ext uri="{9D8B030D-6E8A-4147-A177-3AD203B41FA5}">
                      <a16:colId xmlns:a16="http://schemas.microsoft.com/office/drawing/2014/main" val="1240065005"/>
                    </a:ext>
                  </a:extLst>
                </a:gridCol>
                <a:gridCol w="104894">
                  <a:extLst>
                    <a:ext uri="{9D8B030D-6E8A-4147-A177-3AD203B41FA5}">
                      <a16:colId xmlns:a16="http://schemas.microsoft.com/office/drawing/2014/main" val="675366735"/>
                    </a:ext>
                  </a:extLst>
                </a:gridCol>
                <a:gridCol w="1281430">
                  <a:extLst>
                    <a:ext uri="{9D8B030D-6E8A-4147-A177-3AD203B41FA5}">
                      <a16:colId xmlns:a16="http://schemas.microsoft.com/office/drawing/2014/main" val="2976607154"/>
                    </a:ext>
                  </a:extLst>
                </a:gridCol>
                <a:gridCol w="1379220">
                  <a:extLst>
                    <a:ext uri="{9D8B030D-6E8A-4147-A177-3AD203B41FA5}">
                      <a16:colId xmlns:a16="http://schemas.microsoft.com/office/drawing/2014/main" val="2620153622"/>
                    </a:ext>
                  </a:extLst>
                </a:gridCol>
              </a:tblGrid>
              <a:tr h="175260">
                <a:tc gridSpan="3">
                  <a:txBody>
                    <a:bodyPr/>
                    <a:lstStyle/>
                    <a:p>
                      <a:pPr algn="just" rtl="1">
                        <a:lnSpc>
                          <a:spcPct val="150000"/>
                        </a:lnSpc>
                        <a:spcAft>
                          <a:spcPts val="800"/>
                        </a:spcAft>
                      </a:pPr>
                      <a:r>
                        <a:rPr lang="en-US" sz="900">
                          <a:effectLst/>
                        </a:rPr>
                        <a:t>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just" rtl="1">
                        <a:lnSpc>
                          <a:spcPct val="150000"/>
                        </a:lnSpc>
                        <a:spcAft>
                          <a:spcPts val="800"/>
                        </a:spcAft>
                      </a:pPr>
                      <a:r>
                        <a:rPr lang="en-US" sz="900">
                          <a:effectLst/>
                        </a:rPr>
                        <a:t>Data are non-stationary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7797412"/>
                  </a:ext>
                </a:extLst>
              </a:tr>
              <a:tr h="175260">
                <a:tc gridSpan="3">
                  <a:txBody>
                    <a:bodyPr/>
                    <a:lstStyle/>
                    <a:p>
                      <a:pPr algn="just" rtl="1">
                        <a:lnSpc>
                          <a:spcPct val="150000"/>
                        </a:lnSpc>
                        <a:spcAft>
                          <a:spcPts val="800"/>
                        </a:spcAft>
                      </a:pPr>
                      <a:r>
                        <a:rPr lang="en-US" sz="900">
                          <a:effectLst/>
                        </a:rPr>
                        <a:t>Alternative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just" rtl="1">
                        <a:lnSpc>
                          <a:spcPct val="150000"/>
                        </a:lnSpc>
                        <a:spcAft>
                          <a:spcPts val="800"/>
                        </a:spcAft>
                      </a:pPr>
                      <a:r>
                        <a:rPr lang="en-US" sz="900">
                          <a:effectLst/>
                        </a:rPr>
                        <a:t>Data are 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066663589"/>
                  </a:ext>
                </a:extLst>
              </a:tr>
              <a:tr h="149860">
                <a:tc>
                  <a:txBody>
                    <a:bodyPr/>
                    <a:lstStyle/>
                    <a:p>
                      <a:pPr algn="just" rtl="1">
                        <a:lnSpc>
                          <a:spcPct val="150000"/>
                        </a:lnSpc>
                        <a:spcAft>
                          <a:spcPts val="800"/>
                        </a:spcAft>
                      </a:pPr>
                      <a:r>
                        <a:rPr lang="en-US" sz="1000">
                          <a:effectLst/>
                        </a:rPr>
                        <a:t>Test</a:t>
                      </a:r>
                      <a:br>
                        <a:rPr lang="en-US" sz="1000">
                          <a:effectLst/>
                        </a:rPr>
                      </a:br>
                      <a:r>
                        <a:rPr lang="en-US" sz="1000">
                          <a:effectLst/>
                        </a:rPr>
                        <a:t>Statistic</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just" rtl="1">
                        <a:lnSpc>
                          <a:spcPct val="150000"/>
                        </a:lnSpc>
                        <a:spcAft>
                          <a:spcPts val="800"/>
                        </a:spcAft>
                      </a:pPr>
                      <a:r>
                        <a:rPr lang="en-US" sz="1000">
                          <a:effectLst/>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3">
                  <a:txBody>
                    <a:bodyPr/>
                    <a:lstStyle/>
                    <a:p>
                      <a:pPr algn="just" rtl="1">
                        <a:lnSpc>
                          <a:spcPct val="150000"/>
                        </a:lnSpc>
                        <a:spcAft>
                          <a:spcPts val="800"/>
                        </a:spcAft>
                      </a:pPr>
                      <a:r>
                        <a:rPr lang="en-US" sz="1000">
                          <a:effectLst/>
                        </a:rPr>
                        <a:t>Recommendation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4043410405"/>
                  </a:ext>
                </a:extLst>
              </a:tr>
              <a:tr h="86995">
                <a:tc>
                  <a:txBody>
                    <a:bodyPr/>
                    <a:lstStyle/>
                    <a:p>
                      <a:pPr algn="just" rtl="1">
                        <a:lnSpc>
                          <a:spcPct val="150000"/>
                        </a:lnSpc>
                        <a:spcAft>
                          <a:spcPts val="800"/>
                        </a:spcAft>
                      </a:pPr>
                      <a:r>
                        <a:rPr lang="en-US" sz="900">
                          <a:effectLst/>
                        </a:rPr>
                        <a:t>-7.54753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just" rtl="1">
                        <a:lnSpc>
                          <a:spcPct val="150000"/>
                        </a:lnSpc>
                        <a:spcAft>
                          <a:spcPts val="800"/>
                        </a:spcAft>
                      </a:pPr>
                      <a:r>
                        <a:rPr lang="en-US" sz="900">
                          <a:effectLst/>
                        </a:rPr>
                        <a:t>0.000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3">
                  <a:txBody>
                    <a:bodyPr/>
                    <a:lstStyle/>
                    <a:p>
                      <a:pPr algn="just" rtl="1">
                        <a:lnSpc>
                          <a:spcPct val="150000"/>
                        </a:lnSpc>
                        <a:spcAft>
                          <a:spcPts val="800"/>
                        </a:spcAft>
                      </a:pPr>
                      <a:r>
                        <a:rPr lang="en-US" sz="1000">
                          <a:effectLst/>
                        </a:rPr>
                        <a:t>Test statistic &lt;= critical value of -2.93513.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302711843"/>
                  </a:ext>
                </a:extLst>
              </a:tr>
              <a:tr h="86995">
                <a:tc>
                  <a:txBody>
                    <a:bodyPr/>
                    <a:lstStyle/>
                    <a:p>
                      <a:pPr algn="just" rtl="1">
                        <a:lnSpc>
                          <a:spcPct val="150000"/>
                        </a:lnSpc>
                        <a:spcAft>
                          <a:spcPts val="800"/>
                        </a:spcAft>
                      </a:pPr>
                      <a:r>
                        <a:rPr lang="en-US" sz="9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just" rtl="1">
                        <a:lnSpc>
                          <a:spcPct val="150000"/>
                        </a:lnSpc>
                        <a:spcAft>
                          <a:spcPts val="800"/>
                        </a:spcAft>
                      </a:pPr>
                      <a:r>
                        <a:rPr lang="en-US" sz="9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just" rtl="1">
                        <a:lnSpc>
                          <a:spcPct val="150000"/>
                        </a:lnSpc>
                        <a:spcAft>
                          <a:spcPts val="800"/>
                        </a:spcAft>
                      </a:pPr>
                      <a:r>
                        <a:rPr lang="en-US" sz="1000">
                          <a:effectLst/>
                        </a:rPr>
                        <a:t>Significance level = 0.05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827612082"/>
                  </a:ext>
                </a:extLst>
              </a:tr>
              <a:tr h="86995">
                <a:tc>
                  <a:txBody>
                    <a:bodyPr/>
                    <a:lstStyle/>
                    <a:p>
                      <a:pPr algn="just"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just"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just" rtl="1">
                        <a:lnSpc>
                          <a:spcPct val="150000"/>
                        </a:lnSpc>
                        <a:spcAft>
                          <a:spcPts val="800"/>
                        </a:spcAft>
                      </a:pPr>
                      <a:r>
                        <a:rPr lang="en-US" sz="1000">
                          <a:effectLst/>
                        </a:rPr>
                        <a:t>Reject 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513209448"/>
                  </a:ext>
                </a:extLst>
              </a:tr>
              <a:tr h="175260">
                <a:tc>
                  <a:txBody>
                    <a:bodyPr/>
                    <a:lstStyle/>
                    <a:p>
                      <a:pPr algn="just"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just"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just" rtl="1">
                        <a:lnSpc>
                          <a:spcPct val="150000"/>
                        </a:lnSpc>
                        <a:spcAft>
                          <a:spcPts val="800"/>
                        </a:spcAft>
                      </a:pPr>
                      <a:r>
                        <a:rPr lang="en-US" sz="1000" dirty="0">
                          <a:effectLst/>
                        </a:rPr>
                        <a:t>Data appears to be stationary, not supporting differencing.</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281036068"/>
                  </a:ext>
                </a:extLst>
              </a:tr>
            </a:tbl>
          </a:graphicData>
        </a:graphic>
      </p:graphicFrame>
      <p:pic>
        <p:nvPicPr>
          <p:cNvPr id="3" name="صورة 2" descr="Time Series Plot of Diff TOP">
            <a:extLst>
              <a:ext uri="{FF2B5EF4-FFF2-40B4-BE49-F238E27FC236}">
                <a16:creationId xmlns:a16="http://schemas.microsoft.com/office/drawing/2014/main" id="{2813C9D8-7F05-CE4A-229B-5D06CB296D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206511"/>
            <a:ext cx="4288143" cy="2863329"/>
          </a:xfrm>
          <a:prstGeom prst="rect">
            <a:avLst/>
          </a:prstGeom>
          <a:noFill/>
          <a:ln>
            <a:noFill/>
          </a:ln>
        </p:spPr>
      </p:pic>
      <p:sp>
        <p:nvSpPr>
          <p:cNvPr id="6" name="مربع نص 5">
            <a:extLst>
              <a:ext uri="{FF2B5EF4-FFF2-40B4-BE49-F238E27FC236}">
                <a16:creationId xmlns:a16="http://schemas.microsoft.com/office/drawing/2014/main" id="{1F31A959-8A83-75AF-B690-452CFD9C3937}"/>
              </a:ext>
            </a:extLst>
          </p:cNvPr>
          <p:cNvSpPr txBox="1"/>
          <p:nvPr/>
        </p:nvSpPr>
        <p:spPr>
          <a:xfrm>
            <a:off x="1149985" y="1973658"/>
            <a:ext cx="327152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Augmented Dickey-Fuller Test</a:t>
            </a:r>
            <a:endParaRPr lang="en-US" sz="28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478605712"/>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AC45DE3-61E8-1C20-09AF-963E39E4E86F}"/>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7948EDE3-6156-9F5F-C37B-DE75EF51FAC9}"/>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D09C5191-B487-497B-6EC8-CD9B024C070D}"/>
              </a:ext>
            </a:extLst>
          </p:cNvPr>
          <p:cNvSpPr>
            <a:spLocks noGrp="1"/>
          </p:cNvSpPr>
          <p:nvPr>
            <p:ph type="title"/>
          </p:nvPr>
        </p:nvSpPr>
        <p:spPr>
          <a:xfrm>
            <a:off x="802640" y="0"/>
            <a:ext cx="10552747" cy="1048861"/>
          </a:xfrm>
        </p:spPr>
        <p:txBody>
          <a:bodyPr/>
          <a:lstStyle/>
          <a:p>
            <a:r>
              <a:rPr lang="ar-SA" dirty="0"/>
              <a:t>دوال الارتباط الذاتي</a:t>
            </a:r>
          </a:p>
        </p:txBody>
      </p:sp>
      <p:sp>
        <p:nvSpPr>
          <p:cNvPr id="10" name="عنصر نائب للنص 9">
            <a:extLst>
              <a:ext uri="{FF2B5EF4-FFF2-40B4-BE49-F238E27FC236}">
                <a16:creationId xmlns:a16="http://schemas.microsoft.com/office/drawing/2014/main" id="{F4737915-BA4D-F039-7BA3-EC7492219058}"/>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pic>
        <p:nvPicPr>
          <p:cNvPr id="2" name="صورة 1" descr="Autocorrelation for Diff TOP">
            <a:extLst>
              <a:ext uri="{FF2B5EF4-FFF2-40B4-BE49-F238E27FC236}">
                <a16:creationId xmlns:a16="http://schemas.microsoft.com/office/drawing/2014/main" id="{0819A514-0896-9C0D-A878-EDC807A3D62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5267" y="1976720"/>
            <a:ext cx="4770120" cy="3185160"/>
          </a:xfrm>
          <a:prstGeom prst="rect">
            <a:avLst/>
          </a:prstGeom>
          <a:noFill/>
          <a:ln>
            <a:noFill/>
          </a:ln>
        </p:spPr>
      </p:pic>
      <p:pic>
        <p:nvPicPr>
          <p:cNvPr id="3" name="صورة 2" descr="Partial Autocorrelation for Diff TOP">
            <a:extLst>
              <a:ext uri="{FF2B5EF4-FFF2-40B4-BE49-F238E27FC236}">
                <a16:creationId xmlns:a16="http://schemas.microsoft.com/office/drawing/2014/main" id="{A64D0987-963D-0D9A-97A9-DF1F4CB3568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89952" y="1976720"/>
            <a:ext cx="4770120" cy="3185160"/>
          </a:xfrm>
          <a:prstGeom prst="rect">
            <a:avLst/>
          </a:prstGeom>
          <a:noFill/>
          <a:ln>
            <a:noFill/>
          </a:ln>
        </p:spPr>
      </p:pic>
      <p:sp>
        <p:nvSpPr>
          <p:cNvPr id="5" name="مربع نص 4">
            <a:extLst>
              <a:ext uri="{FF2B5EF4-FFF2-40B4-BE49-F238E27FC236}">
                <a16:creationId xmlns:a16="http://schemas.microsoft.com/office/drawing/2014/main" id="{5488601A-9E40-4C8D-0FB0-7ADF1FAD7999}"/>
              </a:ext>
            </a:extLst>
          </p:cNvPr>
          <p:cNvSpPr txBox="1"/>
          <p:nvPr/>
        </p:nvSpPr>
        <p:spPr>
          <a:xfrm>
            <a:off x="6675120" y="1635760"/>
            <a:ext cx="4551680" cy="369332"/>
          </a:xfrm>
          <a:prstGeom prst="rect">
            <a:avLst/>
          </a:prstGeom>
          <a:noFill/>
        </p:spPr>
        <p:txBody>
          <a:bodyPr wrap="square" rtlCol="1">
            <a:spAutoFit/>
          </a:bodyPr>
          <a:lstStyle/>
          <a:p>
            <a:r>
              <a:rPr lang="ar-SA" dirty="0"/>
              <a:t>دالة الارتباط الذاتي</a:t>
            </a:r>
          </a:p>
        </p:txBody>
      </p:sp>
      <p:sp>
        <p:nvSpPr>
          <p:cNvPr id="6" name="مربع نص 5">
            <a:extLst>
              <a:ext uri="{FF2B5EF4-FFF2-40B4-BE49-F238E27FC236}">
                <a16:creationId xmlns:a16="http://schemas.microsoft.com/office/drawing/2014/main" id="{4B5F0C32-9CBC-FBB5-4BD1-5237A66B9B67}"/>
              </a:ext>
            </a:extLst>
          </p:cNvPr>
          <p:cNvSpPr txBox="1"/>
          <p:nvPr/>
        </p:nvSpPr>
        <p:spPr>
          <a:xfrm>
            <a:off x="999172" y="1603494"/>
            <a:ext cx="4551680" cy="369332"/>
          </a:xfrm>
          <a:prstGeom prst="rect">
            <a:avLst/>
          </a:prstGeom>
          <a:noFill/>
        </p:spPr>
        <p:txBody>
          <a:bodyPr wrap="square" rtlCol="1">
            <a:spAutoFit/>
          </a:bodyPr>
          <a:lstStyle/>
          <a:p>
            <a:r>
              <a:rPr lang="ar-SA" dirty="0"/>
              <a:t>دالة الارتباط الجزئي الذاتي</a:t>
            </a:r>
          </a:p>
        </p:txBody>
      </p:sp>
    </p:spTree>
    <p:extLst>
      <p:ext uri="{BB962C8B-B14F-4D97-AF65-F5344CB8AC3E}">
        <p14:creationId xmlns:p14="http://schemas.microsoft.com/office/powerpoint/2010/main" val="2841167080"/>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662F25C-BDB0-ADC7-B357-EC09FEF3AE31}"/>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EB97870C-AADA-A8EF-2815-66A698AF644C}"/>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B31492DE-E636-07D5-287C-DF973DA554EA}"/>
              </a:ext>
            </a:extLst>
          </p:cNvPr>
          <p:cNvSpPr>
            <a:spLocks noGrp="1"/>
          </p:cNvSpPr>
          <p:nvPr>
            <p:ph type="title"/>
          </p:nvPr>
        </p:nvSpPr>
        <p:spPr>
          <a:xfrm>
            <a:off x="802640" y="0"/>
            <a:ext cx="10552747" cy="1048861"/>
          </a:xfrm>
        </p:spPr>
        <p:txBody>
          <a:bodyPr/>
          <a:lstStyle/>
          <a:p>
            <a:r>
              <a:rPr lang="ar-SA" dirty="0"/>
              <a:t>نموذج </a:t>
            </a:r>
            <a:r>
              <a:rPr lang="en-US" dirty="0"/>
              <a:t>ARIMA (0,1,1)</a:t>
            </a:r>
            <a:endParaRPr lang="ar-SA" dirty="0"/>
          </a:p>
        </p:txBody>
      </p:sp>
      <mc:AlternateContent xmlns:mc="http://schemas.openxmlformats.org/markup-compatibility/2006">
        <mc:Choice xmlns:a14="http://schemas.microsoft.com/office/drawing/2010/main" Requires="a14">
          <p:sp>
            <p:nvSpPr>
              <p:cNvPr id="10" name="عنصر نائب للنص 9">
                <a:extLst>
                  <a:ext uri="{FF2B5EF4-FFF2-40B4-BE49-F238E27FC236}">
                    <a16:creationId xmlns:a16="http://schemas.microsoft.com/office/drawing/2014/main" id="{95FF74D8-2DD8-53AB-628A-771FF0DB3B32}"/>
                  </a:ext>
                </a:extLst>
              </p:cNvPr>
              <p:cNvSpPr>
                <a:spLocks noGrp="1"/>
              </p:cNvSpPr>
              <p:nvPr>
                <p:ph type="body" sz="half" idx="2"/>
              </p:nvPr>
            </p:nvSpPr>
            <p:spPr>
              <a:xfrm>
                <a:off x="7315200" y="1572036"/>
                <a:ext cx="3932237" cy="4528979"/>
              </a:xfrm>
            </p:spPr>
            <p:txBody>
              <a:bodyPr>
                <a:normAutofit fontScale="85000" lnSpcReduction="10000"/>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457200" algn="r" rtl="1">
                  <a:lnSpc>
                    <a:spcPct val="150000"/>
                  </a:lnSpc>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a:effectLst/>
                              <a:latin typeface="Cambria Math" panose="02040503050406030204" pitchFamily="18" charset="0"/>
                              <a:ea typeface="Aptos" panose="020B0004020202020204" pitchFamily="34" charset="0"/>
                              <a:cs typeface="Times New Roman" panose="02020603050405020304" pitchFamily="18" charset="0"/>
                            </a:rPr>
                            <m:t>𝜃</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0</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9586</m:t>
                      </m:r>
                    </m:oMath>
                  </m:oMathPara>
                </a14:m>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457200" algn="r" rtl="1">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a:effectLst/>
                              <a:latin typeface="Cambria Math" panose="02040503050406030204" pitchFamily="18" charset="0"/>
                              <a:ea typeface="Aptos" panose="020B0004020202020204" pitchFamily="34" charset="0"/>
                              <a:cs typeface="Times New Roman" panose="02020603050405020304" pitchFamily="18" charset="0"/>
                            </a:rPr>
                            <m:t>𝐻</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0</m:t>
                          </m:r>
                        </m:sub>
                      </m:sSub>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𝜃</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0</m:t>
                      </m:r>
                      <m:r>
                        <a:rPr lang="en-US" sz="1800" i="1">
                          <a:effectLst/>
                          <a:latin typeface="Cambria Math" panose="02040503050406030204" pitchFamily="18" charset="0"/>
                          <a:ea typeface="Aptos" panose="020B0004020202020204" pitchFamily="34" charset="0"/>
                          <a:cs typeface="Times New Roman" panose="02020603050405020304" pitchFamily="18" charset="0"/>
                        </a:rPr>
                        <m:t>  </m:t>
                      </m:r>
                      <m:r>
                        <a:rPr lang="en-US" sz="1800" i="1">
                          <a:effectLst/>
                          <a:latin typeface="Cambria Math" panose="02040503050406030204" pitchFamily="18" charset="0"/>
                          <a:ea typeface="Aptos" panose="020B0004020202020204" pitchFamily="34" charset="0"/>
                          <a:cs typeface="Times New Roman" panose="02020603050405020304" pitchFamily="18" charset="0"/>
                        </a:rPr>
                        <m:t>𝑉𝑆</m:t>
                      </m:r>
                      <m:r>
                        <a:rPr lang="en-US" sz="1800" i="1">
                          <a:effectLst/>
                          <a:latin typeface="Cambria Math" panose="02040503050406030204" pitchFamily="18" charset="0"/>
                          <a:ea typeface="Aptos" panose="020B0004020202020204" pitchFamily="34" charset="0"/>
                          <a:cs typeface="Times New Roman" panose="02020603050405020304" pitchFamily="18" charset="0"/>
                        </a:rPr>
                        <m:t> </m:t>
                      </m:r>
                      <m:sSub>
                        <m:sSubPr>
                          <m:ctrlPr>
                            <a:rPr lang="en-US" sz="1800"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a:effectLst/>
                              <a:latin typeface="Cambria Math" panose="02040503050406030204" pitchFamily="18" charset="0"/>
                              <a:ea typeface="Aptos" panose="020B0004020202020204" pitchFamily="34" charset="0"/>
                              <a:cs typeface="Times New Roman" panose="02020603050405020304" pitchFamily="18" charset="0"/>
                            </a:rPr>
                            <m:t>𝐻</m:t>
                          </m:r>
                        </m:e>
                        <m:sub>
                          <m:r>
                            <a:rPr lang="en-US" sz="1800" i="1">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800" i="1">
                          <a:effectLst/>
                          <a:latin typeface="Cambria Math" panose="02040503050406030204" pitchFamily="18" charset="0"/>
                          <a:ea typeface="Aptos" panose="020B0004020202020204" pitchFamily="34" charset="0"/>
                          <a:cs typeface="Times New Roman" panose="02020603050405020304" pitchFamily="18" charset="0"/>
                        </a:rPr>
                        <m:t>: </m:t>
                      </m:r>
                      <m:r>
                        <a:rPr lang="en-US" sz="1800" i="1">
                          <a:effectLst/>
                          <a:latin typeface="Cambria Math" panose="02040503050406030204" pitchFamily="18" charset="0"/>
                          <a:ea typeface="Aptos" panose="020B0004020202020204" pitchFamily="34" charset="0"/>
                          <a:cs typeface="Times New Roman" panose="02020603050405020304" pitchFamily="18" charset="0"/>
                        </a:rPr>
                        <m:t>𝜃</m:t>
                      </m:r>
                      <m:r>
                        <a:rPr lang="en-US" sz="1800" i="1">
                          <a:effectLst/>
                          <a:latin typeface="Cambria Math" panose="02040503050406030204" pitchFamily="18" charset="0"/>
                          <a:ea typeface="Aptos" panose="020B0004020202020204" pitchFamily="34" charset="0"/>
                          <a:cs typeface="Times New Roman" panose="02020603050405020304" pitchFamily="18" charset="0"/>
                        </a:rPr>
                        <m:t>≠</m:t>
                      </m:r>
                      <m:r>
                        <a:rPr lang="en-US" sz="1800" i="1">
                          <a:effectLst/>
                          <a:latin typeface="Cambria Math" panose="02040503050406030204" pitchFamily="18" charset="0"/>
                          <a:ea typeface="Aptos" panose="020B0004020202020204" pitchFamily="34" charset="0"/>
                          <a:cs typeface="Times New Roman" panose="02020603050405020304" pitchFamily="18" charset="0"/>
                        </a:rPr>
                        <m:t>0</m:t>
                      </m:r>
                    </m:oMath>
                  </m:oMathPara>
                </a14:m>
                <a:endParaRPr lang="en-US" sz="1800" dirty="0">
                  <a:effectLst/>
                  <a:latin typeface="Aptos" panose="020B0004020202020204" pitchFamily="34" charset="0"/>
                  <a:ea typeface="Aptos" panose="020B0004020202020204" pitchFamily="34" charset="0"/>
                  <a:cs typeface="Arial" panose="020B0604020202020204" pitchFamily="34" charset="0"/>
                </a:endParaRPr>
              </a:p>
              <a:p>
                <a:r>
                  <a:rPr lang="ar-SA" sz="1800" dirty="0">
                    <a:effectLst/>
                    <a:ea typeface="Times New Roman" panose="02020603050405020304" pitchFamily="18" charset="0"/>
                    <a:cs typeface="Times New Roman" panose="02020603050405020304" pitchFamily="18" charset="0"/>
                  </a:rPr>
                  <a:t>بما ان قيمة </a:t>
                </a:r>
                <a:r>
                  <a:rPr lang="en-US" sz="1800" dirty="0">
                    <a:effectLst/>
                    <a:latin typeface="Times New Roman" panose="02020603050405020304" pitchFamily="18" charset="0"/>
                    <a:ea typeface="Times New Roman" panose="02020603050405020304" pitchFamily="18" charset="0"/>
                  </a:rPr>
                  <a:t>p-value</a:t>
                </a:r>
                <a:r>
                  <a:rPr lang="ar-SA" sz="1800" dirty="0">
                    <a:effectLst/>
                    <a:ea typeface="Times New Roman" panose="02020603050405020304" pitchFamily="18" charset="0"/>
                    <a:cs typeface="Times New Roman" panose="02020603050405020304" pitchFamily="18" charset="0"/>
                  </a:rPr>
                  <a:t> اقل من </a:t>
                </a:r>
                <a:r>
                  <a:rPr lang="en-US" sz="1800" dirty="0">
                    <a:effectLst/>
                    <a:latin typeface="Times New Roman" panose="02020603050405020304" pitchFamily="18" charset="0"/>
                    <a:ea typeface="Times New Roman" panose="02020603050405020304" pitchFamily="18" charset="0"/>
                  </a:rPr>
                  <a:t>0.05 </a:t>
                </a:r>
                <a:r>
                  <a:rPr lang="ar-SA" sz="1800" dirty="0">
                    <a:effectLst/>
                    <a:latin typeface="Times New Roman" panose="02020603050405020304" pitchFamily="18" charset="0"/>
                    <a:ea typeface="Times New Roman" panose="02020603050405020304" pitchFamily="18" charset="0"/>
                  </a:rPr>
                  <a:t>إذا نرفض الفرضية الصفرية ونستنتج بان المعلمة </a:t>
                </a:r>
                <a14:m>
                  <m:oMath xmlns:m="http://schemas.openxmlformats.org/officeDocument/2006/math">
                    <m:r>
                      <a:rPr lang="ar-SA" sz="1800" i="1">
                        <a:effectLst/>
                        <a:latin typeface="Cambria Math" panose="02040503050406030204" pitchFamily="18" charset="0"/>
                        <a:ea typeface="Times New Roman" panose="02020603050405020304" pitchFamily="18" charset="0"/>
                        <a:cs typeface="Cambria Math" panose="02040503050406030204" pitchFamily="18" charset="0"/>
                      </a:rPr>
                      <m:t>𝜃</m:t>
                    </m:r>
                  </m:oMath>
                </a14:m>
                <a:r>
                  <a:rPr lang="ar-SA" sz="1800" dirty="0">
                    <a:effectLst/>
                    <a:ea typeface="Times New Roman" panose="02020603050405020304" pitchFamily="18" charset="0"/>
                    <a:cs typeface="Times New Roman" panose="02020603050405020304" pitchFamily="18" charset="0"/>
                  </a:rPr>
                  <a:t> معنوية ويجب ان تبقى في النموذج.</a:t>
                </a:r>
              </a:p>
              <a:p>
                <a:endParaRPr lang="ar-SA" sz="1800" dirty="0">
                  <a:cs typeface="Times New Roman" panose="02020603050405020304" pitchFamily="18" charset="0"/>
                </a:endParaRPr>
              </a:p>
              <a:p>
                <a:endParaRPr lang="ar-SA" sz="1800" dirty="0">
                  <a:cs typeface="Times New Roman" panose="02020603050405020304" pitchFamily="18" charset="0"/>
                </a:endParaRPr>
              </a:p>
              <a:p>
                <a:pPr marL="457200" algn="just" rtl="1">
                  <a:lnSpc>
                    <a:spcPct val="150000"/>
                  </a:lnSpc>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𝜌</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𝜌</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457200" algn="just" rtl="1">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𝑎𝑡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𝑙𝑒𝑎𝑠𝑡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𝑡𝑤𝑜</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𝑑𝑖𝑓𝑓𝑒𝑟𝑒𝑛𝑐𝑒𝑠</m:t>
                      </m:r>
                    </m:oMath>
                  </m:oMathPara>
                </a14:m>
                <a:endParaRPr lang="en-US" sz="1800" dirty="0">
                  <a:effectLst/>
                  <a:latin typeface="Aptos" panose="020B0004020202020204" pitchFamily="34" charset="0"/>
                  <a:ea typeface="Aptos" panose="020B0004020202020204" pitchFamily="34" charset="0"/>
                  <a:cs typeface="Arial" panose="020B0604020202020204" pitchFamily="34" charset="0"/>
                </a:endParaRPr>
              </a:p>
              <a:p>
                <a:pPr algn="just" rtl="1">
                  <a:lnSpc>
                    <a:spcPct val="150000"/>
                  </a:lnSpc>
                  <a:spcAft>
                    <a:spcPts val="800"/>
                  </a:spcAft>
                </a:pPr>
                <a:r>
                  <a:rPr lang="ar-SA" sz="1800" dirty="0">
                    <a:effectLst/>
                    <a:latin typeface="Aptos" panose="020B0004020202020204" pitchFamily="34" charset="0"/>
                    <a:ea typeface="Aptos" panose="020B0004020202020204" pitchFamily="34" charset="0"/>
                    <a:cs typeface="Times New Roman" panose="02020603050405020304" pitchFamily="18" charset="0"/>
                  </a:rPr>
                  <a:t>          وكما هو موضح بجميع قيم </a:t>
                </a:r>
                <a:r>
                  <a:rPr lang="en-US" sz="1800" dirty="0">
                    <a:effectLst/>
                    <a:latin typeface="Times New Roman" panose="02020603050405020304" pitchFamily="18" charset="0"/>
                    <a:ea typeface="Aptos" panose="020B0004020202020204" pitchFamily="34" charset="0"/>
                    <a:cs typeface="Arial" panose="020B0604020202020204" pitchFamily="34" charset="0"/>
                  </a:rPr>
                  <a:t>p-value</a:t>
                </a:r>
                <a:r>
                  <a:rPr lang="ar-SA" sz="1800" dirty="0">
                    <a:effectLst/>
                    <a:latin typeface="Aptos" panose="020B0004020202020204" pitchFamily="34" charset="0"/>
                    <a:ea typeface="Aptos" panose="020B0004020202020204" pitchFamily="34" charset="0"/>
                    <a:cs typeface="Times New Roman" panose="02020603050405020304" pitchFamily="18" charset="0"/>
                  </a:rPr>
                  <a:t> انها أكبر من </a:t>
                </a:r>
                <a:r>
                  <a:rPr lang="en-US" sz="1800" dirty="0">
                    <a:effectLst/>
                    <a:latin typeface="Times New Roman" panose="02020603050405020304" pitchFamily="18" charset="0"/>
                    <a:ea typeface="Aptos" panose="020B0004020202020204" pitchFamily="34" charset="0"/>
                    <a:cs typeface="Arial" panose="020B0604020202020204" pitchFamily="34" charset="0"/>
                  </a:rPr>
                  <a:t>0.05 </a:t>
                </a:r>
                <a:r>
                  <a:rPr lang="ar-SA" sz="1800" dirty="0">
                    <a:effectLst/>
                    <a:latin typeface="Times New Roman" panose="02020603050405020304" pitchFamily="18" charset="0"/>
                    <a:ea typeface="Aptos" panose="020B0004020202020204" pitchFamily="34" charset="0"/>
                    <a:cs typeface="Arial" panose="020B0604020202020204" pitchFamily="34" charset="0"/>
                  </a:rPr>
                  <a:t>إذا نقبل الفرضية الصفرية ونقر بان      النموذج مناسب للبيانات.</a:t>
                </a:r>
                <a:endParaRPr lang="en-US" sz="1800" dirty="0">
                  <a:effectLst/>
                  <a:latin typeface="Aptos" panose="020B0004020202020204" pitchFamily="34" charset="0"/>
                  <a:ea typeface="Aptos" panose="020B0004020202020204" pitchFamily="34" charset="0"/>
                  <a:cs typeface="Arial" panose="020B0604020202020204" pitchFamily="34" charset="0"/>
                </a:endParaRPr>
              </a:p>
              <a:p>
                <a:endParaRPr lang="ar-SA" sz="1800" dirty="0"/>
              </a:p>
            </p:txBody>
          </p:sp>
        </mc:Choice>
        <mc:Fallback>
          <p:sp>
            <p:nvSpPr>
              <p:cNvPr id="10" name="عنصر نائب للنص 9">
                <a:extLst>
                  <a:ext uri="{FF2B5EF4-FFF2-40B4-BE49-F238E27FC236}">
                    <a16:creationId xmlns:a16="http://schemas.microsoft.com/office/drawing/2014/main" id="{95FF74D8-2DD8-53AB-628A-771FF0DB3B32}"/>
                  </a:ext>
                </a:extLst>
              </p:cNvPr>
              <p:cNvSpPr>
                <a:spLocks noGrp="1" noRot="1" noChangeAspect="1" noMove="1" noResize="1" noEditPoints="1" noAdjustHandles="1" noChangeArrowheads="1" noChangeShapeType="1" noTextEdit="1"/>
              </p:cNvSpPr>
              <p:nvPr>
                <p:ph type="body" sz="half" idx="2"/>
              </p:nvPr>
            </p:nvSpPr>
            <p:spPr>
              <a:xfrm>
                <a:off x="7315200" y="1572036"/>
                <a:ext cx="3932237" cy="4528979"/>
              </a:xfrm>
              <a:blipFill>
                <a:blip r:embed="rId3"/>
                <a:stretch>
                  <a:fillRect l="-2016" t="-1211" r="-620"/>
                </a:stretch>
              </a:blipFill>
            </p:spPr>
            <p:txBody>
              <a:bodyPr/>
              <a:lstStyle/>
              <a:p>
                <a:r>
                  <a:rPr lang="ar-SA">
                    <a:noFill/>
                  </a:rPr>
                  <a:t> </a:t>
                </a:r>
              </a:p>
            </p:txBody>
          </p:sp>
        </mc:Fallback>
      </mc:AlternateContent>
      <p:graphicFrame>
        <p:nvGraphicFramePr>
          <p:cNvPr id="5" name="جدول 4">
            <a:extLst>
              <a:ext uri="{FF2B5EF4-FFF2-40B4-BE49-F238E27FC236}">
                <a16:creationId xmlns:a16="http://schemas.microsoft.com/office/drawing/2014/main" id="{8ADB0244-F875-C16A-E1C1-994E0B082BB7}"/>
              </a:ext>
            </a:extLst>
          </p:cNvPr>
          <p:cNvGraphicFramePr>
            <a:graphicFrameLocks noGrp="1"/>
          </p:cNvGraphicFramePr>
          <p:nvPr>
            <p:extLst>
              <p:ext uri="{D42A27DB-BD31-4B8C-83A1-F6EECF244321}">
                <p14:modId xmlns:p14="http://schemas.microsoft.com/office/powerpoint/2010/main" val="564884522"/>
              </p:ext>
            </p:extLst>
          </p:nvPr>
        </p:nvGraphicFramePr>
        <p:xfrm>
          <a:off x="568960" y="3979331"/>
          <a:ext cx="5618480" cy="1673860"/>
        </p:xfrm>
        <a:graphic>
          <a:graphicData uri="http://schemas.openxmlformats.org/drawingml/2006/table">
            <a:tbl>
              <a:tblPr firstRow="1" bandRow="1">
                <a:tableStyleId>{5C22544A-7EE6-4342-B048-85BDC9FD1C3A}</a:tableStyleId>
              </a:tblPr>
              <a:tblGrid>
                <a:gridCol w="1123696">
                  <a:extLst>
                    <a:ext uri="{9D8B030D-6E8A-4147-A177-3AD203B41FA5}">
                      <a16:colId xmlns:a16="http://schemas.microsoft.com/office/drawing/2014/main" val="2787869102"/>
                    </a:ext>
                  </a:extLst>
                </a:gridCol>
                <a:gridCol w="1123696">
                  <a:extLst>
                    <a:ext uri="{9D8B030D-6E8A-4147-A177-3AD203B41FA5}">
                      <a16:colId xmlns:a16="http://schemas.microsoft.com/office/drawing/2014/main" val="1798958443"/>
                    </a:ext>
                  </a:extLst>
                </a:gridCol>
                <a:gridCol w="1123696">
                  <a:extLst>
                    <a:ext uri="{9D8B030D-6E8A-4147-A177-3AD203B41FA5}">
                      <a16:colId xmlns:a16="http://schemas.microsoft.com/office/drawing/2014/main" val="574176706"/>
                    </a:ext>
                  </a:extLst>
                </a:gridCol>
                <a:gridCol w="1123696">
                  <a:extLst>
                    <a:ext uri="{9D8B030D-6E8A-4147-A177-3AD203B41FA5}">
                      <a16:colId xmlns:a16="http://schemas.microsoft.com/office/drawing/2014/main" val="881157519"/>
                    </a:ext>
                  </a:extLst>
                </a:gridCol>
                <a:gridCol w="1123696">
                  <a:extLst>
                    <a:ext uri="{9D8B030D-6E8A-4147-A177-3AD203B41FA5}">
                      <a16:colId xmlns:a16="http://schemas.microsoft.com/office/drawing/2014/main" val="2111032171"/>
                    </a:ext>
                  </a:extLst>
                </a:gridCol>
              </a:tblGrid>
              <a:tr h="271916">
                <a:tc>
                  <a:txBody>
                    <a:bodyPr/>
                    <a:lstStyle/>
                    <a:p>
                      <a:pPr algn="l" rtl="1">
                        <a:lnSpc>
                          <a:spcPct val="150000"/>
                        </a:lnSpc>
                        <a:spcAft>
                          <a:spcPts val="800"/>
                        </a:spcAft>
                      </a:pPr>
                      <a:r>
                        <a:rPr lang="en-US" sz="20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Lag</a:t>
                      </a:r>
                      <a:endParaRPr lang="en-US" sz="4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20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12</a:t>
                      </a:r>
                      <a:endParaRPr lang="en-US" sz="4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20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24</a:t>
                      </a:r>
                      <a:endParaRPr lang="en-US" sz="4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20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36</a:t>
                      </a:r>
                      <a:endParaRPr lang="en-US" sz="4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20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48</a:t>
                      </a:r>
                      <a:endParaRPr lang="en-US" sz="4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923823056"/>
                  </a:ext>
                </a:extLst>
              </a:tr>
              <a:tr h="306837">
                <a:tc>
                  <a:txBody>
                    <a:bodyPr/>
                    <a:lstStyle/>
                    <a:p>
                      <a:pPr algn="l" rtl="1">
                        <a:lnSpc>
                          <a:spcPct val="150000"/>
                        </a:lnSpc>
                        <a:spcAft>
                          <a:spcPts val="800"/>
                        </a:spcAft>
                      </a:pPr>
                      <a:r>
                        <a:rPr lang="en-US"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Chi-Square</a:t>
                      </a:r>
                      <a:endParaRPr lang="en-US" sz="2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9.02</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17.95</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28.30</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562139952"/>
                  </a:ext>
                </a:extLst>
              </a:tr>
              <a:tr h="306837">
                <a:tc>
                  <a:txBody>
                    <a:bodyPr/>
                    <a:lstStyle/>
                    <a:p>
                      <a:pPr algn="l" rtl="1">
                        <a:lnSpc>
                          <a:spcPct val="150000"/>
                        </a:lnSpc>
                        <a:spcAft>
                          <a:spcPts val="800"/>
                        </a:spcAft>
                      </a:pPr>
                      <a:r>
                        <a:rPr lang="en-US"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DF</a:t>
                      </a:r>
                      <a:endParaRPr lang="en-US" sz="2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11</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23</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35</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3825993037"/>
                  </a:ext>
                </a:extLst>
              </a:tr>
              <a:tr h="306837">
                <a:tc>
                  <a:txBody>
                    <a:bodyPr/>
                    <a:lstStyle/>
                    <a:p>
                      <a:pPr algn="l" rtl="1">
                        <a:lnSpc>
                          <a:spcPct val="150000"/>
                        </a:lnSpc>
                        <a:spcAft>
                          <a:spcPts val="800"/>
                        </a:spcAft>
                      </a:pPr>
                      <a:r>
                        <a:rPr lang="en-US" sz="18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2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0.620</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0.760</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0.781</a:t>
                      </a:r>
                      <a:endParaRPr lang="en-US" sz="2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2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en-US" sz="28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2100052256"/>
                  </a:ext>
                </a:extLst>
              </a:tr>
            </a:tbl>
          </a:graphicData>
        </a:graphic>
      </p:graphicFrame>
      <p:sp>
        <p:nvSpPr>
          <p:cNvPr id="8" name="مربع نص 7">
            <a:extLst>
              <a:ext uri="{FF2B5EF4-FFF2-40B4-BE49-F238E27FC236}">
                <a16:creationId xmlns:a16="http://schemas.microsoft.com/office/drawing/2014/main" id="{1903E148-D2BB-ECFF-118C-65A9D5BFD712}"/>
              </a:ext>
            </a:extLst>
          </p:cNvPr>
          <p:cNvSpPr txBox="1"/>
          <p:nvPr/>
        </p:nvSpPr>
        <p:spPr>
          <a:xfrm>
            <a:off x="568960" y="3408078"/>
            <a:ext cx="609600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Modified Box-Pierce (</a:t>
            </a:r>
            <a:r>
              <a:rPr lang="en-US" sz="1800" b="1" dirty="0" err="1">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Ljung</a:t>
            </a: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-Box) Chi-Square Statistic</a:t>
            </a:r>
            <a:endParaRPr lang="en-US" sz="24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sp>
        <p:nvSpPr>
          <p:cNvPr id="11" name="مربع نص 10">
            <a:extLst>
              <a:ext uri="{FF2B5EF4-FFF2-40B4-BE49-F238E27FC236}">
                <a16:creationId xmlns:a16="http://schemas.microsoft.com/office/drawing/2014/main" id="{A769CF0D-F395-7409-A74B-27FE5297072F}"/>
              </a:ext>
            </a:extLst>
          </p:cNvPr>
          <p:cNvSpPr txBox="1"/>
          <p:nvPr/>
        </p:nvSpPr>
        <p:spPr>
          <a:xfrm>
            <a:off x="568960" y="1339184"/>
            <a:ext cx="617728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Final Estimates of Parameters</a:t>
            </a:r>
            <a:endParaRPr lang="en-US" sz="24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graphicFrame>
        <p:nvGraphicFramePr>
          <p:cNvPr id="13" name="جدول 12">
            <a:extLst>
              <a:ext uri="{FF2B5EF4-FFF2-40B4-BE49-F238E27FC236}">
                <a16:creationId xmlns:a16="http://schemas.microsoft.com/office/drawing/2014/main" id="{6009BCD1-84A6-B2A5-F45D-4A000D8F1A88}"/>
              </a:ext>
            </a:extLst>
          </p:cNvPr>
          <p:cNvGraphicFramePr>
            <a:graphicFrameLocks noGrp="1"/>
          </p:cNvGraphicFramePr>
          <p:nvPr>
            <p:extLst>
              <p:ext uri="{D42A27DB-BD31-4B8C-83A1-F6EECF244321}">
                <p14:modId xmlns:p14="http://schemas.microsoft.com/office/powerpoint/2010/main" val="146678641"/>
              </p:ext>
            </p:extLst>
          </p:nvPr>
        </p:nvGraphicFramePr>
        <p:xfrm>
          <a:off x="568960" y="1988310"/>
          <a:ext cx="5618480" cy="1048861"/>
        </p:xfrm>
        <a:graphic>
          <a:graphicData uri="http://schemas.openxmlformats.org/drawingml/2006/table">
            <a:tbl>
              <a:tblPr firstRow="1" bandRow="1">
                <a:tableStyleId>{5C22544A-7EE6-4342-B048-85BDC9FD1C3A}</a:tableStyleId>
              </a:tblPr>
              <a:tblGrid>
                <a:gridCol w="1123696">
                  <a:extLst>
                    <a:ext uri="{9D8B030D-6E8A-4147-A177-3AD203B41FA5}">
                      <a16:colId xmlns:a16="http://schemas.microsoft.com/office/drawing/2014/main" val="2692589872"/>
                    </a:ext>
                  </a:extLst>
                </a:gridCol>
                <a:gridCol w="1123696">
                  <a:extLst>
                    <a:ext uri="{9D8B030D-6E8A-4147-A177-3AD203B41FA5}">
                      <a16:colId xmlns:a16="http://schemas.microsoft.com/office/drawing/2014/main" val="2029143629"/>
                    </a:ext>
                  </a:extLst>
                </a:gridCol>
                <a:gridCol w="1123696">
                  <a:extLst>
                    <a:ext uri="{9D8B030D-6E8A-4147-A177-3AD203B41FA5}">
                      <a16:colId xmlns:a16="http://schemas.microsoft.com/office/drawing/2014/main" val="4229212758"/>
                    </a:ext>
                  </a:extLst>
                </a:gridCol>
                <a:gridCol w="1123696">
                  <a:extLst>
                    <a:ext uri="{9D8B030D-6E8A-4147-A177-3AD203B41FA5}">
                      <a16:colId xmlns:a16="http://schemas.microsoft.com/office/drawing/2014/main" val="315212927"/>
                    </a:ext>
                  </a:extLst>
                </a:gridCol>
                <a:gridCol w="1123696">
                  <a:extLst>
                    <a:ext uri="{9D8B030D-6E8A-4147-A177-3AD203B41FA5}">
                      <a16:colId xmlns:a16="http://schemas.microsoft.com/office/drawing/2014/main" val="2995752077"/>
                    </a:ext>
                  </a:extLst>
                </a:gridCol>
              </a:tblGrid>
              <a:tr h="551503">
                <a:tc>
                  <a:txBody>
                    <a:bodyPr/>
                    <a:lstStyle/>
                    <a:p>
                      <a:pPr algn="l" rtl="1">
                        <a:lnSpc>
                          <a:spcPct val="150000"/>
                        </a:lnSpc>
                        <a:spcAft>
                          <a:spcPts val="800"/>
                        </a:spcAft>
                      </a:pPr>
                      <a:r>
                        <a:rPr lang="en-US" sz="20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Type</a:t>
                      </a:r>
                      <a:endParaRPr lang="en-US" sz="4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2000" b="1">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Coef</a:t>
                      </a:r>
                      <a:endParaRPr lang="en-US" sz="4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2000" b="1">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SE Coef</a:t>
                      </a:r>
                      <a:endParaRPr lang="en-US" sz="4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2000" b="1">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T-Value</a:t>
                      </a:r>
                      <a:endParaRPr lang="en-US" sz="4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20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4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959828823"/>
                  </a:ext>
                </a:extLst>
              </a:tr>
              <a:tr h="497358">
                <a:tc>
                  <a:txBody>
                    <a:bodyPr/>
                    <a:lstStyle/>
                    <a:p>
                      <a:pPr algn="l" rtl="1">
                        <a:lnSpc>
                          <a:spcPct val="150000"/>
                        </a:lnSpc>
                        <a:spcAft>
                          <a:spcPts val="800"/>
                        </a:spcAft>
                      </a:pPr>
                      <a:r>
                        <a:rPr lang="en-US"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MA   1</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0">
                        <a:lnSpc>
                          <a:spcPct val="150000"/>
                        </a:lnSpc>
                        <a:spcAft>
                          <a:spcPts val="800"/>
                        </a:spcAft>
                      </a:pPr>
                      <a:r>
                        <a:rPr lang="en-US"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0.9586</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0.0666</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14.38</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8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0.000</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3915147066"/>
                  </a:ext>
                </a:extLst>
              </a:tr>
            </a:tbl>
          </a:graphicData>
        </a:graphic>
      </p:graphicFrame>
    </p:spTree>
    <p:extLst>
      <p:ext uri="{BB962C8B-B14F-4D97-AF65-F5344CB8AC3E}">
        <p14:creationId xmlns:p14="http://schemas.microsoft.com/office/powerpoint/2010/main" val="2852355210"/>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712DAA8-8B51-D5E6-25EF-5F0D68B8F366}"/>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A691AD9B-2151-8497-DA24-9DD805D79F86}"/>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A97E65C4-B7BE-33E3-21CC-19ACF5D2D8F3}"/>
              </a:ext>
            </a:extLst>
          </p:cNvPr>
          <p:cNvSpPr>
            <a:spLocks noGrp="1"/>
          </p:cNvSpPr>
          <p:nvPr>
            <p:ph type="title"/>
          </p:nvPr>
        </p:nvSpPr>
        <p:spPr>
          <a:xfrm>
            <a:off x="802640" y="0"/>
            <a:ext cx="10552747" cy="1048861"/>
          </a:xfrm>
        </p:spPr>
        <p:txBody>
          <a:bodyPr/>
          <a:lstStyle/>
          <a:p>
            <a:r>
              <a:rPr lang="ar-SA" dirty="0"/>
              <a:t>دوال الارتباط الذاتي لبواقي النموذج</a:t>
            </a:r>
          </a:p>
        </p:txBody>
      </p:sp>
      <p:sp>
        <p:nvSpPr>
          <p:cNvPr id="10" name="عنصر نائب للنص 9">
            <a:extLst>
              <a:ext uri="{FF2B5EF4-FFF2-40B4-BE49-F238E27FC236}">
                <a16:creationId xmlns:a16="http://schemas.microsoft.com/office/drawing/2014/main" id="{CB239ADE-5923-3F56-09EF-F8F126AD4BA6}"/>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pic>
        <p:nvPicPr>
          <p:cNvPr id="2" name="صورة 1" descr="ACF of Residuals for Total of Passengers">
            <a:extLst>
              <a:ext uri="{FF2B5EF4-FFF2-40B4-BE49-F238E27FC236}">
                <a16:creationId xmlns:a16="http://schemas.microsoft.com/office/drawing/2014/main" id="{C9D054F9-D571-5E87-2AF2-09E274721C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5267" y="1836419"/>
            <a:ext cx="4770120" cy="3185160"/>
          </a:xfrm>
          <a:prstGeom prst="rect">
            <a:avLst/>
          </a:prstGeom>
          <a:noFill/>
          <a:ln>
            <a:noFill/>
          </a:ln>
        </p:spPr>
      </p:pic>
      <p:pic>
        <p:nvPicPr>
          <p:cNvPr id="3" name="صورة 2" descr="PACF of Residuals for Total of Passengers">
            <a:extLst>
              <a:ext uri="{FF2B5EF4-FFF2-40B4-BE49-F238E27FC236}">
                <a16:creationId xmlns:a16="http://schemas.microsoft.com/office/drawing/2014/main" id="{F3B05F21-3D20-1D84-B228-48DABA1915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8554" y="1836419"/>
            <a:ext cx="4770120" cy="3185160"/>
          </a:xfrm>
          <a:prstGeom prst="rect">
            <a:avLst/>
          </a:prstGeom>
          <a:noFill/>
          <a:ln>
            <a:noFill/>
          </a:ln>
        </p:spPr>
      </p:pic>
      <p:sp>
        <p:nvSpPr>
          <p:cNvPr id="5" name="مربع نص 4">
            <a:extLst>
              <a:ext uri="{FF2B5EF4-FFF2-40B4-BE49-F238E27FC236}">
                <a16:creationId xmlns:a16="http://schemas.microsoft.com/office/drawing/2014/main" id="{9BE66B25-57DE-8298-A1E2-8F3291ABE989}"/>
              </a:ext>
            </a:extLst>
          </p:cNvPr>
          <p:cNvSpPr txBox="1"/>
          <p:nvPr/>
        </p:nvSpPr>
        <p:spPr>
          <a:xfrm>
            <a:off x="8351520" y="1320800"/>
            <a:ext cx="2773680" cy="369332"/>
          </a:xfrm>
          <a:prstGeom prst="rect">
            <a:avLst/>
          </a:prstGeom>
          <a:noFill/>
        </p:spPr>
        <p:txBody>
          <a:bodyPr wrap="square" rtlCol="1">
            <a:spAutoFit/>
          </a:bodyPr>
          <a:lstStyle/>
          <a:p>
            <a:r>
              <a:rPr lang="ar-SA" dirty="0"/>
              <a:t>دالة الارتباط الذاتي للبواقي</a:t>
            </a:r>
          </a:p>
        </p:txBody>
      </p:sp>
      <p:sp>
        <p:nvSpPr>
          <p:cNvPr id="6" name="مربع نص 5">
            <a:extLst>
              <a:ext uri="{FF2B5EF4-FFF2-40B4-BE49-F238E27FC236}">
                <a16:creationId xmlns:a16="http://schemas.microsoft.com/office/drawing/2014/main" id="{60C848CF-6C25-1F62-3432-46EC2F3A19E5}"/>
              </a:ext>
            </a:extLst>
          </p:cNvPr>
          <p:cNvSpPr txBox="1"/>
          <p:nvPr/>
        </p:nvSpPr>
        <p:spPr>
          <a:xfrm>
            <a:off x="2974994" y="1392753"/>
            <a:ext cx="2773680" cy="369332"/>
          </a:xfrm>
          <a:prstGeom prst="rect">
            <a:avLst/>
          </a:prstGeom>
          <a:noFill/>
        </p:spPr>
        <p:txBody>
          <a:bodyPr wrap="square" rtlCol="1">
            <a:spAutoFit/>
          </a:bodyPr>
          <a:lstStyle/>
          <a:p>
            <a:r>
              <a:rPr lang="ar-SA" dirty="0"/>
              <a:t>دالة الارتباط الجزئي الذاتي للبواقي</a:t>
            </a:r>
          </a:p>
        </p:txBody>
      </p:sp>
    </p:spTree>
    <p:extLst>
      <p:ext uri="{BB962C8B-B14F-4D97-AF65-F5344CB8AC3E}">
        <p14:creationId xmlns:p14="http://schemas.microsoft.com/office/powerpoint/2010/main" val="3713482288"/>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BE6775E-8F12-CA32-2BC2-2BDB3709E5FC}"/>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83FB034D-3B6F-0BD9-F24B-77387280B683}"/>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5654B166-E6C3-25F6-60EB-B6F5D2B627F8}"/>
              </a:ext>
            </a:extLst>
          </p:cNvPr>
          <p:cNvSpPr>
            <a:spLocks noGrp="1"/>
          </p:cNvSpPr>
          <p:nvPr>
            <p:ph type="title"/>
          </p:nvPr>
        </p:nvSpPr>
        <p:spPr>
          <a:xfrm>
            <a:off x="802640" y="0"/>
            <a:ext cx="10552747" cy="1048861"/>
          </a:xfrm>
        </p:spPr>
        <p:txBody>
          <a:bodyPr/>
          <a:lstStyle/>
          <a:p>
            <a:r>
              <a:rPr lang="ar-SA" dirty="0"/>
              <a:t>تحليل بواقي النموذج</a:t>
            </a:r>
          </a:p>
        </p:txBody>
      </p:sp>
      <p:sp>
        <p:nvSpPr>
          <p:cNvPr id="10" name="عنصر نائب للنص 9">
            <a:extLst>
              <a:ext uri="{FF2B5EF4-FFF2-40B4-BE49-F238E27FC236}">
                <a16:creationId xmlns:a16="http://schemas.microsoft.com/office/drawing/2014/main" id="{23FC659F-CD1A-8887-778A-791444BEA261}"/>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pic>
        <p:nvPicPr>
          <p:cNvPr id="2" name="صورة 1" descr="Probability Plot of Residuals_2">
            <a:extLst>
              <a:ext uri="{FF2B5EF4-FFF2-40B4-BE49-F238E27FC236}">
                <a16:creationId xmlns:a16="http://schemas.microsoft.com/office/drawing/2014/main" id="{9A5F3368-1642-F801-1E14-97DA57506B4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99462" y="1482667"/>
            <a:ext cx="3359102" cy="2242978"/>
          </a:xfrm>
          <a:prstGeom prst="rect">
            <a:avLst/>
          </a:prstGeom>
          <a:noFill/>
          <a:ln>
            <a:noFill/>
          </a:ln>
        </p:spPr>
      </p:pic>
      <p:pic>
        <p:nvPicPr>
          <p:cNvPr id="3" name="صورة 2" descr="Residuals vs Fits for Total of Passengers">
            <a:extLst>
              <a:ext uri="{FF2B5EF4-FFF2-40B4-BE49-F238E27FC236}">
                <a16:creationId xmlns:a16="http://schemas.microsoft.com/office/drawing/2014/main" id="{5B93959D-1BBB-72CB-B39D-5F5785BCD4E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16439" y="4253843"/>
            <a:ext cx="3359102" cy="2242979"/>
          </a:xfrm>
          <a:prstGeom prst="rect">
            <a:avLst/>
          </a:prstGeom>
          <a:noFill/>
          <a:ln>
            <a:noFill/>
          </a:ln>
        </p:spPr>
      </p:pic>
      <p:sp>
        <p:nvSpPr>
          <p:cNvPr id="5" name="مربع نص 4">
            <a:extLst>
              <a:ext uri="{FF2B5EF4-FFF2-40B4-BE49-F238E27FC236}">
                <a16:creationId xmlns:a16="http://schemas.microsoft.com/office/drawing/2014/main" id="{B03C228E-2844-2E16-79E6-D5EC6CB4B6B1}"/>
              </a:ext>
            </a:extLst>
          </p:cNvPr>
          <p:cNvSpPr txBox="1"/>
          <p:nvPr/>
        </p:nvSpPr>
        <p:spPr>
          <a:xfrm>
            <a:off x="3986053" y="1090923"/>
            <a:ext cx="4185920" cy="369332"/>
          </a:xfrm>
          <a:prstGeom prst="rect">
            <a:avLst/>
          </a:prstGeom>
          <a:noFill/>
        </p:spPr>
        <p:txBody>
          <a:bodyPr wrap="square" rtlCol="1">
            <a:spAutoFit/>
          </a:bodyPr>
          <a:lstStyle/>
          <a:p>
            <a:r>
              <a:rPr lang="ar-SA" dirty="0"/>
              <a:t>البواقي تتوزع التوزيع الطبيعي كما هو موضح بالشكل</a:t>
            </a:r>
          </a:p>
        </p:txBody>
      </p:sp>
      <p:sp>
        <p:nvSpPr>
          <p:cNvPr id="6" name="مربع نص 5">
            <a:extLst>
              <a:ext uri="{FF2B5EF4-FFF2-40B4-BE49-F238E27FC236}">
                <a16:creationId xmlns:a16="http://schemas.microsoft.com/office/drawing/2014/main" id="{CE06F5D5-540D-D400-5D02-4921456F0A2A}"/>
              </a:ext>
            </a:extLst>
          </p:cNvPr>
          <p:cNvSpPr txBox="1"/>
          <p:nvPr/>
        </p:nvSpPr>
        <p:spPr>
          <a:xfrm>
            <a:off x="3032527" y="3842449"/>
            <a:ext cx="5344150" cy="369332"/>
          </a:xfrm>
          <a:prstGeom prst="rect">
            <a:avLst/>
          </a:prstGeom>
          <a:noFill/>
        </p:spPr>
        <p:txBody>
          <a:bodyPr wrap="square" rtlCol="1">
            <a:spAutoFit/>
          </a:bodyPr>
          <a:lstStyle/>
          <a:p>
            <a:r>
              <a:rPr lang="ar-SA" dirty="0"/>
              <a:t>تباين البواقي ثابت ولا يتغير مع مرور الزمن كما هو موضح بالشكل</a:t>
            </a:r>
          </a:p>
        </p:txBody>
      </p:sp>
    </p:spTree>
    <p:extLst>
      <p:ext uri="{BB962C8B-B14F-4D97-AF65-F5344CB8AC3E}">
        <p14:creationId xmlns:p14="http://schemas.microsoft.com/office/powerpoint/2010/main" val="2680092698"/>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C984847-6CD0-EB01-15C6-C3F249E24F1A}"/>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C6CC0DC9-21A9-D54F-2C63-FBB9309A2D46}"/>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FE5F5B5C-6DFA-DE8B-5E4E-B56BB3385D1A}"/>
              </a:ext>
            </a:extLst>
          </p:cNvPr>
          <p:cNvSpPr>
            <a:spLocks noGrp="1"/>
          </p:cNvSpPr>
          <p:nvPr>
            <p:ph type="title"/>
          </p:nvPr>
        </p:nvSpPr>
        <p:spPr>
          <a:xfrm>
            <a:off x="802640" y="0"/>
            <a:ext cx="10552747" cy="1048861"/>
          </a:xfrm>
        </p:spPr>
        <p:txBody>
          <a:bodyPr/>
          <a:lstStyle/>
          <a:p>
            <a:r>
              <a:rPr lang="ar-SA" dirty="0"/>
              <a:t>تحليل بواقي النموذج</a:t>
            </a:r>
          </a:p>
        </p:txBody>
      </p:sp>
      <p:sp>
        <p:nvSpPr>
          <p:cNvPr id="10" name="عنصر نائب للنص 9">
            <a:extLst>
              <a:ext uri="{FF2B5EF4-FFF2-40B4-BE49-F238E27FC236}">
                <a16:creationId xmlns:a16="http://schemas.microsoft.com/office/drawing/2014/main" id="{48EDBFF6-5662-D820-27A6-F1343516BBC9}"/>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اختبار </a:t>
            </a:r>
            <a:r>
              <a:rPr lang="en-US" sz="1800" dirty="0">
                <a:effectLst/>
                <a:latin typeface="Aptos" panose="020B0004020202020204" pitchFamily="34" charset="0"/>
                <a:ea typeface="Aptos" panose="020B0004020202020204" pitchFamily="34" charset="0"/>
                <a:cs typeface="Times New Roman" panose="02020603050405020304" pitchFamily="18" charset="0"/>
              </a:rPr>
              <a:t>Z</a:t>
            </a:r>
            <a:r>
              <a:rPr lang="ar-SA" sz="1800" dirty="0">
                <a:effectLst/>
                <a:latin typeface="Aptos" panose="020B0004020202020204" pitchFamily="34" charset="0"/>
                <a:ea typeface="Aptos" panose="020B0004020202020204" pitchFamily="34" charset="0"/>
                <a:cs typeface="Times New Roman" panose="02020603050405020304" pitchFamily="18" charset="0"/>
              </a:rPr>
              <a:t> لمعرفة ما اذا كان متوسط البواقي يساوي صفر ام لا:</a:t>
            </a:r>
          </a:p>
          <a:p>
            <a:r>
              <a:rPr lang="ar-SA" sz="1800" dirty="0">
                <a:effectLst/>
                <a:ea typeface="Times New Roman" panose="02020603050405020304" pitchFamily="18" charset="0"/>
                <a:cs typeface="Times New Roman" panose="02020603050405020304" pitchFamily="18" charset="0"/>
              </a:rPr>
              <a:t>كما نرى ان قيمة </a:t>
            </a:r>
            <a:r>
              <a:rPr lang="en-US" sz="1800" dirty="0">
                <a:effectLst/>
                <a:latin typeface="Times New Roman" panose="02020603050405020304" pitchFamily="18" charset="0"/>
                <a:ea typeface="Times New Roman" panose="02020603050405020304" pitchFamily="18" charset="0"/>
              </a:rPr>
              <a:t>p value </a:t>
            </a:r>
            <a:r>
              <a:rPr lang="ar-SA" sz="1800" dirty="0">
                <a:effectLst/>
                <a:ea typeface="Times New Roman" panose="02020603050405020304" pitchFamily="18" charset="0"/>
                <a:cs typeface="Times New Roman" panose="02020603050405020304" pitchFamily="18" charset="0"/>
              </a:rPr>
              <a:t>أكبر من </a:t>
            </a:r>
            <a:r>
              <a:rPr lang="en-US" sz="1800" dirty="0">
                <a:effectLst/>
                <a:latin typeface="Times New Roman" panose="02020603050405020304" pitchFamily="18" charset="0"/>
                <a:ea typeface="Times New Roman" panose="02020603050405020304" pitchFamily="18" charset="0"/>
              </a:rPr>
              <a:t>0.05</a:t>
            </a:r>
            <a:r>
              <a:rPr lang="ar-SA" sz="1800" dirty="0">
                <a:effectLst/>
                <a:ea typeface="Times New Roman" panose="02020603050405020304" pitchFamily="18" charset="0"/>
                <a:cs typeface="Times New Roman" panose="02020603050405020304" pitchFamily="18" charset="0"/>
              </a:rPr>
              <a:t> لذا نقبل الفرضية الصفرية ويعني ان متوسط بواقي النموذج يساوي صفر.</a:t>
            </a:r>
          </a:p>
          <a:p>
            <a:endParaRPr lang="ar-SA" sz="1800" dirty="0">
              <a:effectLst/>
              <a:latin typeface="Aptos" panose="020B0004020202020204" pitchFamily="34" charset="0"/>
              <a:ea typeface="Aptos" panose="020B0004020202020204" pitchFamily="34" charset="0"/>
              <a:cs typeface="Times New Roman" panose="02020603050405020304" pitchFamily="18" charset="0"/>
            </a:endParaRPr>
          </a:p>
          <a:p>
            <a:endParaRPr lang="ar-SA" sz="18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ar-SA" sz="1800" dirty="0">
                <a:latin typeface="Aptos" panose="020B0004020202020204" pitchFamily="34" charset="0"/>
                <a:ea typeface="Aptos" panose="020B0004020202020204" pitchFamily="34" charset="0"/>
                <a:cs typeface="Times New Roman" panose="02020603050405020304" pitchFamily="18" charset="0"/>
              </a:rPr>
              <a:t>اختبار </a:t>
            </a:r>
            <a:r>
              <a:rPr lang="en-US" sz="1800" dirty="0">
                <a:latin typeface="Aptos" panose="020B0004020202020204" pitchFamily="34" charset="0"/>
                <a:ea typeface="Aptos" panose="020B0004020202020204" pitchFamily="34" charset="0"/>
                <a:cs typeface="Times New Roman" panose="02020603050405020304" pitchFamily="18" charset="0"/>
              </a:rPr>
              <a:t>RUN TEST</a:t>
            </a:r>
            <a:r>
              <a:rPr lang="ar-SA" sz="1800" dirty="0">
                <a:latin typeface="Aptos" panose="020B0004020202020204" pitchFamily="34" charset="0"/>
                <a:ea typeface="Aptos" panose="020B0004020202020204" pitchFamily="34" charset="0"/>
                <a:cs typeface="Times New Roman" panose="02020603050405020304" pitchFamily="18" charset="0"/>
              </a:rPr>
              <a:t> لمعرفة ما اذا كانت البواقي عشوائية ام لا:</a:t>
            </a:r>
          </a:p>
          <a:p>
            <a:r>
              <a:rPr lang="ar-SA" sz="1800" dirty="0">
                <a:effectLst/>
                <a:latin typeface="Aptos" panose="020B0004020202020204" pitchFamily="34" charset="0"/>
                <a:ea typeface="Times New Roman" panose="02020603050405020304" pitchFamily="18" charset="0"/>
                <a:cs typeface="Times New Roman" panose="02020603050405020304" pitchFamily="18" charset="0"/>
              </a:rPr>
              <a:t>كما نلاحظ ان قيمة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p value </a:t>
            </a:r>
            <a:r>
              <a:rPr lang="ar-SA" sz="1800" dirty="0">
                <a:effectLst/>
                <a:latin typeface="Aptos" panose="020B0004020202020204" pitchFamily="34" charset="0"/>
                <a:ea typeface="Times New Roman" panose="02020603050405020304" pitchFamily="18" charset="0"/>
                <a:cs typeface="Times New Roman" panose="02020603050405020304" pitchFamily="18" charset="0"/>
              </a:rPr>
              <a:t>أكبر من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0.05 </a:t>
            </a:r>
            <a:r>
              <a:rPr lang="ar-SA" sz="1800" dirty="0">
                <a:effectLst/>
                <a:latin typeface="Times New Roman" panose="02020603050405020304" pitchFamily="18" charset="0"/>
                <a:ea typeface="Times New Roman" panose="02020603050405020304" pitchFamily="18" charset="0"/>
                <a:cs typeface="Arial" panose="020B0604020202020204" pitchFamily="34" charset="0"/>
              </a:rPr>
              <a:t>إذا نقبل الفرضية الصفرية وهذا يعني ان البواقي عشوائية.</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graphicFrame>
        <p:nvGraphicFramePr>
          <p:cNvPr id="2" name="جدول 1">
            <a:extLst>
              <a:ext uri="{FF2B5EF4-FFF2-40B4-BE49-F238E27FC236}">
                <a16:creationId xmlns:a16="http://schemas.microsoft.com/office/drawing/2014/main" id="{F895B778-37CE-C169-C288-62422F8ECB7C}"/>
              </a:ext>
            </a:extLst>
          </p:cNvPr>
          <p:cNvGraphicFramePr>
            <a:graphicFrameLocks noGrp="1"/>
          </p:cNvGraphicFramePr>
          <p:nvPr>
            <p:extLst>
              <p:ext uri="{D42A27DB-BD31-4B8C-83A1-F6EECF244321}">
                <p14:modId xmlns:p14="http://schemas.microsoft.com/office/powerpoint/2010/main" val="99833283"/>
              </p:ext>
            </p:extLst>
          </p:nvPr>
        </p:nvGraphicFramePr>
        <p:xfrm>
          <a:off x="609600" y="1624851"/>
          <a:ext cx="4064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761615210"/>
                    </a:ext>
                  </a:extLst>
                </a:gridCol>
                <a:gridCol w="1016000">
                  <a:extLst>
                    <a:ext uri="{9D8B030D-6E8A-4147-A177-3AD203B41FA5}">
                      <a16:colId xmlns:a16="http://schemas.microsoft.com/office/drawing/2014/main" val="26661631"/>
                    </a:ext>
                  </a:extLst>
                </a:gridCol>
                <a:gridCol w="1016000">
                  <a:extLst>
                    <a:ext uri="{9D8B030D-6E8A-4147-A177-3AD203B41FA5}">
                      <a16:colId xmlns:a16="http://schemas.microsoft.com/office/drawing/2014/main" val="1337825650"/>
                    </a:ext>
                  </a:extLst>
                </a:gridCol>
                <a:gridCol w="1016000">
                  <a:extLst>
                    <a:ext uri="{9D8B030D-6E8A-4147-A177-3AD203B41FA5}">
                      <a16:colId xmlns:a16="http://schemas.microsoft.com/office/drawing/2014/main" val="1542351040"/>
                    </a:ext>
                  </a:extLst>
                </a:gridCol>
              </a:tblGrid>
              <a:tr h="370840">
                <a:tc gridSpan="3">
                  <a:txBody>
                    <a:bodyPr/>
                    <a:lstStyle/>
                    <a:p>
                      <a:pPr algn="l" rtl="1">
                        <a:lnSpc>
                          <a:spcPct val="150000"/>
                        </a:lnSpc>
                        <a:spcAft>
                          <a:spcPts val="800"/>
                        </a:spcAft>
                      </a:pPr>
                      <a:r>
                        <a:rPr lang="en-US" sz="16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Null hypothesis</a:t>
                      </a:r>
                      <a:endParaRPr lang="en-US" sz="14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600" b="1">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H₀: μ = 0</a:t>
                      </a:r>
                      <a:endParaRPr lang="en-US" sz="1400" b="1">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2346129844"/>
                  </a:ext>
                </a:extLst>
              </a:tr>
              <a:tr h="370840">
                <a:tc gridSpan="3">
                  <a:txBody>
                    <a:bodyPr/>
                    <a:lstStyle/>
                    <a:p>
                      <a:pPr algn="l" rtl="1">
                        <a:lnSpc>
                          <a:spcPct val="150000"/>
                        </a:lnSpc>
                        <a:spcAft>
                          <a:spcPts val="800"/>
                        </a:spcAft>
                      </a:pPr>
                      <a:r>
                        <a:rPr lang="en-US" sz="1600" b="1">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Alternative hypothesis</a:t>
                      </a:r>
                      <a:endParaRPr lang="en-US" sz="1400" b="1">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6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H₁: μ ≠ 0</a:t>
                      </a:r>
                      <a:endParaRPr lang="en-US" sz="1400" b="1"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2216309122"/>
                  </a:ext>
                </a:extLst>
              </a:tr>
              <a:tr h="370840">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Z-Value</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2">
                  <a:txBody>
                    <a:bodyPr/>
                    <a:lstStyle/>
                    <a:p>
                      <a:pPr algn="l" rtl="1">
                        <a:lnSpc>
                          <a:spcPct val="107000"/>
                        </a:lnSpc>
                        <a:spcAft>
                          <a:spcPts val="800"/>
                        </a:spcAft>
                      </a:pPr>
                      <a:r>
                        <a:rPr lang="en-US" sz="11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tc hMerge="1">
                  <a:txBody>
                    <a:bodyPr/>
                    <a:lstStyle/>
                    <a:p>
                      <a:pPr rtl="1"/>
                      <a:endParaRPr lang="ar-SA"/>
                    </a:p>
                  </a:txBody>
                  <a:tcPr/>
                </a:tc>
                <a:extLst>
                  <a:ext uri="{0D108BD9-81ED-4DB2-BD59-A6C34878D82A}">
                    <a16:rowId xmlns:a16="http://schemas.microsoft.com/office/drawing/2014/main" val="3567172215"/>
                  </a:ext>
                </a:extLst>
              </a:tr>
              <a:tr h="370840">
                <a:tc>
                  <a:txBody>
                    <a:bodyPr/>
                    <a:lstStyle/>
                    <a:p>
                      <a:pPr algn="l" rtl="1">
                        <a:lnSpc>
                          <a:spcPct val="150000"/>
                        </a:lnSpc>
                        <a:spcAft>
                          <a:spcPts val="800"/>
                        </a:spcAft>
                      </a:pPr>
                      <a:r>
                        <a:rPr lang="en-US"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0.57</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0.568</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2">
                  <a:txBody>
                    <a:bodyPr/>
                    <a:lstStyle/>
                    <a:p>
                      <a:pPr algn="l" rtl="1">
                        <a:lnSpc>
                          <a:spcPct val="107000"/>
                        </a:lnSpc>
                        <a:spcAft>
                          <a:spcPts val="800"/>
                        </a:spcAft>
                      </a:pPr>
                      <a:r>
                        <a:rPr lang="en-US" sz="1100" dirty="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tc hMerge="1">
                  <a:txBody>
                    <a:bodyPr/>
                    <a:lstStyle/>
                    <a:p>
                      <a:pPr rtl="1"/>
                      <a:endParaRPr lang="ar-SA"/>
                    </a:p>
                  </a:txBody>
                  <a:tcPr/>
                </a:tc>
                <a:extLst>
                  <a:ext uri="{0D108BD9-81ED-4DB2-BD59-A6C34878D82A}">
                    <a16:rowId xmlns:a16="http://schemas.microsoft.com/office/drawing/2014/main" val="3333457156"/>
                  </a:ext>
                </a:extLst>
              </a:tr>
            </a:tbl>
          </a:graphicData>
        </a:graphic>
      </p:graphicFrame>
      <p:graphicFrame>
        <p:nvGraphicFramePr>
          <p:cNvPr id="5" name="جدول 4">
            <a:extLst>
              <a:ext uri="{FF2B5EF4-FFF2-40B4-BE49-F238E27FC236}">
                <a16:creationId xmlns:a16="http://schemas.microsoft.com/office/drawing/2014/main" id="{E2CBA77D-EE73-EE3D-949C-07C21C2106D4}"/>
              </a:ext>
            </a:extLst>
          </p:cNvPr>
          <p:cNvGraphicFramePr>
            <a:graphicFrameLocks noGrp="1"/>
          </p:cNvGraphicFramePr>
          <p:nvPr>
            <p:extLst>
              <p:ext uri="{D42A27DB-BD31-4B8C-83A1-F6EECF244321}">
                <p14:modId xmlns:p14="http://schemas.microsoft.com/office/powerpoint/2010/main" val="2307924017"/>
              </p:ext>
            </p:extLst>
          </p:nvPr>
        </p:nvGraphicFramePr>
        <p:xfrm>
          <a:off x="508000" y="3378949"/>
          <a:ext cx="4561840" cy="1619770"/>
        </p:xfrm>
        <a:graphic>
          <a:graphicData uri="http://schemas.openxmlformats.org/drawingml/2006/table">
            <a:tbl>
              <a:tblPr firstRow="1" bandRow="1">
                <a:tableStyleId>{5C22544A-7EE6-4342-B048-85BDC9FD1C3A}</a:tableStyleId>
              </a:tblPr>
              <a:tblGrid>
                <a:gridCol w="912368">
                  <a:extLst>
                    <a:ext uri="{9D8B030D-6E8A-4147-A177-3AD203B41FA5}">
                      <a16:colId xmlns:a16="http://schemas.microsoft.com/office/drawing/2014/main" val="3518115287"/>
                    </a:ext>
                  </a:extLst>
                </a:gridCol>
                <a:gridCol w="912368">
                  <a:extLst>
                    <a:ext uri="{9D8B030D-6E8A-4147-A177-3AD203B41FA5}">
                      <a16:colId xmlns:a16="http://schemas.microsoft.com/office/drawing/2014/main" val="3109976348"/>
                    </a:ext>
                  </a:extLst>
                </a:gridCol>
                <a:gridCol w="912368">
                  <a:extLst>
                    <a:ext uri="{9D8B030D-6E8A-4147-A177-3AD203B41FA5}">
                      <a16:colId xmlns:a16="http://schemas.microsoft.com/office/drawing/2014/main" val="2975863162"/>
                    </a:ext>
                  </a:extLst>
                </a:gridCol>
                <a:gridCol w="912368">
                  <a:extLst>
                    <a:ext uri="{9D8B030D-6E8A-4147-A177-3AD203B41FA5}">
                      <a16:colId xmlns:a16="http://schemas.microsoft.com/office/drawing/2014/main" val="4277179194"/>
                    </a:ext>
                  </a:extLst>
                </a:gridCol>
                <a:gridCol w="912368">
                  <a:extLst>
                    <a:ext uri="{9D8B030D-6E8A-4147-A177-3AD203B41FA5}">
                      <a16:colId xmlns:a16="http://schemas.microsoft.com/office/drawing/2014/main" val="1490393126"/>
                    </a:ext>
                  </a:extLst>
                </a:gridCol>
              </a:tblGrid>
              <a:tr h="323954">
                <a:tc gridSpan="2">
                  <a:txBody>
                    <a:bodyPr/>
                    <a:lstStyle/>
                    <a:p>
                      <a:pPr algn="l" rtl="1">
                        <a:lnSpc>
                          <a:spcPct val="150000"/>
                        </a:lnSpc>
                        <a:spcAft>
                          <a:spcPts val="800"/>
                        </a:spcAft>
                      </a:pPr>
                      <a:r>
                        <a:rPr lang="en-US" sz="120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Null hypothesis</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gridSpan="3">
                  <a:txBody>
                    <a:bodyPr/>
                    <a:lstStyle/>
                    <a:p>
                      <a:pPr algn="l" rtl="1">
                        <a:lnSpc>
                          <a:spcPct val="150000"/>
                        </a:lnSpc>
                        <a:spcAft>
                          <a:spcPts val="800"/>
                        </a:spcAft>
                      </a:pPr>
                      <a:r>
                        <a:rPr lang="en-US" sz="120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H₀: The order of the data is random</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127631471"/>
                  </a:ext>
                </a:extLst>
              </a:tr>
              <a:tr h="323954">
                <a:tc gridSpan="2">
                  <a:txBody>
                    <a:bodyPr/>
                    <a:lstStyle/>
                    <a:p>
                      <a:pPr algn="l" rtl="1">
                        <a:lnSpc>
                          <a:spcPct val="150000"/>
                        </a:lnSpc>
                        <a:spcAft>
                          <a:spcPts val="800"/>
                        </a:spcAft>
                      </a:pPr>
                      <a:r>
                        <a:rPr lang="en-US" sz="120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Alternative hypothesis</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gridSpan="3">
                  <a:txBody>
                    <a:bodyPr/>
                    <a:lstStyle/>
                    <a:p>
                      <a:pPr algn="l" rtl="1">
                        <a:lnSpc>
                          <a:spcPct val="150000"/>
                        </a:lnSpc>
                        <a:spcAft>
                          <a:spcPts val="800"/>
                        </a:spcAft>
                      </a:pPr>
                      <a:r>
                        <a:rPr lang="en-US" sz="120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H₁: The order of the data is not random</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793087739"/>
                  </a:ext>
                </a:extLst>
              </a:tr>
              <a:tr h="323954">
                <a:tc gridSpan="3">
                  <a:txBody>
                    <a:bodyPr/>
                    <a:lstStyle/>
                    <a:p>
                      <a:pPr algn="l" rtl="1">
                        <a:lnSpc>
                          <a:spcPct val="150000"/>
                        </a:lnSpc>
                        <a:spcAft>
                          <a:spcPts val="800"/>
                        </a:spcAft>
                      </a:pPr>
                      <a:r>
                        <a:rPr lang="en-US" sz="10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Number of Runs</a:t>
                      </a:r>
                      <a:endParaRPr lang="en-US" sz="16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0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6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07000"/>
                        </a:lnSpc>
                        <a:spcAft>
                          <a:spcPts val="800"/>
                        </a:spcAft>
                      </a:pPr>
                      <a:r>
                        <a:rPr lang="en-US" sz="11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1809591482"/>
                  </a:ext>
                </a:extLst>
              </a:tr>
              <a:tr h="323954">
                <a:tc>
                  <a:txBody>
                    <a:bodyPr/>
                    <a:lstStyle/>
                    <a:p>
                      <a:pPr algn="l" rtl="1">
                        <a:lnSpc>
                          <a:spcPct val="150000"/>
                        </a:lnSpc>
                        <a:spcAft>
                          <a:spcPts val="800"/>
                        </a:spcAft>
                      </a:pPr>
                      <a:r>
                        <a:rPr lang="en-US" sz="10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Observed</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2">
                  <a:txBody>
                    <a:bodyPr/>
                    <a:lstStyle/>
                    <a:p>
                      <a:pPr algn="l" rtl="1">
                        <a:lnSpc>
                          <a:spcPct val="150000"/>
                        </a:lnSpc>
                        <a:spcAft>
                          <a:spcPts val="800"/>
                        </a:spcAft>
                      </a:pPr>
                      <a:r>
                        <a:rPr lang="en-US" sz="105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Expected</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a:txBody>
                    <a:bodyPr/>
                    <a:lstStyle/>
                    <a:p>
                      <a:pPr algn="l" rtl="1">
                        <a:lnSpc>
                          <a:spcPct val="150000"/>
                        </a:lnSpc>
                        <a:spcAft>
                          <a:spcPts val="800"/>
                        </a:spcAft>
                      </a:pPr>
                      <a:r>
                        <a:rPr lang="en-US" sz="105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07000"/>
                        </a:lnSpc>
                        <a:spcAft>
                          <a:spcPts val="800"/>
                        </a:spcAft>
                      </a:pPr>
                      <a:r>
                        <a:rPr lang="en-US" sz="11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3400483687"/>
                  </a:ext>
                </a:extLst>
              </a:tr>
              <a:tr h="323954">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24</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2">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22.49</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a:txBody>
                    <a:bodyPr/>
                    <a:lstStyle/>
                    <a:p>
                      <a:pPr algn="l" rtl="1">
                        <a:lnSpc>
                          <a:spcPct val="150000"/>
                        </a:lnSpc>
                        <a:spcAft>
                          <a:spcPts val="800"/>
                        </a:spcAft>
                      </a:pPr>
                      <a:r>
                        <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0.641</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07000"/>
                        </a:lnSpc>
                        <a:spcAft>
                          <a:spcPts val="800"/>
                        </a:spcAft>
                      </a:pPr>
                      <a:r>
                        <a:rPr lang="en-US" sz="1100" dirty="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1261274459"/>
                  </a:ext>
                </a:extLst>
              </a:tr>
            </a:tbl>
          </a:graphicData>
        </a:graphic>
      </p:graphicFrame>
    </p:spTree>
    <p:extLst>
      <p:ext uri="{BB962C8B-B14F-4D97-AF65-F5344CB8AC3E}">
        <p14:creationId xmlns:p14="http://schemas.microsoft.com/office/powerpoint/2010/main" val="2131714391"/>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4673CFC-BD4A-7F7C-7BCA-5A6B1CA9CC98}"/>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166973F1-B59F-3065-67CC-033365DA786E}"/>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5B527A2D-4521-D8E7-C9F9-293412D94BAF}"/>
              </a:ext>
            </a:extLst>
          </p:cNvPr>
          <p:cNvSpPr>
            <a:spLocks noGrp="1"/>
          </p:cNvSpPr>
          <p:nvPr>
            <p:ph type="title"/>
          </p:nvPr>
        </p:nvSpPr>
        <p:spPr>
          <a:xfrm>
            <a:off x="802640" y="0"/>
            <a:ext cx="10552747" cy="1048861"/>
          </a:xfrm>
        </p:spPr>
        <p:txBody>
          <a:bodyPr/>
          <a:lstStyle/>
          <a:p>
            <a:r>
              <a:rPr lang="ar-SA" dirty="0"/>
              <a:t>التنبؤ</a:t>
            </a:r>
          </a:p>
        </p:txBody>
      </p:sp>
      <p:sp>
        <p:nvSpPr>
          <p:cNvPr id="10" name="عنصر نائب للنص 9">
            <a:extLst>
              <a:ext uri="{FF2B5EF4-FFF2-40B4-BE49-F238E27FC236}">
                <a16:creationId xmlns:a16="http://schemas.microsoft.com/office/drawing/2014/main" id="{611BA06A-EC90-DF35-B3E9-1BEC4B5ABCA3}"/>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graphicFrame>
        <p:nvGraphicFramePr>
          <p:cNvPr id="2" name="جدول 1">
            <a:extLst>
              <a:ext uri="{FF2B5EF4-FFF2-40B4-BE49-F238E27FC236}">
                <a16:creationId xmlns:a16="http://schemas.microsoft.com/office/drawing/2014/main" id="{87828428-208C-B8C8-3E13-FF7E248FD4EE}"/>
              </a:ext>
            </a:extLst>
          </p:cNvPr>
          <p:cNvGraphicFramePr>
            <a:graphicFrameLocks noGrp="1"/>
          </p:cNvGraphicFramePr>
          <p:nvPr>
            <p:extLst>
              <p:ext uri="{D42A27DB-BD31-4B8C-83A1-F6EECF244321}">
                <p14:modId xmlns:p14="http://schemas.microsoft.com/office/powerpoint/2010/main" val="1543849591"/>
              </p:ext>
            </p:extLst>
          </p:nvPr>
        </p:nvGraphicFramePr>
        <p:xfrm>
          <a:off x="245554" y="1795158"/>
          <a:ext cx="5362764" cy="1999058"/>
        </p:xfrm>
        <a:graphic>
          <a:graphicData uri="http://schemas.openxmlformats.org/drawingml/2006/table">
            <a:tbl>
              <a:tblPr firstRow="1" bandRow="1">
                <a:tableStyleId>{5C22544A-7EE6-4342-B048-85BDC9FD1C3A}</a:tableStyleId>
              </a:tblPr>
              <a:tblGrid>
                <a:gridCol w="893794">
                  <a:extLst>
                    <a:ext uri="{9D8B030D-6E8A-4147-A177-3AD203B41FA5}">
                      <a16:colId xmlns:a16="http://schemas.microsoft.com/office/drawing/2014/main" val="2779217718"/>
                    </a:ext>
                  </a:extLst>
                </a:gridCol>
                <a:gridCol w="893794">
                  <a:extLst>
                    <a:ext uri="{9D8B030D-6E8A-4147-A177-3AD203B41FA5}">
                      <a16:colId xmlns:a16="http://schemas.microsoft.com/office/drawing/2014/main" val="661633910"/>
                    </a:ext>
                  </a:extLst>
                </a:gridCol>
                <a:gridCol w="893794">
                  <a:extLst>
                    <a:ext uri="{9D8B030D-6E8A-4147-A177-3AD203B41FA5}">
                      <a16:colId xmlns:a16="http://schemas.microsoft.com/office/drawing/2014/main" val="2526252856"/>
                    </a:ext>
                  </a:extLst>
                </a:gridCol>
                <a:gridCol w="893794">
                  <a:extLst>
                    <a:ext uri="{9D8B030D-6E8A-4147-A177-3AD203B41FA5}">
                      <a16:colId xmlns:a16="http://schemas.microsoft.com/office/drawing/2014/main" val="1772403879"/>
                    </a:ext>
                  </a:extLst>
                </a:gridCol>
                <a:gridCol w="893794">
                  <a:extLst>
                    <a:ext uri="{9D8B030D-6E8A-4147-A177-3AD203B41FA5}">
                      <a16:colId xmlns:a16="http://schemas.microsoft.com/office/drawing/2014/main" val="2610233378"/>
                    </a:ext>
                  </a:extLst>
                </a:gridCol>
                <a:gridCol w="893794">
                  <a:extLst>
                    <a:ext uri="{9D8B030D-6E8A-4147-A177-3AD203B41FA5}">
                      <a16:colId xmlns:a16="http://schemas.microsoft.com/office/drawing/2014/main" val="2850541617"/>
                    </a:ext>
                  </a:extLst>
                </a:gridCol>
              </a:tblGrid>
              <a:tr h="261499">
                <a:tc>
                  <a:txBody>
                    <a:bodyPr/>
                    <a:lstStyle/>
                    <a:p>
                      <a:pPr algn="l" rtl="1">
                        <a:lnSpc>
                          <a:spcPct val="150000"/>
                        </a:lnSpc>
                        <a:spcAft>
                          <a:spcPts val="800"/>
                        </a:spcAft>
                      </a:pPr>
                      <a:r>
                        <a:rPr lang="en-US" sz="9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2">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95% Limits</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2232718783"/>
                  </a:ext>
                </a:extLst>
              </a:tr>
              <a:tr h="261499">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Time Period</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Forecast</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SE Forecast</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Lower</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Upper</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9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Actual</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2019489152"/>
                  </a:ext>
                </a:extLst>
              </a:tr>
              <a:tr h="261499">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45</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833598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74689.5</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687178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980019</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1225564782"/>
                  </a:ext>
                </a:extLst>
              </a:tr>
              <a:tr h="261499">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46</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833598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80802.6</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675193</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992003</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830146493"/>
                  </a:ext>
                </a:extLst>
              </a:tr>
              <a:tr h="261499">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47</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833598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86484.7</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664054</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1003143</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377020544"/>
                  </a:ext>
                </a:extLst>
              </a:tr>
              <a:tr h="261499">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833598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91815.8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653603</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1013594</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3846961097"/>
                  </a:ext>
                </a:extLst>
              </a:tr>
              <a:tr h="261499">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49</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833598</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96853.9</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643726</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1023470</a:t>
                      </a:r>
                      <a:endParaRPr lang="en-US" sz="14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3824276981"/>
                  </a:ext>
                </a:extLst>
              </a:tr>
            </a:tbl>
          </a:graphicData>
        </a:graphic>
      </p:graphicFrame>
      <p:pic>
        <p:nvPicPr>
          <p:cNvPr id="3" name="صورة 2" descr="Time Series Plot for Total of Passengers">
            <a:extLst>
              <a:ext uri="{FF2B5EF4-FFF2-40B4-BE49-F238E27FC236}">
                <a16:creationId xmlns:a16="http://schemas.microsoft.com/office/drawing/2014/main" id="{7741E832-1BBE-24B0-012F-E004287D7F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10300" y="1734039"/>
            <a:ext cx="4770120" cy="3185160"/>
          </a:xfrm>
          <a:prstGeom prst="rect">
            <a:avLst/>
          </a:prstGeom>
          <a:noFill/>
          <a:ln>
            <a:noFill/>
          </a:ln>
        </p:spPr>
      </p:pic>
    </p:spTree>
    <p:extLst>
      <p:ext uri="{BB962C8B-B14F-4D97-AF65-F5344CB8AC3E}">
        <p14:creationId xmlns:p14="http://schemas.microsoft.com/office/powerpoint/2010/main" val="802238071"/>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B53585-3A51-68E8-673B-60AF6C08C4AA}"/>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F1F8924-66DE-BA00-1299-9DB7B0AD36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8BB137C0-E0B2-6D4D-4EFD-3A5BBD489382}"/>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34C01F8F-32A7-2AAE-83A8-083E33B896C6}"/>
              </a:ext>
            </a:extLst>
          </p:cNvPr>
          <p:cNvSpPr>
            <a:spLocks noGrp="1"/>
          </p:cNvSpPr>
          <p:nvPr>
            <p:ph type="ctrTitle"/>
          </p:nvPr>
        </p:nvSpPr>
        <p:spPr>
          <a:xfrm>
            <a:off x="5947410" y="4833113"/>
            <a:ext cx="6518910" cy="561848"/>
          </a:xfrm>
        </p:spPr>
        <p:txBody>
          <a:bodyPr anchor="b">
            <a:noAutofit/>
          </a:bodyPr>
          <a:lstStyle/>
          <a:p>
            <a:pPr algn="l"/>
            <a:r>
              <a:rPr lang="ar-SA" sz="3600" dirty="0"/>
              <a:t>تحليل السلسلة الزمنية للرحلات المغادرة</a:t>
            </a:r>
          </a:p>
        </p:txBody>
      </p:sp>
      <p:pic>
        <p:nvPicPr>
          <p:cNvPr id="5" name="صورة 4">
            <a:extLst>
              <a:ext uri="{FF2B5EF4-FFF2-40B4-BE49-F238E27FC236}">
                <a16:creationId xmlns:a16="http://schemas.microsoft.com/office/drawing/2014/main" id="{DB6C18A0-2D6E-549A-A980-3CA7AA999878}"/>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23905387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36D57E7-D99E-C331-9F4E-08205EF25BA5}"/>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AAD19512-2B94-5F1A-70DB-27A22F039C07}"/>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B7894E80-AAEE-264F-EA96-87CC702CFEA1}"/>
              </a:ext>
            </a:extLst>
          </p:cNvPr>
          <p:cNvSpPr>
            <a:spLocks noGrp="1"/>
          </p:cNvSpPr>
          <p:nvPr>
            <p:ph type="title"/>
          </p:nvPr>
        </p:nvSpPr>
        <p:spPr>
          <a:xfrm>
            <a:off x="802640" y="0"/>
            <a:ext cx="10552747" cy="1048861"/>
          </a:xfrm>
        </p:spPr>
        <p:txBody>
          <a:bodyPr/>
          <a:lstStyle/>
          <a:p>
            <a:r>
              <a:rPr lang="ar-SA" dirty="0"/>
              <a:t>اختبار الاستقرار</a:t>
            </a:r>
          </a:p>
        </p:txBody>
      </p:sp>
      <p:sp>
        <p:nvSpPr>
          <p:cNvPr id="10" name="عنصر نائب للنص 9">
            <a:extLst>
              <a:ext uri="{FF2B5EF4-FFF2-40B4-BE49-F238E27FC236}">
                <a16:creationId xmlns:a16="http://schemas.microsoft.com/office/drawing/2014/main" id="{4B6F3F8D-CD73-4412-8C0F-585D515FD3CB}"/>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t>نكرر جميع الخطوات بالسلاسل الزمنية السابقة:</a:t>
            </a:r>
          </a:p>
        </p:txBody>
      </p:sp>
      <p:graphicFrame>
        <p:nvGraphicFramePr>
          <p:cNvPr id="2" name="جدول 1">
            <a:extLst>
              <a:ext uri="{FF2B5EF4-FFF2-40B4-BE49-F238E27FC236}">
                <a16:creationId xmlns:a16="http://schemas.microsoft.com/office/drawing/2014/main" id="{794D7FB9-0ED4-D8B6-EB93-624E31027C1C}"/>
              </a:ext>
            </a:extLst>
          </p:cNvPr>
          <p:cNvGraphicFramePr>
            <a:graphicFrameLocks noGrp="1"/>
          </p:cNvGraphicFramePr>
          <p:nvPr>
            <p:extLst>
              <p:ext uri="{D42A27DB-BD31-4B8C-83A1-F6EECF244321}">
                <p14:modId xmlns:p14="http://schemas.microsoft.com/office/powerpoint/2010/main" val="3225588713"/>
              </p:ext>
            </p:extLst>
          </p:nvPr>
        </p:nvGraphicFramePr>
        <p:xfrm>
          <a:off x="1106506" y="2495390"/>
          <a:ext cx="4755814" cy="1867218"/>
        </p:xfrm>
        <a:graphic>
          <a:graphicData uri="http://schemas.openxmlformats.org/drawingml/2006/table">
            <a:tbl>
              <a:tblPr>
                <a:tableStyleId>{5C22544A-7EE6-4342-B048-85BDC9FD1C3A}</a:tableStyleId>
              </a:tblPr>
              <a:tblGrid>
                <a:gridCol w="852088">
                  <a:extLst>
                    <a:ext uri="{9D8B030D-6E8A-4147-A177-3AD203B41FA5}">
                      <a16:colId xmlns:a16="http://schemas.microsoft.com/office/drawing/2014/main" val="374601077"/>
                    </a:ext>
                  </a:extLst>
                </a:gridCol>
                <a:gridCol w="837007">
                  <a:extLst>
                    <a:ext uri="{9D8B030D-6E8A-4147-A177-3AD203B41FA5}">
                      <a16:colId xmlns:a16="http://schemas.microsoft.com/office/drawing/2014/main" val="3350118679"/>
                    </a:ext>
                  </a:extLst>
                </a:gridCol>
                <a:gridCol w="128900">
                  <a:extLst>
                    <a:ext uri="{9D8B030D-6E8A-4147-A177-3AD203B41FA5}">
                      <a16:colId xmlns:a16="http://schemas.microsoft.com/office/drawing/2014/main" val="3359286390"/>
                    </a:ext>
                  </a:extLst>
                </a:gridCol>
                <a:gridCol w="1761485">
                  <a:extLst>
                    <a:ext uri="{9D8B030D-6E8A-4147-A177-3AD203B41FA5}">
                      <a16:colId xmlns:a16="http://schemas.microsoft.com/office/drawing/2014/main" val="2174571108"/>
                    </a:ext>
                  </a:extLst>
                </a:gridCol>
                <a:gridCol w="1176334">
                  <a:extLst>
                    <a:ext uri="{9D8B030D-6E8A-4147-A177-3AD203B41FA5}">
                      <a16:colId xmlns:a16="http://schemas.microsoft.com/office/drawing/2014/main" val="2144034719"/>
                    </a:ext>
                  </a:extLst>
                </a:gridCol>
              </a:tblGrid>
              <a:tr h="107315">
                <a:tc gridSpan="3">
                  <a:txBody>
                    <a:bodyPr/>
                    <a:lstStyle/>
                    <a:p>
                      <a:pPr algn="l" rtl="1">
                        <a:lnSpc>
                          <a:spcPct val="150000"/>
                        </a:lnSpc>
                        <a:spcAft>
                          <a:spcPts val="800"/>
                        </a:spcAft>
                      </a:pPr>
                      <a:r>
                        <a:rPr lang="en-US" sz="1200">
                          <a:effectLst/>
                        </a:rPr>
                        <a:t>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effectLst/>
                        </a:rPr>
                        <a:t>Data are non-stationary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12158906"/>
                  </a:ext>
                </a:extLst>
              </a:tr>
              <a:tr h="114300">
                <a:tc gridSpan="3">
                  <a:txBody>
                    <a:bodyPr/>
                    <a:lstStyle/>
                    <a:p>
                      <a:pPr algn="l" rtl="1">
                        <a:lnSpc>
                          <a:spcPct val="150000"/>
                        </a:lnSpc>
                        <a:spcAft>
                          <a:spcPts val="800"/>
                        </a:spcAft>
                      </a:pPr>
                      <a:r>
                        <a:rPr lang="en-US" sz="1200">
                          <a:effectLst/>
                        </a:rPr>
                        <a:t>Alternative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effectLst/>
                        </a:rPr>
                        <a:t>Data are 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740120372"/>
                  </a:ext>
                </a:extLst>
              </a:tr>
              <a:tr h="222250">
                <a:tc>
                  <a:txBody>
                    <a:bodyPr/>
                    <a:lstStyle/>
                    <a:p>
                      <a:pPr algn="l" rtl="1">
                        <a:lnSpc>
                          <a:spcPct val="150000"/>
                        </a:lnSpc>
                        <a:spcAft>
                          <a:spcPts val="800"/>
                        </a:spcAft>
                      </a:pPr>
                      <a:r>
                        <a:rPr lang="en-US" sz="750">
                          <a:effectLst/>
                        </a:rPr>
                        <a:t>Test</a:t>
                      </a:r>
                      <a:br>
                        <a:rPr lang="en-US" sz="750">
                          <a:effectLst/>
                        </a:rPr>
                      </a:br>
                      <a:r>
                        <a:rPr lang="en-US" sz="750">
                          <a:effectLst/>
                        </a:rPr>
                        <a:t>Statistic</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750">
                          <a:effectLst/>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3">
                  <a:txBody>
                    <a:bodyPr/>
                    <a:lstStyle/>
                    <a:p>
                      <a:pPr algn="l" rtl="1">
                        <a:lnSpc>
                          <a:spcPct val="150000"/>
                        </a:lnSpc>
                        <a:spcAft>
                          <a:spcPts val="800"/>
                        </a:spcAft>
                      </a:pPr>
                      <a:r>
                        <a:rPr lang="en-US" sz="750">
                          <a:effectLst/>
                        </a:rPr>
                        <a:t>Recommendation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693381816"/>
                  </a:ext>
                </a:extLst>
              </a:tr>
              <a:tr h="107315">
                <a:tc>
                  <a:txBody>
                    <a:bodyPr/>
                    <a:lstStyle/>
                    <a:p>
                      <a:pPr algn="l" rtl="1">
                        <a:lnSpc>
                          <a:spcPct val="150000"/>
                        </a:lnSpc>
                        <a:spcAft>
                          <a:spcPts val="800"/>
                        </a:spcAft>
                      </a:pPr>
                      <a:r>
                        <a:rPr lang="en-US" sz="1200">
                          <a:effectLst/>
                        </a:rPr>
                        <a:t>-1.32565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effectLst/>
                        </a:rPr>
                        <a:t>0.617</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3">
                  <a:txBody>
                    <a:bodyPr/>
                    <a:lstStyle/>
                    <a:p>
                      <a:pPr algn="l" rtl="1">
                        <a:lnSpc>
                          <a:spcPct val="150000"/>
                        </a:lnSpc>
                        <a:spcAft>
                          <a:spcPts val="800"/>
                        </a:spcAft>
                      </a:pPr>
                      <a:r>
                        <a:rPr lang="en-US" sz="1200">
                          <a:effectLst/>
                        </a:rPr>
                        <a:t>Test statistic &gt; critical value of -2.92678.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377055957"/>
                  </a:ext>
                </a:extLst>
              </a:tr>
              <a:tr h="107315">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200">
                          <a:effectLst/>
                        </a:rPr>
                        <a:t>Significance level = 0.05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4124558693"/>
                  </a:ext>
                </a:extLst>
              </a:tr>
              <a:tr h="114300">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200">
                          <a:effectLst/>
                        </a:rPr>
                        <a:t>Fail to reject 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8400924"/>
                  </a:ext>
                </a:extLst>
              </a:tr>
              <a:tr h="107315">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200" dirty="0">
                          <a:effectLst/>
                        </a:rPr>
                        <a:t>Consider differencing to make data stationary.</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211458073"/>
                  </a:ext>
                </a:extLst>
              </a:tr>
            </a:tbl>
          </a:graphicData>
        </a:graphic>
      </p:graphicFrame>
      <p:pic>
        <p:nvPicPr>
          <p:cNvPr id="3" name="صورة 2" descr="Time Series Plot of total of flghtts">
            <a:extLst>
              <a:ext uri="{FF2B5EF4-FFF2-40B4-BE49-F238E27FC236}">
                <a16:creationId xmlns:a16="http://schemas.microsoft.com/office/drawing/2014/main" id="{5BDB2101-1690-F5FF-94C2-33E13BEC92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5990" y="1976720"/>
            <a:ext cx="4770120" cy="3185160"/>
          </a:xfrm>
          <a:prstGeom prst="rect">
            <a:avLst/>
          </a:prstGeom>
          <a:noFill/>
          <a:ln>
            <a:noFill/>
          </a:ln>
        </p:spPr>
      </p:pic>
      <p:sp>
        <p:nvSpPr>
          <p:cNvPr id="6" name="مربع نص 5">
            <a:extLst>
              <a:ext uri="{FF2B5EF4-FFF2-40B4-BE49-F238E27FC236}">
                <a16:creationId xmlns:a16="http://schemas.microsoft.com/office/drawing/2014/main" id="{4CC79813-303F-A6F8-90DA-F307D1702050}"/>
              </a:ext>
            </a:extLst>
          </p:cNvPr>
          <p:cNvSpPr txBox="1"/>
          <p:nvPr/>
        </p:nvSpPr>
        <p:spPr>
          <a:xfrm>
            <a:off x="1116666" y="1976720"/>
            <a:ext cx="609600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Augmented Dickey-Fuller Test</a:t>
            </a:r>
            <a:endParaRPr lang="en-US" sz="24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041691849"/>
      </p:ext>
    </p:extLst>
  </p:cSld>
  <p:clrMapOvr>
    <a:overrideClrMapping bg1="dk1" tx1="lt1" bg2="dk2" tx2="lt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CF52F17-EDC9-922C-75BC-0854E5FE0649}"/>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9A5F2571-1CC3-BB34-8F2C-292BA6D99DEA}"/>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EFD35375-8584-764D-1F54-B79A6565BC87}"/>
              </a:ext>
            </a:extLst>
          </p:cNvPr>
          <p:cNvSpPr>
            <a:spLocks noGrp="1"/>
          </p:cNvSpPr>
          <p:nvPr>
            <p:ph type="title"/>
          </p:nvPr>
        </p:nvSpPr>
        <p:spPr>
          <a:xfrm>
            <a:off x="802640" y="0"/>
            <a:ext cx="10552747" cy="1048861"/>
          </a:xfrm>
        </p:spPr>
        <p:txBody>
          <a:bodyPr/>
          <a:lstStyle/>
          <a:p>
            <a:r>
              <a:rPr lang="ar-SA" dirty="0"/>
              <a:t>اختبار الاستقرار</a:t>
            </a:r>
          </a:p>
        </p:txBody>
      </p:sp>
      <p:sp>
        <p:nvSpPr>
          <p:cNvPr id="10" name="عنصر نائب للنص 9">
            <a:extLst>
              <a:ext uri="{FF2B5EF4-FFF2-40B4-BE49-F238E27FC236}">
                <a16:creationId xmlns:a16="http://schemas.microsoft.com/office/drawing/2014/main" id="{70A426BC-5773-CDB6-0019-C353812EF023}"/>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pic>
        <p:nvPicPr>
          <p:cNvPr id="3" name="صورة 2" descr="Time Series Plot of diff TOF">
            <a:extLst>
              <a:ext uri="{FF2B5EF4-FFF2-40B4-BE49-F238E27FC236}">
                <a16:creationId xmlns:a16="http://schemas.microsoft.com/office/drawing/2014/main" id="{A330B71B-E726-AE7D-7E17-A1F4A82B98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1457" y="1973863"/>
            <a:ext cx="4773930" cy="3187065"/>
          </a:xfrm>
          <a:prstGeom prst="rect">
            <a:avLst/>
          </a:prstGeom>
          <a:noFill/>
          <a:ln>
            <a:noFill/>
          </a:ln>
        </p:spPr>
      </p:pic>
      <p:sp>
        <p:nvSpPr>
          <p:cNvPr id="5" name="مربع نص 4">
            <a:extLst>
              <a:ext uri="{FF2B5EF4-FFF2-40B4-BE49-F238E27FC236}">
                <a16:creationId xmlns:a16="http://schemas.microsoft.com/office/drawing/2014/main" id="{89A5F09D-4F3B-3997-D4DA-099CA3FA19EE}"/>
              </a:ext>
            </a:extLst>
          </p:cNvPr>
          <p:cNvSpPr txBox="1"/>
          <p:nvPr/>
        </p:nvSpPr>
        <p:spPr>
          <a:xfrm>
            <a:off x="1360506" y="1766785"/>
            <a:ext cx="609600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Augmented Dickey-Fuller Test</a:t>
            </a:r>
            <a:endParaRPr lang="en-US" sz="24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graphicFrame>
        <p:nvGraphicFramePr>
          <p:cNvPr id="6" name="جدول 5">
            <a:extLst>
              <a:ext uri="{FF2B5EF4-FFF2-40B4-BE49-F238E27FC236}">
                <a16:creationId xmlns:a16="http://schemas.microsoft.com/office/drawing/2014/main" id="{DA8C9170-03D9-736F-ED18-4D2D1C9B2617}"/>
              </a:ext>
            </a:extLst>
          </p:cNvPr>
          <p:cNvGraphicFramePr>
            <a:graphicFrameLocks noGrp="1"/>
          </p:cNvGraphicFramePr>
          <p:nvPr>
            <p:extLst>
              <p:ext uri="{D42A27DB-BD31-4B8C-83A1-F6EECF244321}">
                <p14:modId xmlns:p14="http://schemas.microsoft.com/office/powerpoint/2010/main" val="4057564988"/>
              </p:ext>
            </p:extLst>
          </p:nvPr>
        </p:nvGraphicFramePr>
        <p:xfrm>
          <a:off x="1404360" y="2232490"/>
          <a:ext cx="5057399" cy="2141538"/>
        </p:xfrm>
        <a:graphic>
          <a:graphicData uri="http://schemas.openxmlformats.org/drawingml/2006/table">
            <a:tbl>
              <a:tblPr>
                <a:tableStyleId>{5C22544A-7EE6-4342-B048-85BDC9FD1C3A}</a:tableStyleId>
              </a:tblPr>
              <a:tblGrid>
                <a:gridCol w="814136">
                  <a:extLst>
                    <a:ext uri="{9D8B030D-6E8A-4147-A177-3AD203B41FA5}">
                      <a16:colId xmlns:a16="http://schemas.microsoft.com/office/drawing/2014/main" val="493157057"/>
                    </a:ext>
                  </a:extLst>
                </a:gridCol>
                <a:gridCol w="643407">
                  <a:extLst>
                    <a:ext uri="{9D8B030D-6E8A-4147-A177-3AD203B41FA5}">
                      <a16:colId xmlns:a16="http://schemas.microsoft.com/office/drawing/2014/main" val="3958255474"/>
                    </a:ext>
                  </a:extLst>
                </a:gridCol>
                <a:gridCol w="105564">
                  <a:extLst>
                    <a:ext uri="{9D8B030D-6E8A-4147-A177-3AD203B41FA5}">
                      <a16:colId xmlns:a16="http://schemas.microsoft.com/office/drawing/2014/main" val="1349451858"/>
                    </a:ext>
                  </a:extLst>
                </a:gridCol>
                <a:gridCol w="1682594">
                  <a:extLst>
                    <a:ext uri="{9D8B030D-6E8A-4147-A177-3AD203B41FA5}">
                      <a16:colId xmlns:a16="http://schemas.microsoft.com/office/drawing/2014/main" val="3862427577"/>
                    </a:ext>
                  </a:extLst>
                </a:gridCol>
                <a:gridCol w="1811698">
                  <a:extLst>
                    <a:ext uri="{9D8B030D-6E8A-4147-A177-3AD203B41FA5}">
                      <a16:colId xmlns:a16="http://schemas.microsoft.com/office/drawing/2014/main" val="1833584110"/>
                    </a:ext>
                  </a:extLst>
                </a:gridCol>
              </a:tblGrid>
              <a:tr h="224220">
                <a:tc gridSpan="3">
                  <a:txBody>
                    <a:bodyPr/>
                    <a:lstStyle/>
                    <a:p>
                      <a:pPr algn="l" rtl="1">
                        <a:lnSpc>
                          <a:spcPct val="150000"/>
                        </a:lnSpc>
                        <a:spcAft>
                          <a:spcPts val="800"/>
                        </a:spcAft>
                      </a:pPr>
                      <a:r>
                        <a:rPr lang="en-US" sz="1200">
                          <a:effectLst/>
                        </a:rPr>
                        <a:t>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effectLst/>
                        </a:rPr>
                        <a:t>Data are non-stationary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948416696"/>
                  </a:ext>
                </a:extLst>
              </a:tr>
              <a:tr h="224220">
                <a:tc gridSpan="3">
                  <a:txBody>
                    <a:bodyPr/>
                    <a:lstStyle/>
                    <a:p>
                      <a:pPr algn="l" rtl="1">
                        <a:lnSpc>
                          <a:spcPct val="150000"/>
                        </a:lnSpc>
                        <a:spcAft>
                          <a:spcPts val="800"/>
                        </a:spcAft>
                      </a:pPr>
                      <a:r>
                        <a:rPr lang="en-US" sz="1200">
                          <a:effectLst/>
                        </a:rPr>
                        <a:t>Alternative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effectLst/>
                        </a:rPr>
                        <a:t>Data are 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054982512"/>
                  </a:ext>
                </a:extLst>
              </a:tr>
              <a:tr h="293147">
                <a:tc>
                  <a:txBody>
                    <a:bodyPr/>
                    <a:lstStyle/>
                    <a:p>
                      <a:pPr algn="l" rtl="1">
                        <a:lnSpc>
                          <a:spcPct val="150000"/>
                        </a:lnSpc>
                        <a:spcAft>
                          <a:spcPts val="800"/>
                        </a:spcAft>
                      </a:pPr>
                      <a:r>
                        <a:rPr lang="en-US" sz="750">
                          <a:effectLst/>
                        </a:rPr>
                        <a:t>Test</a:t>
                      </a:r>
                      <a:br>
                        <a:rPr lang="en-US" sz="750">
                          <a:effectLst/>
                        </a:rPr>
                      </a:br>
                      <a:r>
                        <a:rPr lang="en-US" sz="750">
                          <a:effectLst/>
                        </a:rPr>
                        <a:t>Statistic</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750">
                          <a:effectLst/>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3">
                  <a:txBody>
                    <a:bodyPr/>
                    <a:lstStyle/>
                    <a:p>
                      <a:pPr algn="l" rtl="1">
                        <a:lnSpc>
                          <a:spcPct val="150000"/>
                        </a:lnSpc>
                        <a:spcAft>
                          <a:spcPts val="800"/>
                        </a:spcAft>
                      </a:pPr>
                      <a:r>
                        <a:rPr lang="en-US" sz="750">
                          <a:effectLst/>
                        </a:rPr>
                        <a:t>Recommendation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111165381"/>
                  </a:ext>
                </a:extLst>
              </a:tr>
              <a:tr h="224220">
                <a:tc>
                  <a:txBody>
                    <a:bodyPr/>
                    <a:lstStyle/>
                    <a:p>
                      <a:pPr algn="l" rtl="1">
                        <a:lnSpc>
                          <a:spcPct val="150000"/>
                        </a:lnSpc>
                        <a:spcAft>
                          <a:spcPts val="800"/>
                        </a:spcAft>
                      </a:pPr>
                      <a:r>
                        <a:rPr lang="en-US" sz="1200">
                          <a:effectLst/>
                        </a:rPr>
                        <a:t>-10.0355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effectLst/>
                        </a:rPr>
                        <a:t>0.000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3">
                  <a:txBody>
                    <a:bodyPr/>
                    <a:lstStyle/>
                    <a:p>
                      <a:pPr algn="l" rtl="1">
                        <a:lnSpc>
                          <a:spcPct val="150000"/>
                        </a:lnSpc>
                        <a:spcAft>
                          <a:spcPts val="800"/>
                        </a:spcAft>
                      </a:pPr>
                      <a:r>
                        <a:rPr lang="en-US" sz="1200">
                          <a:effectLst/>
                        </a:rPr>
                        <a:t>Test statistic &lt;= critical value of -2.92678.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4284541498"/>
                  </a:ext>
                </a:extLst>
              </a:tr>
              <a:tr h="224220">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200">
                          <a:effectLst/>
                        </a:rPr>
                        <a:t>Significance level = 0.05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769531278"/>
                  </a:ext>
                </a:extLst>
              </a:tr>
              <a:tr h="224220">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200">
                          <a:effectLst/>
                        </a:rPr>
                        <a:t>Reject 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415672795"/>
                  </a:ext>
                </a:extLst>
              </a:tr>
              <a:tr h="224220">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200" dirty="0">
                          <a:effectLst/>
                        </a:rPr>
                        <a:t>Data appears to be stationary, not supporting differencing.</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961594498"/>
                  </a:ext>
                </a:extLst>
              </a:tr>
            </a:tbl>
          </a:graphicData>
        </a:graphic>
      </p:graphicFrame>
    </p:spTree>
    <p:extLst>
      <p:ext uri="{BB962C8B-B14F-4D97-AF65-F5344CB8AC3E}">
        <p14:creationId xmlns:p14="http://schemas.microsoft.com/office/powerpoint/2010/main" val="4283050830"/>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C725CD5-60E6-ECAB-35C1-28CE6D9CCF2E}"/>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C6181490-FACD-40C6-D850-4004A0DF28BA}"/>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1330196A-EA52-4B7A-5897-9C7B0DCB4504}"/>
              </a:ext>
            </a:extLst>
          </p:cNvPr>
          <p:cNvSpPr>
            <a:spLocks noGrp="1"/>
          </p:cNvSpPr>
          <p:nvPr>
            <p:ph type="title"/>
          </p:nvPr>
        </p:nvSpPr>
        <p:spPr>
          <a:xfrm>
            <a:off x="802640" y="0"/>
            <a:ext cx="10552747" cy="1048861"/>
          </a:xfrm>
        </p:spPr>
        <p:txBody>
          <a:bodyPr/>
          <a:lstStyle/>
          <a:p>
            <a:r>
              <a:rPr lang="ar-SA" dirty="0"/>
              <a:t>دوال الارتباط الذاتي للنموذج</a:t>
            </a:r>
          </a:p>
        </p:txBody>
      </p:sp>
      <p:sp>
        <p:nvSpPr>
          <p:cNvPr id="10" name="عنصر نائب للنص 9">
            <a:extLst>
              <a:ext uri="{FF2B5EF4-FFF2-40B4-BE49-F238E27FC236}">
                <a16:creationId xmlns:a16="http://schemas.microsoft.com/office/drawing/2014/main" id="{C6D51B7B-6FBA-BB20-3CD0-0BCC53834853}"/>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p>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دالة الارتباط الذاتي</a:t>
            </a:r>
            <a:endParaRPr lang="en-US" sz="1800" dirty="0">
              <a:effectLst/>
              <a:latin typeface="Aptos" panose="020B0004020202020204" pitchFamily="34" charset="0"/>
              <a:ea typeface="Aptos" panose="020B0004020202020204" pitchFamily="34" charset="0"/>
              <a:cs typeface="Arial" panose="020B0604020202020204" pitchFamily="34" charset="0"/>
            </a:endParaRPr>
          </a:p>
        </p:txBody>
      </p:sp>
      <p:pic>
        <p:nvPicPr>
          <p:cNvPr id="2" name="صورة 1" descr="Autocorrelation for diff TOF">
            <a:extLst>
              <a:ext uri="{FF2B5EF4-FFF2-40B4-BE49-F238E27FC236}">
                <a16:creationId xmlns:a16="http://schemas.microsoft.com/office/drawing/2014/main" id="{262B62D5-B4CD-11EF-232E-63B0759D62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1457" y="1835466"/>
            <a:ext cx="4773930" cy="3187065"/>
          </a:xfrm>
          <a:prstGeom prst="rect">
            <a:avLst/>
          </a:prstGeom>
          <a:noFill/>
          <a:ln>
            <a:noFill/>
          </a:ln>
        </p:spPr>
      </p:pic>
      <p:pic>
        <p:nvPicPr>
          <p:cNvPr id="3" name="صورة 2" descr="Partial Autocorrelation for diff TOF">
            <a:extLst>
              <a:ext uri="{FF2B5EF4-FFF2-40B4-BE49-F238E27FC236}">
                <a16:creationId xmlns:a16="http://schemas.microsoft.com/office/drawing/2014/main" id="{10E07309-6C12-6BA1-5F2D-0A4B4DAAF1A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89355" y="1835465"/>
            <a:ext cx="4773930" cy="3187065"/>
          </a:xfrm>
          <a:prstGeom prst="rect">
            <a:avLst/>
          </a:prstGeom>
          <a:noFill/>
          <a:ln>
            <a:noFill/>
          </a:ln>
        </p:spPr>
      </p:pic>
      <p:sp>
        <p:nvSpPr>
          <p:cNvPr id="5" name="مربع نص 4">
            <a:extLst>
              <a:ext uri="{FF2B5EF4-FFF2-40B4-BE49-F238E27FC236}">
                <a16:creationId xmlns:a16="http://schemas.microsoft.com/office/drawing/2014/main" id="{4C85A229-9832-2656-7A0D-3CECBFCEF6E2}"/>
              </a:ext>
            </a:extLst>
          </p:cNvPr>
          <p:cNvSpPr txBox="1"/>
          <p:nvPr/>
        </p:nvSpPr>
        <p:spPr>
          <a:xfrm>
            <a:off x="1939925" y="1368067"/>
            <a:ext cx="4023360" cy="369332"/>
          </a:xfrm>
          <a:prstGeom prst="rect">
            <a:avLst/>
          </a:prstGeom>
          <a:noFill/>
        </p:spPr>
        <p:txBody>
          <a:bodyPr wrap="square" rtlCol="1">
            <a:spAutoFit/>
          </a:bodyPr>
          <a:lstStyle/>
          <a:p>
            <a:pPr marL="285750" indent="-285750">
              <a:buFont typeface="Arial" panose="020B0604020202020204" pitchFamily="34" charset="0"/>
              <a:buChar char="•"/>
            </a:pPr>
            <a:r>
              <a:rPr lang="ar-SA" dirty="0"/>
              <a:t>دالة الارتباط الجزئي الذاتي</a:t>
            </a:r>
          </a:p>
        </p:txBody>
      </p:sp>
    </p:spTree>
    <p:extLst>
      <p:ext uri="{BB962C8B-B14F-4D97-AF65-F5344CB8AC3E}">
        <p14:creationId xmlns:p14="http://schemas.microsoft.com/office/powerpoint/2010/main" val="3959459373"/>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8B7016D-E5F2-321C-7F99-80A423CDCB62}"/>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6238C129-7960-A7E0-4AF8-64F07FB12F7F}"/>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C0F091E9-3F58-2DA8-CD71-EE6E55059A40}"/>
              </a:ext>
            </a:extLst>
          </p:cNvPr>
          <p:cNvSpPr>
            <a:spLocks noGrp="1"/>
          </p:cNvSpPr>
          <p:nvPr>
            <p:ph type="title"/>
          </p:nvPr>
        </p:nvSpPr>
        <p:spPr>
          <a:xfrm>
            <a:off x="802640" y="0"/>
            <a:ext cx="10552747" cy="1048861"/>
          </a:xfrm>
        </p:spPr>
        <p:txBody>
          <a:bodyPr/>
          <a:lstStyle/>
          <a:p>
            <a:r>
              <a:rPr lang="ar-SA" dirty="0"/>
              <a:t>النموذج </a:t>
            </a:r>
            <a:r>
              <a:rPr lang="en-US" dirty="0"/>
              <a:t>ARIMA(0,1,2)</a:t>
            </a:r>
            <a:endParaRPr lang="ar-SA" dirty="0"/>
          </a:p>
        </p:txBody>
      </p:sp>
      <mc:AlternateContent xmlns:mc="http://schemas.openxmlformats.org/markup-compatibility/2006">
        <mc:Choice xmlns:a14="http://schemas.microsoft.com/office/drawing/2010/main" Requires="a14">
          <p:sp>
            <p:nvSpPr>
              <p:cNvPr id="10" name="عنصر نائب للنص 9">
                <a:extLst>
                  <a:ext uri="{FF2B5EF4-FFF2-40B4-BE49-F238E27FC236}">
                    <a16:creationId xmlns:a16="http://schemas.microsoft.com/office/drawing/2014/main" id="{A8E5F571-4BBA-91F3-06C7-088DA994D4D1}"/>
                  </a:ext>
                </a:extLst>
              </p:cNvPr>
              <p:cNvSpPr>
                <a:spLocks noGrp="1"/>
              </p:cNvSpPr>
              <p:nvPr>
                <p:ph type="body" sz="half" idx="2"/>
              </p:nvPr>
            </p:nvSpPr>
            <p:spPr>
              <a:xfrm>
                <a:off x="7423150" y="1048861"/>
                <a:ext cx="3932237" cy="5602060"/>
              </a:xfrm>
            </p:spPr>
            <p:txBody>
              <a:bodyPr>
                <a:normAutofit fontScale="70000" lnSpcReduction="20000"/>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p>
              <a:p>
                <a:pPr marL="457200" algn="l" rtl="1">
                  <a:lnSpc>
                    <a:spcPct val="150000"/>
                  </a:lnSpc>
                </a:pPr>
                <a14:m>
                  <m:oMathPara xmlns:m="http://schemas.openxmlformats.org/officeDocument/2006/math">
                    <m:oMathParaPr>
                      <m:jc m:val="centerGroup"/>
                    </m:oMathParaPr>
                    <m:oMath xmlns:m="http://schemas.openxmlformats.org/officeDocument/2006/math">
                      <m:sSub>
                        <m:sSubPr>
                          <m:ctrlPr>
                            <a:rPr lang="en-US" sz="2200" i="1"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200" i="1">
                              <a:effectLst/>
                              <a:latin typeface="Cambria Math" panose="02040503050406030204" pitchFamily="18" charset="0"/>
                              <a:ea typeface="Aptos" panose="020B0004020202020204" pitchFamily="34" charset="0"/>
                              <a:cs typeface="Times New Roman" panose="02020603050405020304" pitchFamily="18" charset="0"/>
                            </a:rPr>
                            <m:t>𝜃</m:t>
                          </m:r>
                        </m:e>
                        <m:sub>
                          <m:r>
                            <a:rPr lang="en-US" sz="2200" i="1">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2200" i="1">
                          <a:effectLst/>
                          <a:latin typeface="Cambria Math" panose="02040503050406030204" pitchFamily="18" charset="0"/>
                          <a:ea typeface="Aptos" panose="020B0004020202020204" pitchFamily="34" charset="0"/>
                          <a:cs typeface="Times New Roman" panose="02020603050405020304" pitchFamily="18" charset="0"/>
                        </a:rPr>
                        <m:t>=</m:t>
                      </m:r>
                      <m:r>
                        <a:rPr lang="en-US" sz="2200" i="1">
                          <a:effectLst/>
                          <a:latin typeface="Cambria Math" panose="02040503050406030204" pitchFamily="18" charset="0"/>
                          <a:ea typeface="Aptos" panose="020B0004020202020204" pitchFamily="34" charset="0"/>
                          <a:cs typeface="Times New Roman" panose="02020603050405020304" pitchFamily="18" charset="0"/>
                        </a:rPr>
                        <m:t>1</m:t>
                      </m:r>
                      <m:r>
                        <a:rPr lang="en-US" sz="2200" i="1">
                          <a:effectLst/>
                          <a:latin typeface="Cambria Math" panose="02040503050406030204" pitchFamily="18" charset="0"/>
                          <a:ea typeface="Aptos" panose="020B0004020202020204" pitchFamily="34" charset="0"/>
                          <a:cs typeface="Times New Roman" panose="02020603050405020304" pitchFamily="18" charset="0"/>
                        </a:rPr>
                        <m:t>.</m:t>
                      </m:r>
                      <m:r>
                        <a:rPr lang="en-US" sz="2200" i="1">
                          <a:effectLst/>
                          <a:latin typeface="Cambria Math" panose="02040503050406030204" pitchFamily="18" charset="0"/>
                          <a:ea typeface="Aptos" panose="020B0004020202020204" pitchFamily="34" charset="0"/>
                          <a:cs typeface="Times New Roman" panose="02020603050405020304" pitchFamily="18" charset="0"/>
                        </a:rPr>
                        <m:t>246</m:t>
                      </m:r>
                    </m:oMath>
                  </m:oMathPara>
                </a14:m>
                <a:endParaRPr lang="en-US" sz="2200" dirty="0">
                  <a:effectLst/>
                  <a:latin typeface="Aptos" panose="020B0004020202020204" pitchFamily="34" charset="0"/>
                  <a:ea typeface="Aptos" panose="020B0004020202020204" pitchFamily="34" charset="0"/>
                  <a:cs typeface="Arial" panose="020B0604020202020204" pitchFamily="34" charset="0"/>
                </a:endParaRPr>
              </a:p>
              <a:p>
                <a:pPr marL="457200" algn="l" rtl="1">
                  <a:lnSpc>
                    <a:spcPct val="150000"/>
                  </a:lnSpc>
                </a:pPr>
                <a14:m>
                  <m:oMathPara xmlns:m="http://schemas.openxmlformats.org/officeDocument/2006/math">
                    <m:oMathParaPr>
                      <m:jc m:val="centerGroup"/>
                    </m:oMathParaPr>
                    <m:oMath xmlns:m="http://schemas.openxmlformats.org/officeDocument/2006/math">
                      <m:sSub>
                        <m:sSubPr>
                          <m:ctrlPr>
                            <a:rPr lang="en-US" sz="22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0</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495</m:t>
                      </m:r>
                    </m:oMath>
                  </m:oMathPara>
                </a14:m>
                <a:endParaRPr lang="en-US" sz="2200" dirty="0">
                  <a:effectLst/>
                  <a:latin typeface="Aptos" panose="020B0004020202020204" pitchFamily="34" charset="0"/>
                  <a:ea typeface="Aptos" panose="020B0004020202020204" pitchFamily="34" charset="0"/>
                  <a:cs typeface="Arial" panose="020B0604020202020204" pitchFamily="34" charset="0"/>
                </a:endParaRPr>
              </a:p>
              <a:p>
                <a:pPr marL="457200" algn="l" rtl="1">
                  <a:lnSpc>
                    <a:spcPct val="150000"/>
                  </a:lnSpc>
                </a:pPr>
                <a14:m>
                  <m:oMathPara xmlns:m="http://schemas.openxmlformats.org/officeDocument/2006/math">
                    <m:oMathParaPr>
                      <m:jc m:val="centerGroup"/>
                    </m:oMathParaPr>
                    <m:oMath xmlns:m="http://schemas.openxmlformats.org/officeDocument/2006/math">
                      <m:sSub>
                        <m:sSubPr>
                          <m:ctrlPr>
                            <a:rPr lang="en-US" sz="2200"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200" i="1">
                              <a:effectLst/>
                              <a:latin typeface="Cambria Math" panose="02040503050406030204" pitchFamily="18" charset="0"/>
                              <a:ea typeface="Aptos" panose="020B0004020202020204" pitchFamily="34" charset="0"/>
                              <a:cs typeface="Times New Roman" panose="02020603050405020304" pitchFamily="18" charset="0"/>
                            </a:rPr>
                            <m:t>𝐻</m:t>
                          </m:r>
                        </m:e>
                        <m:sub>
                          <m:r>
                            <a:rPr lang="en-US" sz="2200" i="1">
                              <a:effectLst/>
                              <a:latin typeface="Cambria Math" panose="02040503050406030204" pitchFamily="18" charset="0"/>
                              <a:ea typeface="Aptos" panose="020B0004020202020204" pitchFamily="34" charset="0"/>
                              <a:cs typeface="Times New Roman" panose="02020603050405020304" pitchFamily="18" charset="0"/>
                            </a:rPr>
                            <m:t>0</m:t>
                          </m:r>
                        </m:sub>
                      </m:sSub>
                      <m:r>
                        <a:rPr lang="en-US" sz="2200" i="1">
                          <a:effectLst/>
                          <a:latin typeface="Cambria Math" panose="02040503050406030204" pitchFamily="18" charset="0"/>
                          <a:ea typeface="Aptos" panose="020B0004020202020204" pitchFamily="34" charset="0"/>
                          <a:cs typeface="Times New Roman" panose="02020603050405020304" pitchFamily="18" charset="0"/>
                        </a:rPr>
                        <m:t>:</m:t>
                      </m:r>
                      <m:r>
                        <a:rPr lang="en-US" sz="2200" i="1">
                          <a:effectLst/>
                          <a:latin typeface="Cambria Math" panose="02040503050406030204" pitchFamily="18" charset="0"/>
                          <a:ea typeface="Aptos" panose="020B0004020202020204" pitchFamily="34" charset="0"/>
                          <a:cs typeface="Times New Roman" panose="02020603050405020304" pitchFamily="18" charset="0"/>
                        </a:rPr>
                        <m:t>𝜃</m:t>
                      </m:r>
                      <m:r>
                        <a:rPr lang="en-US" sz="2200" i="1">
                          <a:effectLst/>
                          <a:latin typeface="Cambria Math" panose="02040503050406030204" pitchFamily="18" charset="0"/>
                          <a:ea typeface="Aptos" panose="020B0004020202020204" pitchFamily="34" charset="0"/>
                          <a:cs typeface="Times New Roman" panose="02020603050405020304" pitchFamily="18" charset="0"/>
                        </a:rPr>
                        <m:t>=</m:t>
                      </m:r>
                      <m:r>
                        <a:rPr lang="en-US" sz="2200" i="1">
                          <a:effectLst/>
                          <a:latin typeface="Cambria Math" panose="02040503050406030204" pitchFamily="18" charset="0"/>
                          <a:ea typeface="Aptos" panose="020B0004020202020204" pitchFamily="34" charset="0"/>
                          <a:cs typeface="Times New Roman" panose="02020603050405020304" pitchFamily="18" charset="0"/>
                        </a:rPr>
                        <m:t>0</m:t>
                      </m:r>
                      <m:r>
                        <a:rPr lang="en-US" sz="2200" i="1">
                          <a:effectLst/>
                          <a:latin typeface="Cambria Math" panose="02040503050406030204" pitchFamily="18" charset="0"/>
                          <a:ea typeface="Aptos" panose="020B0004020202020204" pitchFamily="34" charset="0"/>
                          <a:cs typeface="Times New Roman" panose="02020603050405020304" pitchFamily="18" charset="0"/>
                        </a:rPr>
                        <m:t>  </m:t>
                      </m:r>
                      <m:r>
                        <a:rPr lang="en-US" sz="2200" i="1">
                          <a:effectLst/>
                          <a:latin typeface="Cambria Math" panose="02040503050406030204" pitchFamily="18" charset="0"/>
                          <a:ea typeface="Aptos" panose="020B0004020202020204" pitchFamily="34" charset="0"/>
                          <a:cs typeface="Times New Roman" panose="02020603050405020304" pitchFamily="18" charset="0"/>
                        </a:rPr>
                        <m:t>𝑉𝑆</m:t>
                      </m:r>
                      <m:r>
                        <a:rPr lang="en-US" sz="2200" i="1">
                          <a:effectLst/>
                          <a:latin typeface="Cambria Math" panose="02040503050406030204" pitchFamily="18" charset="0"/>
                          <a:ea typeface="Aptos" panose="020B0004020202020204" pitchFamily="34" charset="0"/>
                          <a:cs typeface="Times New Roman" panose="02020603050405020304" pitchFamily="18" charset="0"/>
                        </a:rPr>
                        <m:t> </m:t>
                      </m:r>
                      <m:sSub>
                        <m:sSubPr>
                          <m:ctrlPr>
                            <a:rPr lang="en-US" sz="2200" i="1">
                              <a:effectLst/>
                              <a:latin typeface="Cambria Math" panose="02040503050406030204" pitchFamily="18" charset="0"/>
                              <a:ea typeface="Aptos" panose="020B0004020202020204" pitchFamily="34" charset="0"/>
                              <a:cs typeface="Times New Roman" panose="02020603050405020304" pitchFamily="18" charset="0"/>
                            </a:rPr>
                          </m:ctrlPr>
                        </m:sSubPr>
                        <m:e>
                          <m:r>
                            <a:rPr lang="en-US" sz="2200" i="1">
                              <a:effectLst/>
                              <a:latin typeface="Cambria Math" panose="02040503050406030204" pitchFamily="18" charset="0"/>
                              <a:ea typeface="Aptos" panose="020B0004020202020204" pitchFamily="34" charset="0"/>
                              <a:cs typeface="Times New Roman" panose="02020603050405020304" pitchFamily="18" charset="0"/>
                            </a:rPr>
                            <m:t>𝐻</m:t>
                          </m:r>
                        </m:e>
                        <m:sub>
                          <m:r>
                            <a:rPr lang="en-US" sz="2200" i="1">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2200" i="1">
                          <a:effectLst/>
                          <a:latin typeface="Cambria Math" panose="02040503050406030204" pitchFamily="18" charset="0"/>
                          <a:ea typeface="Aptos" panose="020B0004020202020204" pitchFamily="34" charset="0"/>
                          <a:cs typeface="Times New Roman" panose="02020603050405020304" pitchFamily="18" charset="0"/>
                        </a:rPr>
                        <m:t>: </m:t>
                      </m:r>
                      <m:r>
                        <a:rPr lang="en-US" sz="2200" i="1">
                          <a:effectLst/>
                          <a:latin typeface="Cambria Math" panose="02040503050406030204" pitchFamily="18" charset="0"/>
                          <a:ea typeface="Aptos" panose="020B0004020202020204" pitchFamily="34" charset="0"/>
                          <a:cs typeface="Times New Roman" panose="02020603050405020304" pitchFamily="18" charset="0"/>
                        </a:rPr>
                        <m:t>𝜃</m:t>
                      </m:r>
                      <m:r>
                        <a:rPr lang="en-US" sz="2200" i="1">
                          <a:effectLst/>
                          <a:latin typeface="Cambria Math" panose="02040503050406030204" pitchFamily="18" charset="0"/>
                          <a:ea typeface="Aptos" panose="020B0004020202020204" pitchFamily="34" charset="0"/>
                          <a:cs typeface="Times New Roman" panose="02020603050405020304" pitchFamily="18" charset="0"/>
                        </a:rPr>
                        <m:t>≠</m:t>
                      </m:r>
                      <m:r>
                        <a:rPr lang="en-US" sz="2200" i="1">
                          <a:effectLst/>
                          <a:latin typeface="Cambria Math" panose="02040503050406030204" pitchFamily="18" charset="0"/>
                          <a:ea typeface="Aptos" panose="020B0004020202020204" pitchFamily="34" charset="0"/>
                          <a:cs typeface="Times New Roman" panose="02020603050405020304" pitchFamily="18" charset="0"/>
                        </a:rPr>
                        <m:t>0</m:t>
                      </m:r>
                    </m:oMath>
                  </m:oMathPara>
                </a14:m>
                <a:endParaRPr lang="en-US" sz="2200" dirty="0">
                  <a:effectLst/>
                  <a:latin typeface="Aptos" panose="020B0004020202020204" pitchFamily="34" charset="0"/>
                  <a:ea typeface="Aptos" panose="020B0004020202020204" pitchFamily="34" charset="0"/>
                  <a:cs typeface="Arial" panose="020B0604020202020204" pitchFamily="34" charset="0"/>
                </a:endParaRPr>
              </a:p>
              <a:p>
                <a:pPr marL="457200" algn="r" rtl="1">
                  <a:lnSpc>
                    <a:spcPct val="150000"/>
                  </a:lnSpc>
                  <a:spcAft>
                    <a:spcPts val="800"/>
                  </a:spcAft>
                </a:pPr>
                <a:r>
                  <a:rPr lang="ar-SA" sz="2200" dirty="0">
                    <a:effectLst/>
                    <a:latin typeface="Aptos" panose="020B0004020202020204" pitchFamily="34" charset="0"/>
                    <a:ea typeface="Times New Roman" panose="02020603050405020304" pitchFamily="18" charset="0"/>
                    <a:cs typeface="Times New Roman" panose="02020603050405020304" pitchFamily="18" charset="0"/>
                  </a:rPr>
                  <a:t>بما ان قيم </a:t>
                </a:r>
                <a:r>
                  <a:rPr lang="en-US" sz="2200" i="1" dirty="0">
                    <a:effectLst/>
                    <a:latin typeface="Times New Roman" panose="02020603050405020304" pitchFamily="18" charset="0"/>
                    <a:ea typeface="Times New Roman" panose="02020603050405020304" pitchFamily="18" charset="0"/>
                    <a:cs typeface="Arial" panose="020B0604020202020204" pitchFamily="34" charset="0"/>
                  </a:rPr>
                  <a:t>p-value</a:t>
                </a:r>
                <a:r>
                  <a:rPr lang="ar-SA" sz="2200" dirty="0">
                    <a:effectLst/>
                    <a:latin typeface="Aptos" panose="020B0004020202020204" pitchFamily="34" charset="0"/>
                    <a:ea typeface="Times New Roman" panose="02020603050405020304" pitchFamily="18" charset="0"/>
                    <a:cs typeface="Times New Roman" panose="02020603050405020304" pitchFamily="18" charset="0"/>
                  </a:rPr>
                  <a:t> اقل من </a:t>
                </a:r>
                <a:r>
                  <a:rPr lang="en-US" sz="2200" i="1" dirty="0">
                    <a:effectLst/>
                    <a:latin typeface="Times New Roman" panose="02020603050405020304" pitchFamily="18" charset="0"/>
                    <a:ea typeface="Times New Roman" panose="02020603050405020304" pitchFamily="18" charset="0"/>
                    <a:cs typeface="Arial" panose="020B0604020202020204" pitchFamily="34" charset="0"/>
                  </a:rPr>
                  <a:t>0.05</a:t>
                </a:r>
                <a:r>
                  <a:rPr lang="en-US" sz="220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2200" dirty="0">
                    <a:effectLst/>
                    <a:latin typeface="Times New Roman" panose="02020603050405020304" pitchFamily="18" charset="0"/>
                    <a:ea typeface="Times New Roman" panose="02020603050405020304" pitchFamily="18" charset="0"/>
                    <a:cs typeface="Arial" panose="020B0604020202020204" pitchFamily="34" charset="0"/>
                  </a:rPr>
                  <a:t>إذا نرفض الفرضية الصفرية ونستنتج بان المعلمة </a:t>
                </a:r>
                <a14:m>
                  <m:oMath xmlns:m="http://schemas.openxmlformats.org/officeDocument/2006/math">
                    <m:r>
                      <a:rPr lang="ar-SA" sz="2200" i="1">
                        <a:effectLst/>
                        <a:latin typeface="Cambria Math" panose="02040503050406030204" pitchFamily="18" charset="0"/>
                        <a:ea typeface="Times New Roman" panose="02020603050405020304" pitchFamily="18" charset="0"/>
                        <a:cs typeface="Cambria Math" panose="02040503050406030204" pitchFamily="18" charset="0"/>
                      </a:rPr>
                      <m:t>𝜃</m:t>
                    </m:r>
                  </m:oMath>
                </a14:m>
                <a:r>
                  <a:rPr lang="ar-SA" sz="2200" dirty="0">
                    <a:effectLst/>
                    <a:latin typeface="Aptos" panose="020B0004020202020204" pitchFamily="34" charset="0"/>
                    <a:ea typeface="Times New Roman" panose="02020603050405020304" pitchFamily="18" charset="0"/>
                    <a:cs typeface="Times New Roman" panose="02020603050405020304" pitchFamily="18" charset="0"/>
                  </a:rPr>
                  <a:t> معنوية ويجب ان تبقى في النموذج.</a:t>
                </a:r>
                <a:endParaRPr lang="en-US" sz="22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en-US" sz="2200" dirty="0">
                  <a:effectLst/>
                  <a:latin typeface="Aptos" panose="020B0004020202020204" pitchFamily="34" charset="0"/>
                  <a:ea typeface="Aptos" panose="020B0004020202020204" pitchFamily="34" charset="0"/>
                  <a:cs typeface="Arial" panose="020B0604020202020204" pitchFamily="34" charset="0"/>
                </a:endParaRPr>
              </a:p>
              <a:p>
                <a:endParaRPr lang="en-US" sz="2200" dirty="0"/>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endParaRPr lang="en-US" sz="2200" dirty="0"/>
              </a:p>
              <a:p>
                <a:pPr marL="457200" algn="r" rtl="1">
                  <a:lnSpc>
                    <a:spcPct val="150000"/>
                  </a:lnSpc>
                </a:pPr>
                <a14:m>
                  <m:oMathPara xmlns:m="http://schemas.openxmlformats.org/officeDocument/2006/math">
                    <m:oMathParaPr>
                      <m:jc m:val="centerGroup"/>
                    </m:oMathParaPr>
                    <m:oMath xmlns:m="http://schemas.openxmlformats.org/officeDocument/2006/math">
                      <m:sSub>
                        <m:sSubPr>
                          <m:ctrlPr>
                            <a:rPr lang="en-US" sz="22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2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𝜌</m:t>
                          </m:r>
                        </m:e>
                        <m: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2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𝜌</m:t>
                          </m:r>
                        </m:e>
                        <m: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2200" dirty="0">
                  <a:effectLst/>
                  <a:latin typeface="Aptos" panose="020B0004020202020204" pitchFamily="34" charset="0"/>
                  <a:ea typeface="Aptos" panose="020B0004020202020204" pitchFamily="34" charset="0"/>
                  <a:cs typeface="Arial" panose="020B0604020202020204" pitchFamily="34" charset="0"/>
                </a:endParaRPr>
              </a:p>
              <a:p>
                <a:pPr marL="457200" algn="r" rtl="1">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US" sz="22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𝑎𝑡</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𝑙𝑒𝑎𝑠𝑡</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𝑡𝑤𝑜</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𝑑𝑖𝑓𝑓𝑒𝑟𝑒𝑛𝑐𝑒𝑠</m:t>
                      </m:r>
                    </m:oMath>
                  </m:oMathPara>
                </a14:m>
                <a:endParaRPr lang="en-US" sz="22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50000"/>
                  </a:lnSpc>
                  <a:spcAft>
                    <a:spcPts val="800"/>
                  </a:spcAft>
                </a:pPr>
                <a:r>
                  <a:rPr lang="ar-SA" sz="2200" dirty="0">
                    <a:effectLst/>
                    <a:latin typeface="Aptos" panose="020B0004020202020204" pitchFamily="34" charset="0"/>
                    <a:ea typeface="Aptos" panose="020B0004020202020204" pitchFamily="34" charset="0"/>
                    <a:cs typeface="Times New Roman" panose="02020603050405020304" pitchFamily="18" charset="0"/>
                  </a:rPr>
                  <a:t>          وكما هو موضح بجميع قيم </a:t>
                </a:r>
                <a:r>
                  <a:rPr lang="en-US" sz="2200" dirty="0">
                    <a:effectLst/>
                    <a:latin typeface="Times New Roman" panose="02020603050405020304" pitchFamily="18" charset="0"/>
                    <a:ea typeface="Aptos" panose="020B0004020202020204" pitchFamily="34" charset="0"/>
                    <a:cs typeface="Arial" panose="020B0604020202020204" pitchFamily="34" charset="0"/>
                  </a:rPr>
                  <a:t>p-value</a:t>
                </a:r>
                <a:r>
                  <a:rPr lang="ar-SA" sz="2200" dirty="0">
                    <a:effectLst/>
                    <a:latin typeface="Aptos" panose="020B0004020202020204" pitchFamily="34" charset="0"/>
                    <a:ea typeface="Aptos" panose="020B0004020202020204" pitchFamily="34" charset="0"/>
                    <a:cs typeface="Times New Roman" panose="02020603050405020304" pitchFamily="18" charset="0"/>
                  </a:rPr>
                  <a:t> انها أكبر من </a:t>
                </a:r>
                <a:r>
                  <a:rPr lang="en-US" sz="2200" dirty="0">
                    <a:effectLst/>
                    <a:latin typeface="Times New Roman" panose="02020603050405020304" pitchFamily="18" charset="0"/>
                    <a:ea typeface="Aptos" panose="020B0004020202020204" pitchFamily="34" charset="0"/>
                    <a:cs typeface="Arial" panose="020B0604020202020204" pitchFamily="34" charset="0"/>
                  </a:rPr>
                  <a:t>0.05 </a:t>
                </a:r>
                <a:r>
                  <a:rPr lang="ar-SA" sz="2200" dirty="0">
                    <a:effectLst/>
                    <a:latin typeface="Times New Roman" panose="02020603050405020304" pitchFamily="18" charset="0"/>
                    <a:ea typeface="Aptos" panose="020B0004020202020204" pitchFamily="34" charset="0"/>
                    <a:cs typeface="Arial" panose="020B0604020202020204" pitchFamily="34" charset="0"/>
                  </a:rPr>
                  <a:t>إذا نقبل الفرضية الصفرية ونقر بان      النموذج مناسب للبيانات.</a:t>
                </a:r>
                <a:endParaRPr lang="en-US" sz="22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mc:Choice>
        <mc:Fallback>
          <p:sp>
            <p:nvSpPr>
              <p:cNvPr id="10" name="عنصر نائب للنص 9">
                <a:extLst>
                  <a:ext uri="{FF2B5EF4-FFF2-40B4-BE49-F238E27FC236}">
                    <a16:creationId xmlns:a16="http://schemas.microsoft.com/office/drawing/2014/main" id="{A8E5F571-4BBA-91F3-06C7-088DA994D4D1}"/>
                  </a:ext>
                </a:extLst>
              </p:cNvPr>
              <p:cNvSpPr>
                <a:spLocks noGrp="1" noRot="1" noChangeAspect="1" noMove="1" noResize="1" noEditPoints="1" noAdjustHandles="1" noChangeArrowheads="1" noChangeShapeType="1" noTextEdit="1"/>
              </p:cNvSpPr>
              <p:nvPr>
                <p:ph type="body" sz="half" idx="2"/>
              </p:nvPr>
            </p:nvSpPr>
            <p:spPr>
              <a:xfrm>
                <a:off x="7423150" y="1048861"/>
                <a:ext cx="3932237" cy="5602060"/>
              </a:xfrm>
              <a:blipFill>
                <a:blip r:embed="rId3"/>
                <a:stretch>
                  <a:fillRect l="-1240" t="-1088" r="-775"/>
                </a:stretch>
              </a:blipFill>
            </p:spPr>
            <p:txBody>
              <a:bodyPr/>
              <a:lstStyle/>
              <a:p>
                <a:r>
                  <a:rPr lang="ar-SA">
                    <a:noFill/>
                  </a:rPr>
                  <a:t> </a:t>
                </a:r>
              </a:p>
            </p:txBody>
          </p:sp>
        </mc:Fallback>
      </mc:AlternateContent>
      <p:graphicFrame>
        <p:nvGraphicFramePr>
          <p:cNvPr id="2" name="جدول 1">
            <a:extLst>
              <a:ext uri="{FF2B5EF4-FFF2-40B4-BE49-F238E27FC236}">
                <a16:creationId xmlns:a16="http://schemas.microsoft.com/office/drawing/2014/main" id="{488C4632-8CFB-93E8-1EF1-0FF5E5FE05E1}"/>
              </a:ext>
            </a:extLst>
          </p:cNvPr>
          <p:cNvGraphicFramePr>
            <a:graphicFrameLocks noGrp="1"/>
          </p:cNvGraphicFramePr>
          <p:nvPr>
            <p:extLst>
              <p:ext uri="{D42A27DB-BD31-4B8C-83A1-F6EECF244321}">
                <p14:modId xmlns:p14="http://schemas.microsoft.com/office/powerpoint/2010/main" val="366244345"/>
              </p:ext>
            </p:extLst>
          </p:nvPr>
        </p:nvGraphicFramePr>
        <p:xfrm>
          <a:off x="2340611" y="1434598"/>
          <a:ext cx="4064000" cy="148336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565336394"/>
                    </a:ext>
                  </a:extLst>
                </a:gridCol>
                <a:gridCol w="812800">
                  <a:extLst>
                    <a:ext uri="{9D8B030D-6E8A-4147-A177-3AD203B41FA5}">
                      <a16:colId xmlns:a16="http://schemas.microsoft.com/office/drawing/2014/main" val="2866135992"/>
                    </a:ext>
                  </a:extLst>
                </a:gridCol>
                <a:gridCol w="812800">
                  <a:extLst>
                    <a:ext uri="{9D8B030D-6E8A-4147-A177-3AD203B41FA5}">
                      <a16:colId xmlns:a16="http://schemas.microsoft.com/office/drawing/2014/main" val="1913479427"/>
                    </a:ext>
                  </a:extLst>
                </a:gridCol>
                <a:gridCol w="812800">
                  <a:extLst>
                    <a:ext uri="{9D8B030D-6E8A-4147-A177-3AD203B41FA5}">
                      <a16:colId xmlns:a16="http://schemas.microsoft.com/office/drawing/2014/main" val="3688778727"/>
                    </a:ext>
                  </a:extLst>
                </a:gridCol>
                <a:gridCol w="812800">
                  <a:extLst>
                    <a:ext uri="{9D8B030D-6E8A-4147-A177-3AD203B41FA5}">
                      <a16:colId xmlns:a16="http://schemas.microsoft.com/office/drawing/2014/main" val="2612810149"/>
                    </a:ext>
                  </a:extLst>
                </a:gridCol>
              </a:tblGrid>
              <a:tr h="370840">
                <a:tc>
                  <a:txBody>
                    <a:bodyPr/>
                    <a:lstStyle/>
                    <a:p>
                      <a:pPr algn="l" rtl="1">
                        <a:lnSpc>
                          <a:spcPct val="150000"/>
                        </a:lnSpc>
                        <a:spcAft>
                          <a:spcPts val="800"/>
                        </a:spcAft>
                      </a:pPr>
                      <a:r>
                        <a:rPr lang="en-US" sz="10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Type</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0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Coef</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0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SE Coef</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0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0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3615560570"/>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MA   1</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1.246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0.136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9.13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0.000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3761412948"/>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MA   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-0.495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0.140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-3.53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0.001</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3290035060"/>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Constant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11.4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-0.20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0.843</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1339515090"/>
                  </a:ext>
                </a:extLst>
              </a:tr>
            </a:tbl>
          </a:graphicData>
        </a:graphic>
      </p:graphicFrame>
      <p:graphicFrame>
        <p:nvGraphicFramePr>
          <p:cNvPr id="3" name="جدول 2">
            <a:extLst>
              <a:ext uri="{FF2B5EF4-FFF2-40B4-BE49-F238E27FC236}">
                <a16:creationId xmlns:a16="http://schemas.microsoft.com/office/drawing/2014/main" id="{6703BBE7-8357-5A26-E67A-7E3E7D546FF2}"/>
              </a:ext>
            </a:extLst>
          </p:cNvPr>
          <p:cNvGraphicFramePr>
            <a:graphicFrameLocks noGrp="1"/>
          </p:cNvGraphicFramePr>
          <p:nvPr>
            <p:extLst>
              <p:ext uri="{D42A27DB-BD31-4B8C-83A1-F6EECF244321}">
                <p14:modId xmlns:p14="http://schemas.microsoft.com/office/powerpoint/2010/main" val="2665934507"/>
              </p:ext>
            </p:extLst>
          </p:nvPr>
        </p:nvGraphicFramePr>
        <p:xfrm>
          <a:off x="2340611" y="4681722"/>
          <a:ext cx="4064000" cy="148336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303595600"/>
                    </a:ext>
                  </a:extLst>
                </a:gridCol>
                <a:gridCol w="812800">
                  <a:extLst>
                    <a:ext uri="{9D8B030D-6E8A-4147-A177-3AD203B41FA5}">
                      <a16:colId xmlns:a16="http://schemas.microsoft.com/office/drawing/2014/main" val="3947242507"/>
                    </a:ext>
                  </a:extLst>
                </a:gridCol>
                <a:gridCol w="812800">
                  <a:extLst>
                    <a:ext uri="{9D8B030D-6E8A-4147-A177-3AD203B41FA5}">
                      <a16:colId xmlns:a16="http://schemas.microsoft.com/office/drawing/2014/main" val="4237794237"/>
                    </a:ext>
                  </a:extLst>
                </a:gridCol>
                <a:gridCol w="812800">
                  <a:extLst>
                    <a:ext uri="{9D8B030D-6E8A-4147-A177-3AD203B41FA5}">
                      <a16:colId xmlns:a16="http://schemas.microsoft.com/office/drawing/2014/main" val="473391471"/>
                    </a:ext>
                  </a:extLst>
                </a:gridCol>
                <a:gridCol w="812800">
                  <a:extLst>
                    <a:ext uri="{9D8B030D-6E8A-4147-A177-3AD203B41FA5}">
                      <a16:colId xmlns:a16="http://schemas.microsoft.com/office/drawing/2014/main" val="505719169"/>
                    </a:ext>
                  </a:extLst>
                </a:gridCol>
              </a:tblGrid>
              <a:tr h="370840">
                <a:tc>
                  <a:txBody>
                    <a:bodyPr/>
                    <a:lstStyle/>
                    <a:p>
                      <a:pPr algn="r" rtl="1">
                        <a:lnSpc>
                          <a:spcPct val="150000"/>
                        </a:lnSpc>
                        <a:spcAft>
                          <a:spcPts val="800"/>
                        </a:spcAft>
                      </a:pPr>
                      <a:r>
                        <a:rPr lang="en-US" sz="12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Lag</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r"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r"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r"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r" rtl="1">
                        <a:lnSpc>
                          <a:spcPct val="150000"/>
                        </a:lnSpc>
                        <a:spcAft>
                          <a:spcPts val="800"/>
                        </a:spcAft>
                      </a:pPr>
                      <a:r>
                        <a:rPr lang="en-US" sz="12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48</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3171950619"/>
                  </a:ext>
                </a:extLst>
              </a:tr>
              <a:tr h="370840">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Chi-Square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11.04</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22.46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30.41</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890530829"/>
                  </a:ext>
                </a:extLst>
              </a:tr>
              <a:tr h="370840">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DF</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21</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2257860965"/>
                  </a:ext>
                </a:extLst>
              </a:tr>
              <a:tr h="370840">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0.273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0.373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0.597</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500996532"/>
                  </a:ext>
                </a:extLst>
              </a:tr>
            </a:tbl>
          </a:graphicData>
        </a:graphic>
      </p:graphicFrame>
    </p:spTree>
    <p:extLst>
      <p:ext uri="{BB962C8B-B14F-4D97-AF65-F5344CB8AC3E}">
        <p14:creationId xmlns:p14="http://schemas.microsoft.com/office/powerpoint/2010/main" val="3955359918"/>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1B9AB99-76D7-A9AA-B70F-B82196B3A474}"/>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5E34C346-0678-0240-42DD-F10DD8C9FDC7}"/>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B5BC4E3D-ECBF-4D3F-D7D7-8088E324E78B}"/>
              </a:ext>
            </a:extLst>
          </p:cNvPr>
          <p:cNvSpPr>
            <a:spLocks noGrp="1"/>
          </p:cNvSpPr>
          <p:nvPr>
            <p:ph type="title"/>
          </p:nvPr>
        </p:nvSpPr>
        <p:spPr>
          <a:xfrm>
            <a:off x="802640" y="0"/>
            <a:ext cx="10552747" cy="1048861"/>
          </a:xfrm>
        </p:spPr>
        <p:txBody>
          <a:bodyPr/>
          <a:lstStyle/>
          <a:p>
            <a:r>
              <a:rPr lang="ar-SA" dirty="0"/>
              <a:t>دوال الارتباط الذاتي لبواقي النموذج</a:t>
            </a:r>
          </a:p>
        </p:txBody>
      </p:sp>
      <p:sp>
        <p:nvSpPr>
          <p:cNvPr id="10" name="عنصر نائب للنص 9">
            <a:extLst>
              <a:ext uri="{FF2B5EF4-FFF2-40B4-BE49-F238E27FC236}">
                <a16:creationId xmlns:a16="http://schemas.microsoft.com/office/drawing/2014/main" id="{763F36C9-1F82-FD47-6D96-79AF73D25770}"/>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t>دالة الارتباط الذاتي للبواقي</a:t>
            </a:r>
          </a:p>
        </p:txBody>
      </p:sp>
      <p:pic>
        <p:nvPicPr>
          <p:cNvPr id="2" name="صورة 1" descr="ACF of Residuals for diff TOF">
            <a:extLst>
              <a:ext uri="{FF2B5EF4-FFF2-40B4-BE49-F238E27FC236}">
                <a16:creationId xmlns:a16="http://schemas.microsoft.com/office/drawing/2014/main" id="{F905694D-BD55-AA48-039C-E72DD260E2D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47156" y="1835467"/>
            <a:ext cx="4773930" cy="3187065"/>
          </a:xfrm>
          <a:prstGeom prst="rect">
            <a:avLst/>
          </a:prstGeom>
          <a:noFill/>
          <a:ln>
            <a:noFill/>
          </a:ln>
        </p:spPr>
      </p:pic>
      <p:pic>
        <p:nvPicPr>
          <p:cNvPr id="3" name="صورة 2" descr="PACF of Residuals for diff TOF">
            <a:extLst>
              <a:ext uri="{FF2B5EF4-FFF2-40B4-BE49-F238E27FC236}">
                <a16:creationId xmlns:a16="http://schemas.microsoft.com/office/drawing/2014/main" id="{5755F0D5-DFA6-3A3B-A60C-0C19D9A721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6613" y="1835467"/>
            <a:ext cx="4773930" cy="3187065"/>
          </a:xfrm>
          <a:prstGeom prst="rect">
            <a:avLst/>
          </a:prstGeom>
          <a:noFill/>
          <a:ln>
            <a:noFill/>
          </a:ln>
        </p:spPr>
      </p:pic>
      <p:sp>
        <p:nvSpPr>
          <p:cNvPr id="5" name="مربع نص 4">
            <a:extLst>
              <a:ext uri="{FF2B5EF4-FFF2-40B4-BE49-F238E27FC236}">
                <a16:creationId xmlns:a16="http://schemas.microsoft.com/office/drawing/2014/main" id="{65EE707A-C6C7-F870-399E-AE88767A804B}"/>
              </a:ext>
            </a:extLst>
          </p:cNvPr>
          <p:cNvSpPr txBox="1"/>
          <p:nvPr/>
        </p:nvSpPr>
        <p:spPr>
          <a:xfrm>
            <a:off x="2135823" y="1412596"/>
            <a:ext cx="3474720" cy="369332"/>
          </a:xfrm>
          <a:prstGeom prst="rect">
            <a:avLst/>
          </a:prstGeom>
          <a:noFill/>
        </p:spPr>
        <p:txBody>
          <a:bodyPr wrap="square" rtlCol="1">
            <a:spAutoFit/>
          </a:bodyPr>
          <a:lstStyle/>
          <a:p>
            <a:pPr marL="285750" indent="-285750">
              <a:buFont typeface="Arial" panose="020B0604020202020204" pitchFamily="34" charset="0"/>
              <a:buChar char="•"/>
            </a:pPr>
            <a:r>
              <a:rPr lang="ar-SA" dirty="0"/>
              <a:t>دالة الارتباط الجزئي الذاتي للبواقي</a:t>
            </a:r>
          </a:p>
        </p:txBody>
      </p:sp>
    </p:spTree>
    <p:extLst>
      <p:ext uri="{BB962C8B-B14F-4D97-AF65-F5344CB8AC3E}">
        <p14:creationId xmlns:p14="http://schemas.microsoft.com/office/powerpoint/2010/main" val="3719603209"/>
      </p:ext>
    </p:extLst>
  </p:cSld>
  <p:clrMapOvr>
    <a:overrideClrMapping bg1="dk1" tx1="lt1" bg2="dk2" tx2="lt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94A43A7-E36E-0A19-6EB6-2E6B2E18B666}"/>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C1AE8F72-8108-D28A-A897-FBBB1AFA8A94}"/>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91FE3990-38D8-6C4A-5EB0-116616B7ABE5}"/>
              </a:ext>
            </a:extLst>
          </p:cNvPr>
          <p:cNvSpPr>
            <a:spLocks noGrp="1"/>
          </p:cNvSpPr>
          <p:nvPr>
            <p:ph type="title"/>
          </p:nvPr>
        </p:nvSpPr>
        <p:spPr>
          <a:xfrm>
            <a:off x="802640" y="0"/>
            <a:ext cx="10552747" cy="1048861"/>
          </a:xfrm>
        </p:spPr>
        <p:txBody>
          <a:bodyPr/>
          <a:lstStyle/>
          <a:p>
            <a:r>
              <a:rPr lang="ar-SA" dirty="0"/>
              <a:t>تحليل بواقي النموذج</a:t>
            </a:r>
          </a:p>
        </p:txBody>
      </p:sp>
      <p:sp>
        <p:nvSpPr>
          <p:cNvPr id="10" name="عنصر نائب للنص 9">
            <a:extLst>
              <a:ext uri="{FF2B5EF4-FFF2-40B4-BE49-F238E27FC236}">
                <a16:creationId xmlns:a16="http://schemas.microsoft.com/office/drawing/2014/main" id="{D2E905B8-AD57-3EEF-51D5-29A1C1F96E7E}"/>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p>
          <a:p>
            <a:pPr marL="285750" indent="-285750">
              <a:buFont typeface="Arial" panose="020B0604020202020204" pitchFamily="34" charset="0"/>
              <a:buChar char="•"/>
            </a:pPr>
            <a:r>
              <a:rPr lang="ar-SA" sz="1800" dirty="0">
                <a:latin typeface="Aptos" panose="020B0004020202020204" pitchFamily="34" charset="0"/>
                <a:ea typeface="Aptos" panose="020B0004020202020204" pitchFamily="34" charset="0"/>
                <a:cs typeface="Times New Roman" panose="02020603050405020304" pitchFamily="18" charset="0"/>
              </a:rPr>
              <a:t>توزيع البواقي يكون طبيعي:</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pic>
        <p:nvPicPr>
          <p:cNvPr id="2" name="صورة 1" descr="Probability Plot of Residuals_1">
            <a:extLst>
              <a:ext uri="{FF2B5EF4-FFF2-40B4-BE49-F238E27FC236}">
                <a16:creationId xmlns:a16="http://schemas.microsoft.com/office/drawing/2014/main" id="{9326455A-9B16-F578-C528-7BE99F0475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1457" y="1835466"/>
            <a:ext cx="4773930" cy="3187065"/>
          </a:xfrm>
          <a:prstGeom prst="rect">
            <a:avLst/>
          </a:prstGeom>
          <a:noFill/>
          <a:ln>
            <a:noFill/>
          </a:ln>
        </p:spPr>
      </p:pic>
      <p:pic>
        <p:nvPicPr>
          <p:cNvPr id="3" name="صورة 2" descr="Residuals vs Fits for diff TOF">
            <a:extLst>
              <a:ext uri="{FF2B5EF4-FFF2-40B4-BE49-F238E27FC236}">
                <a16:creationId xmlns:a16="http://schemas.microsoft.com/office/drawing/2014/main" id="{FBB3136D-7223-48D2-7343-1D2420770DF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02640" y="1835467"/>
            <a:ext cx="4773930" cy="3187065"/>
          </a:xfrm>
          <a:prstGeom prst="rect">
            <a:avLst/>
          </a:prstGeom>
          <a:noFill/>
          <a:ln>
            <a:noFill/>
          </a:ln>
        </p:spPr>
      </p:pic>
      <p:sp>
        <p:nvSpPr>
          <p:cNvPr id="5" name="مربع نص 4">
            <a:extLst>
              <a:ext uri="{FF2B5EF4-FFF2-40B4-BE49-F238E27FC236}">
                <a16:creationId xmlns:a16="http://schemas.microsoft.com/office/drawing/2014/main" id="{6535A4E1-4F26-3DF9-878F-DA39460F90AB}"/>
              </a:ext>
            </a:extLst>
          </p:cNvPr>
          <p:cNvSpPr txBox="1"/>
          <p:nvPr/>
        </p:nvSpPr>
        <p:spPr>
          <a:xfrm>
            <a:off x="1675130" y="1429662"/>
            <a:ext cx="3901440" cy="369332"/>
          </a:xfrm>
          <a:prstGeom prst="rect">
            <a:avLst/>
          </a:prstGeom>
          <a:noFill/>
        </p:spPr>
        <p:txBody>
          <a:bodyPr wrap="square" rtlCol="1">
            <a:spAutoFit/>
          </a:bodyPr>
          <a:lstStyle/>
          <a:p>
            <a:pPr marL="285750" indent="-285750">
              <a:buFont typeface="Arial" panose="020B0604020202020204" pitchFamily="34" charset="0"/>
              <a:buChar char="•"/>
            </a:pPr>
            <a:r>
              <a:rPr lang="ar-SA" dirty="0"/>
              <a:t>تباين بواقي النموذج يكون ثابت:</a:t>
            </a:r>
          </a:p>
        </p:txBody>
      </p:sp>
    </p:spTree>
    <p:extLst>
      <p:ext uri="{BB962C8B-B14F-4D97-AF65-F5344CB8AC3E}">
        <p14:creationId xmlns:p14="http://schemas.microsoft.com/office/powerpoint/2010/main" val="2279769409"/>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9A410D1-A58A-66DF-9BF8-BC04D387FCCE}"/>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03982A58-29B8-1E62-1994-35E13A815F3C}"/>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1DD6CC7A-4321-DC8B-894D-A1732FFAE20A}"/>
              </a:ext>
            </a:extLst>
          </p:cNvPr>
          <p:cNvSpPr>
            <a:spLocks noGrp="1"/>
          </p:cNvSpPr>
          <p:nvPr>
            <p:ph type="title"/>
          </p:nvPr>
        </p:nvSpPr>
        <p:spPr>
          <a:xfrm>
            <a:off x="802640" y="0"/>
            <a:ext cx="10552747" cy="1048861"/>
          </a:xfrm>
        </p:spPr>
        <p:txBody>
          <a:bodyPr/>
          <a:lstStyle/>
          <a:p>
            <a:r>
              <a:rPr lang="ar-SA" dirty="0"/>
              <a:t>تحليل البواقي</a:t>
            </a:r>
          </a:p>
        </p:txBody>
      </p:sp>
      <p:sp>
        <p:nvSpPr>
          <p:cNvPr id="10" name="عنصر نائب للنص 9">
            <a:extLst>
              <a:ext uri="{FF2B5EF4-FFF2-40B4-BE49-F238E27FC236}">
                <a16:creationId xmlns:a16="http://schemas.microsoft.com/office/drawing/2014/main" id="{B79D5CD9-A97C-A512-70D3-A559AD11F342}"/>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t>متوسط البواقي يساوي صفر (اختبار </a:t>
            </a:r>
            <a:r>
              <a:rPr lang="en-US" sz="1800" dirty="0"/>
              <a:t>Z</a:t>
            </a:r>
            <a:r>
              <a:rPr lang="ar-SA" sz="1800" dirty="0"/>
              <a:t>):</a:t>
            </a:r>
          </a:p>
          <a:p>
            <a:r>
              <a:rPr lang="ar-SA" sz="1800" dirty="0">
                <a:effectLst/>
                <a:latin typeface="Aptos" panose="020B0004020202020204" pitchFamily="34" charset="0"/>
                <a:ea typeface="Times New Roman" panose="02020603050405020304" pitchFamily="18" charset="0"/>
                <a:cs typeface="Times New Roman" panose="02020603050405020304" pitchFamily="18" charset="0"/>
              </a:rPr>
              <a:t>كما نرى ان قيمة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p value </a:t>
            </a:r>
            <a:r>
              <a:rPr lang="ar-SA" sz="1800" dirty="0">
                <a:effectLst/>
                <a:latin typeface="Aptos" panose="020B0004020202020204" pitchFamily="34" charset="0"/>
                <a:ea typeface="Times New Roman" panose="02020603050405020304" pitchFamily="18" charset="0"/>
                <a:cs typeface="Times New Roman" panose="02020603050405020304" pitchFamily="18" charset="0"/>
              </a:rPr>
              <a:t>أكبر من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0.05</a:t>
            </a:r>
            <a:r>
              <a:rPr lang="ar-SA" sz="1800" dirty="0">
                <a:effectLst/>
                <a:latin typeface="Aptos" panose="020B0004020202020204" pitchFamily="34" charset="0"/>
                <a:ea typeface="Times New Roman" panose="02020603050405020304" pitchFamily="18" charset="0"/>
                <a:cs typeface="Times New Roman" panose="02020603050405020304" pitchFamily="18" charset="0"/>
              </a:rPr>
              <a:t> لذا نقبل الفرضية الصفرية ويعني ان متوسط بواقي النموذج يساوي صفر.</a:t>
            </a: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r>
              <a:rPr lang="ar-SA" sz="1800" dirty="0"/>
              <a:t>عشوائية البواقي (اختبار </a:t>
            </a:r>
            <a:r>
              <a:rPr lang="en-US" sz="1800" dirty="0"/>
              <a:t>Run Test</a:t>
            </a:r>
            <a:r>
              <a:rPr lang="ar-SA" sz="1800" dirty="0"/>
              <a:t>):</a:t>
            </a:r>
          </a:p>
          <a:p>
            <a:r>
              <a:rPr lang="ar-SA" sz="1800" dirty="0">
                <a:effectLst/>
                <a:latin typeface="Aptos" panose="020B0004020202020204" pitchFamily="34" charset="0"/>
                <a:ea typeface="Times New Roman" panose="02020603050405020304" pitchFamily="18" charset="0"/>
                <a:cs typeface="Times New Roman" panose="02020603050405020304" pitchFamily="18" charset="0"/>
              </a:rPr>
              <a:t>كما نلاحظ ان قيمة </a:t>
            </a:r>
            <a:r>
              <a:rPr lang="en-US" sz="1800" i="1" dirty="0">
                <a:effectLst/>
                <a:latin typeface="Times New Roman" panose="02020603050405020304" pitchFamily="18" charset="0"/>
                <a:ea typeface="Times New Roman" panose="02020603050405020304" pitchFamily="18" charset="0"/>
                <a:cs typeface="Arial" panose="020B0604020202020204" pitchFamily="34" charset="0"/>
              </a:rPr>
              <a:t>p value </a:t>
            </a:r>
            <a:r>
              <a:rPr lang="ar-SA" sz="1800" dirty="0">
                <a:effectLst/>
                <a:latin typeface="Aptos" panose="020B0004020202020204" pitchFamily="34" charset="0"/>
                <a:ea typeface="Times New Roman" panose="02020603050405020304" pitchFamily="18" charset="0"/>
                <a:cs typeface="Times New Roman" panose="02020603050405020304" pitchFamily="18" charset="0"/>
              </a:rPr>
              <a:t>أكبر من </a:t>
            </a:r>
            <a:r>
              <a:rPr lang="en-US" sz="1800" i="1" dirty="0">
                <a:effectLst/>
                <a:latin typeface="Times New Roman" panose="02020603050405020304" pitchFamily="18" charset="0"/>
                <a:ea typeface="Times New Roman" panose="02020603050405020304" pitchFamily="18" charset="0"/>
                <a:cs typeface="Arial" panose="020B0604020202020204" pitchFamily="34" charset="0"/>
              </a:rPr>
              <a:t>0.05</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dirty="0">
                <a:effectLst/>
                <a:latin typeface="Times New Roman" panose="02020603050405020304" pitchFamily="18" charset="0"/>
                <a:ea typeface="Times New Roman" panose="02020603050405020304" pitchFamily="18" charset="0"/>
                <a:cs typeface="Arial" panose="020B0604020202020204" pitchFamily="34" charset="0"/>
              </a:rPr>
              <a:t>إذا نقبل الفرضية الصفرية وهذا يعني ان البواقي عشوائية.</a:t>
            </a:r>
            <a:endParaRPr lang="en-US" sz="1800" dirty="0">
              <a:effectLst/>
              <a:latin typeface="Aptos" panose="020B0004020202020204" pitchFamily="34" charset="0"/>
              <a:ea typeface="Aptos" panose="020B0004020202020204" pitchFamily="34" charset="0"/>
              <a:cs typeface="Arial" panose="020B0604020202020204" pitchFamily="34" charset="0"/>
            </a:endParaRPr>
          </a:p>
          <a:p>
            <a:endParaRPr lang="ar-SA" sz="1800" dirty="0"/>
          </a:p>
        </p:txBody>
      </p:sp>
      <p:graphicFrame>
        <p:nvGraphicFramePr>
          <p:cNvPr id="3" name="جدول 2">
            <a:extLst>
              <a:ext uri="{FF2B5EF4-FFF2-40B4-BE49-F238E27FC236}">
                <a16:creationId xmlns:a16="http://schemas.microsoft.com/office/drawing/2014/main" id="{C0705E53-95A8-5BF9-B243-5551624CEB12}"/>
              </a:ext>
            </a:extLst>
          </p:cNvPr>
          <p:cNvGraphicFramePr>
            <a:graphicFrameLocks noGrp="1"/>
          </p:cNvGraphicFramePr>
          <p:nvPr>
            <p:extLst>
              <p:ext uri="{D42A27DB-BD31-4B8C-83A1-F6EECF244321}">
                <p14:modId xmlns:p14="http://schemas.microsoft.com/office/powerpoint/2010/main" val="4017573371"/>
              </p:ext>
            </p:extLst>
          </p:nvPr>
        </p:nvGraphicFramePr>
        <p:xfrm>
          <a:off x="1158240" y="1408694"/>
          <a:ext cx="4064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3519528730"/>
                    </a:ext>
                  </a:extLst>
                </a:gridCol>
                <a:gridCol w="1016000">
                  <a:extLst>
                    <a:ext uri="{9D8B030D-6E8A-4147-A177-3AD203B41FA5}">
                      <a16:colId xmlns:a16="http://schemas.microsoft.com/office/drawing/2014/main" val="1205106414"/>
                    </a:ext>
                  </a:extLst>
                </a:gridCol>
                <a:gridCol w="1016000">
                  <a:extLst>
                    <a:ext uri="{9D8B030D-6E8A-4147-A177-3AD203B41FA5}">
                      <a16:colId xmlns:a16="http://schemas.microsoft.com/office/drawing/2014/main" val="1258529471"/>
                    </a:ext>
                  </a:extLst>
                </a:gridCol>
                <a:gridCol w="1016000">
                  <a:extLst>
                    <a:ext uri="{9D8B030D-6E8A-4147-A177-3AD203B41FA5}">
                      <a16:colId xmlns:a16="http://schemas.microsoft.com/office/drawing/2014/main" val="921707674"/>
                    </a:ext>
                  </a:extLst>
                </a:gridCol>
              </a:tblGrid>
              <a:tr h="370840">
                <a:tc gridSpan="3">
                  <a:txBody>
                    <a:bodyPr/>
                    <a:lstStyle/>
                    <a:p>
                      <a:pPr algn="l"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Null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H₀: μ = 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937879136"/>
                  </a:ext>
                </a:extLst>
              </a:tr>
              <a:tr h="370840">
                <a:tc gridSpan="3">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Alternative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H₁: μ ≠ 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3944166301"/>
                  </a:ext>
                </a:extLst>
              </a:tr>
              <a:tr h="370840">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Z-Value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2">
                  <a:txBody>
                    <a:bodyPr/>
                    <a:lstStyle/>
                    <a:p>
                      <a:pPr algn="l" rtl="1">
                        <a:lnSpc>
                          <a:spcPct val="107000"/>
                        </a:lnSpc>
                        <a:spcAft>
                          <a:spcPts val="800"/>
                        </a:spcAft>
                      </a:pPr>
                      <a:r>
                        <a:rPr lang="en-US" sz="11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tc hMerge="1">
                  <a:txBody>
                    <a:bodyPr/>
                    <a:lstStyle/>
                    <a:p>
                      <a:pPr rtl="1"/>
                      <a:endParaRPr lang="ar-SA"/>
                    </a:p>
                  </a:txBody>
                  <a:tcPr/>
                </a:tc>
                <a:extLst>
                  <a:ext uri="{0D108BD9-81ED-4DB2-BD59-A6C34878D82A}">
                    <a16:rowId xmlns:a16="http://schemas.microsoft.com/office/drawing/2014/main" val="1249807487"/>
                  </a:ext>
                </a:extLst>
              </a:tr>
              <a:tr h="370840">
                <a:tc>
                  <a:txBody>
                    <a:bodyPr/>
                    <a:lstStyle/>
                    <a:p>
                      <a:pPr algn="l"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0.02</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0">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0.983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2">
                  <a:txBody>
                    <a:bodyPr/>
                    <a:lstStyle/>
                    <a:p>
                      <a:pPr algn="l" rtl="1">
                        <a:lnSpc>
                          <a:spcPct val="107000"/>
                        </a:lnSpc>
                        <a:spcAft>
                          <a:spcPts val="800"/>
                        </a:spcAft>
                      </a:pPr>
                      <a:r>
                        <a:rPr lang="en-US" sz="1100" dirty="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tc hMerge="1">
                  <a:txBody>
                    <a:bodyPr/>
                    <a:lstStyle/>
                    <a:p>
                      <a:pPr rtl="1"/>
                      <a:endParaRPr lang="ar-SA"/>
                    </a:p>
                  </a:txBody>
                  <a:tcPr/>
                </a:tc>
                <a:extLst>
                  <a:ext uri="{0D108BD9-81ED-4DB2-BD59-A6C34878D82A}">
                    <a16:rowId xmlns:a16="http://schemas.microsoft.com/office/drawing/2014/main" val="229687015"/>
                  </a:ext>
                </a:extLst>
              </a:tr>
            </a:tbl>
          </a:graphicData>
        </a:graphic>
      </p:graphicFrame>
      <p:graphicFrame>
        <p:nvGraphicFramePr>
          <p:cNvPr id="5" name="جدول 4">
            <a:extLst>
              <a:ext uri="{FF2B5EF4-FFF2-40B4-BE49-F238E27FC236}">
                <a16:creationId xmlns:a16="http://schemas.microsoft.com/office/drawing/2014/main" id="{CAD76EB5-3D6D-55DB-04B5-7E648CF6B9B9}"/>
              </a:ext>
            </a:extLst>
          </p:cNvPr>
          <p:cNvGraphicFramePr>
            <a:graphicFrameLocks noGrp="1"/>
          </p:cNvGraphicFramePr>
          <p:nvPr>
            <p:extLst>
              <p:ext uri="{D42A27DB-BD31-4B8C-83A1-F6EECF244321}">
                <p14:modId xmlns:p14="http://schemas.microsoft.com/office/powerpoint/2010/main" val="86806908"/>
              </p:ext>
            </p:extLst>
          </p:nvPr>
        </p:nvGraphicFramePr>
        <p:xfrm>
          <a:off x="1158240" y="3849891"/>
          <a:ext cx="4135120" cy="1854200"/>
        </p:xfrm>
        <a:graphic>
          <a:graphicData uri="http://schemas.openxmlformats.org/drawingml/2006/table">
            <a:tbl>
              <a:tblPr firstRow="1" bandRow="1">
                <a:tableStyleId>{5C22544A-7EE6-4342-B048-85BDC9FD1C3A}</a:tableStyleId>
              </a:tblPr>
              <a:tblGrid>
                <a:gridCol w="827024">
                  <a:extLst>
                    <a:ext uri="{9D8B030D-6E8A-4147-A177-3AD203B41FA5}">
                      <a16:colId xmlns:a16="http://schemas.microsoft.com/office/drawing/2014/main" val="281859860"/>
                    </a:ext>
                  </a:extLst>
                </a:gridCol>
                <a:gridCol w="827024">
                  <a:extLst>
                    <a:ext uri="{9D8B030D-6E8A-4147-A177-3AD203B41FA5}">
                      <a16:colId xmlns:a16="http://schemas.microsoft.com/office/drawing/2014/main" val="1921118964"/>
                    </a:ext>
                  </a:extLst>
                </a:gridCol>
                <a:gridCol w="827024">
                  <a:extLst>
                    <a:ext uri="{9D8B030D-6E8A-4147-A177-3AD203B41FA5}">
                      <a16:colId xmlns:a16="http://schemas.microsoft.com/office/drawing/2014/main" val="2456378594"/>
                    </a:ext>
                  </a:extLst>
                </a:gridCol>
                <a:gridCol w="827024">
                  <a:extLst>
                    <a:ext uri="{9D8B030D-6E8A-4147-A177-3AD203B41FA5}">
                      <a16:colId xmlns:a16="http://schemas.microsoft.com/office/drawing/2014/main" val="436546114"/>
                    </a:ext>
                  </a:extLst>
                </a:gridCol>
                <a:gridCol w="827024">
                  <a:extLst>
                    <a:ext uri="{9D8B030D-6E8A-4147-A177-3AD203B41FA5}">
                      <a16:colId xmlns:a16="http://schemas.microsoft.com/office/drawing/2014/main" val="3832881417"/>
                    </a:ext>
                  </a:extLst>
                </a:gridCol>
              </a:tblGrid>
              <a:tr h="370840">
                <a:tc gridSpan="2">
                  <a:txBody>
                    <a:bodyPr/>
                    <a:lstStyle/>
                    <a:p>
                      <a:pPr algn="l"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Null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gridSpan="3">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H₀: The order of the data is random</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166395009"/>
                  </a:ext>
                </a:extLst>
              </a:tr>
              <a:tr h="370840">
                <a:tc gridSpan="2">
                  <a:txBody>
                    <a:bodyPr/>
                    <a:lstStyle/>
                    <a:p>
                      <a:pPr algn="l"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Alternative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gridSpan="3">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H₁: The order of the data is not random</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023337417"/>
                  </a:ext>
                </a:extLst>
              </a:tr>
              <a:tr h="370840">
                <a:tc gridSpan="3">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Number of Runs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07000"/>
                        </a:lnSpc>
                        <a:spcAft>
                          <a:spcPts val="800"/>
                        </a:spcAft>
                      </a:pPr>
                      <a:r>
                        <a:rPr lang="en-US" sz="11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4181542047"/>
                  </a:ext>
                </a:extLst>
              </a:tr>
              <a:tr h="370840">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Observed</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2">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Expected</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07000"/>
                        </a:lnSpc>
                        <a:spcAft>
                          <a:spcPts val="800"/>
                        </a:spcAft>
                      </a:pPr>
                      <a:r>
                        <a:rPr lang="en-US" sz="11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3993773805"/>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14</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2">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23.96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0.103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07000"/>
                        </a:lnSpc>
                        <a:spcAft>
                          <a:spcPts val="800"/>
                        </a:spcAft>
                      </a:pPr>
                      <a:r>
                        <a:rPr lang="en-US" sz="1100" dirty="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3951249391"/>
                  </a:ext>
                </a:extLst>
              </a:tr>
            </a:tbl>
          </a:graphicData>
        </a:graphic>
      </p:graphicFrame>
    </p:spTree>
    <p:extLst>
      <p:ext uri="{BB962C8B-B14F-4D97-AF65-F5344CB8AC3E}">
        <p14:creationId xmlns:p14="http://schemas.microsoft.com/office/powerpoint/2010/main" val="554845769"/>
      </p:ext>
    </p:extLst>
  </p:cSld>
  <p:clrMapOvr>
    <a:overrideClrMapping bg1="dk1" tx1="lt1" bg2="dk2" tx2="lt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09284D3-CA55-FFFC-D0F7-067E914CA39B}"/>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64028DC9-A809-7161-DC86-108DAB579D5D}"/>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FE2FB060-F71F-3533-55D6-E9E61A363DAA}"/>
              </a:ext>
            </a:extLst>
          </p:cNvPr>
          <p:cNvSpPr>
            <a:spLocks noGrp="1"/>
          </p:cNvSpPr>
          <p:nvPr>
            <p:ph type="title"/>
          </p:nvPr>
        </p:nvSpPr>
        <p:spPr>
          <a:xfrm>
            <a:off x="802640" y="0"/>
            <a:ext cx="10552747" cy="1048861"/>
          </a:xfrm>
        </p:spPr>
        <p:txBody>
          <a:bodyPr/>
          <a:lstStyle/>
          <a:p>
            <a:r>
              <a:rPr lang="ar-SA" dirty="0"/>
              <a:t>التنبؤ</a:t>
            </a:r>
          </a:p>
        </p:txBody>
      </p:sp>
      <p:sp>
        <p:nvSpPr>
          <p:cNvPr id="10" name="عنصر نائب للنص 9">
            <a:extLst>
              <a:ext uri="{FF2B5EF4-FFF2-40B4-BE49-F238E27FC236}">
                <a16:creationId xmlns:a16="http://schemas.microsoft.com/office/drawing/2014/main" id="{69E0C6D1-1406-2558-F2C4-4129BCB8E817}"/>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graphicFrame>
        <p:nvGraphicFramePr>
          <p:cNvPr id="2" name="جدول 1">
            <a:extLst>
              <a:ext uri="{FF2B5EF4-FFF2-40B4-BE49-F238E27FC236}">
                <a16:creationId xmlns:a16="http://schemas.microsoft.com/office/drawing/2014/main" id="{1DDF2781-1B29-B80E-C06F-3094E5A81F87}"/>
              </a:ext>
            </a:extLst>
          </p:cNvPr>
          <p:cNvGraphicFramePr>
            <a:graphicFrameLocks noGrp="1"/>
          </p:cNvGraphicFramePr>
          <p:nvPr>
            <p:extLst>
              <p:ext uri="{D42A27DB-BD31-4B8C-83A1-F6EECF244321}">
                <p14:modId xmlns:p14="http://schemas.microsoft.com/office/powerpoint/2010/main" val="743211172"/>
              </p:ext>
            </p:extLst>
          </p:nvPr>
        </p:nvGraphicFramePr>
        <p:xfrm>
          <a:off x="558798" y="2640295"/>
          <a:ext cx="5171442" cy="1854200"/>
        </p:xfrm>
        <a:graphic>
          <a:graphicData uri="http://schemas.openxmlformats.org/drawingml/2006/table">
            <a:tbl>
              <a:tblPr firstRow="1" bandRow="1">
                <a:tableStyleId>{5C22544A-7EE6-4342-B048-85BDC9FD1C3A}</a:tableStyleId>
              </a:tblPr>
              <a:tblGrid>
                <a:gridCol w="861907">
                  <a:extLst>
                    <a:ext uri="{9D8B030D-6E8A-4147-A177-3AD203B41FA5}">
                      <a16:colId xmlns:a16="http://schemas.microsoft.com/office/drawing/2014/main" val="2563379565"/>
                    </a:ext>
                  </a:extLst>
                </a:gridCol>
                <a:gridCol w="861907">
                  <a:extLst>
                    <a:ext uri="{9D8B030D-6E8A-4147-A177-3AD203B41FA5}">
                      <a16:colId xmlns:a16="http://schemas.microsoft.com/office/drawing/2014/main" val="3366076156"/>
                    </a:ext>
                  </a:extLst>
                </a:gridCol>
                <a:gridCol w="861907">
                  <a:extLst>
                    <a:ext uri="{9D8B030D-6E8A-4147-A177-3AD203B41FA5}">
                      <a16:colId xmlns:a16="http://schemas.microsoft.com/office/drawing/2014/main" val="3891608453"/>
                    </a:ext>
                  </a:extLst>
                </a:gridCol>
                <a:gridCol w="861907">
                  <a:extLst>
                    <a:ext uri="{9D8B030D-6E8A-4147-A177-3AD203B41FA5}">
                      <a16:colId xmlns:a16="http://schemas.microsoft.com/office/drawing/2014/main" val="4019806475"/>
                    </a:ext>
                  </a:extLst>
                </a:gridCol>
                <a:gridCol w="861907">
                  <a:extLst>
                    <a:ext uri="{9D8B030D-6E8A-4147-A177-3AD203B41FA5}">
                      <a16:colId xmlns:a16="http://schemas.microsoft.com/office/drawing/2014/main" val="155779555"/>
                    </a:ext>
                  </a:extLst>
                </a:gridCol>
                <a:gridCol w="861907">
                  <a:extLst>
                    <a:ext uri="{9D8B030D-6E8A-4147-A177-3AD203B41FA5}">
                      <a16:colId xmlns:a16="http://schemas.microsoft.com/office/drawing/2014/main" val="3027327163"/>
                    </a:ext>
                  </a:extLst>
                </a:gridCol>
              </a:tblGrid>
              <a:tr h="370840">
                <a:tc>
                  <a:txBody>
                    <a:bodyPr/>
                    <a:lstStyle/>
                    <a:p>
                      <a:pPr algn="l" rtl="1">
                        <a:lnSpc>
                          <a:spcPct val="150000"/>
                        </a:lnSpc>
                        <a:spcAft>
                          <a:spcPts val="800"/>
                        </a:spcAft>
                      </a:pPr>
                      <a:r>
                        <a:rPr lang="en-US" sz="12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2">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95% Limits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a:txBody>
                    <a:bodyPr/>
                    <a:lstStyle/>
                    <a:p>
                      <a:pPr algn="l" rtl="1">
                        <a:lnSpc>
                          <a:spcPct val="150000"/>
                        </a:lnSpc>
                        <a:spcAft>
                          <a:spcPts val="800"/>
                        </a:spcAft>
                      </a:pPr>
                      <a:r>
                        <a:rPr lang="en-US" sz="12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419939766"/>
                  </a:ext>
                </a:extLst>
              </a:tr>
              <a:tr h="370840">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Time Period</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Forecast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SE Forecast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Lower</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Upper</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2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Actual</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875561570"/>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88.343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307.058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-513.613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690.298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7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3214733401"/>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49</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101.319</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319.060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-524.163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726.802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7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2122711943"/>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50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94.263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336.662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-565.727</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754.252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7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extLst>
                  <a:ext uri="{0D108BD9-81ED-4DB2-BD59-A6C34878D82A}">
                    <a16:rowId xmlns:a16="http://schemas.microsoft.com/office/drawing/2014/main" val="4093525090"/>
                  </a:ext>
                </a:extLst>
              </a:tr>
            </a:tbl>
          </a:graphicData>
        </a:graphic>
      </p:graphicFrame>
      <p:pic>
        <p:nvPicPr>
          <p:cNvPr id="3" name="صورة 2" descr="Time Series Plot for diff TOF">
            <a:extLst>
              <a:ext uri="{FF2B5EF4-FFF2-40B4-BE49-F238E27FC236}">
                <a16:creationId xmlns:a16="http://schemas.microsoft.com/office/drawing/2014/main" id="{EA1E8BBE-E8C0-B038-E993-31DD4CE18B4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16395" y="1973863"/>
            <a:ext cx="4773930" cy="3187065"/>
          </a:xfrm>
          <a:prstGeom prst="rect">
            <a:avLst/>
          </a:prstGeom>
          <a:noFill/>
          <a:ln>
            <a:noFill/>
          </a:ln>
        </p:spPr>
      </p:pic>
    </p:spTree>
    <p:extLst>
      <p:ext uri="{BB962C8B-B14F-4D97-AF65-F5344CB8AC3E}">
        <p14:creationId xmlns:p14="http://schemas.microsoft.com/office/powerpoint/2010/main" val="3995086842"/>
      </p:ext>
    </p:extLst>
  </p:cSld>
  <p:clrMapOvr>
    <a:overrideClrMapping bg1="dk1" tx1="lt1" bg2="dk2" tx2="lt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93ED08-A166-762D-1906-C0AB5F2801D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74D5376-C243-47BB-B8E6-B1E164BBA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65D5498C-E4CE-5AB9-7C74-2BC4EC16B4CF}"/>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CF7845E5-26FE-0A58-3A50-53930BBCD0EF}"/>
              </a:ext>
            </a:extLst>
          </p:cNvPr>
          <p:cNvSpPr>
            <a:spLocks noGrp="1"/>
          </p:cNvSpPr>
          <p:nvPr>
            <p:ph type="ctrTitle"/>
          </p:nvPr>
        </p:nvSpPr>
        <p:spPr>
          <a:xfrm>
            <a:off x="5947410" y="4833113"/>
            <a:ext cx="6518910" cy="561848"/>
          </a:xfrm>
        </p:spPr>
        <p:txBody>
          <a:bodyPr anchor="b">
            <a:noAutofit/>
          </a:bodyPr>
          <a:lstStyle/>
          <a:p>
            <a:pPr algn="l"/>
            <a:r>
              <a:rPr lang="ar-SA" sz="3600" dirty="0"/>
              <a:t>تحليل السلسلة الزمنية للركاب المغادرين</a:t>
            </a:r>
          </a:p>
        </p:txBody>
      </p:sp>
      <p:pic>
        <p:nvPicPr>
          <p:cNvPr id="5" name="صورة 4">
            <a:extLst>
              <a:ext uri="{FF2B5EF4-FFF2-40B4-BE49-F238E27FC236}">
                <a16:creationId xmlns:a16="http://schemas.microsoft.com/office/drawing/2014/main" id="{8E5C11B6-0FF8-DA97-1F86-7F1269159BFD}"/>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13912621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87AD842-AE83-6AC4-B8A3-7EDDADD744AA}"/>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8E4B8020-19BD-AFCE-F7C5-E8E52B2FFFF4}"/>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331F7E44-C001-E256-FFBB-E761E65F28CF}"/>
              </a:ext>
            </a:extLst>
          </p:cNvPr>
          <p:cNvSpPr>
            <a:spLocks noGrp="1"/>
          </p:cNvSpPr>
          <p:nvPr>
            <p:ph type="title"/>
          </p:nvPr>
        </p:nvSpPr>
        <p:spPr>
          <a:xfrm>
            <a:off x="802640" y="0"/>
            <a:ext cx="10552747" cy="1048861"/>
          </a:xfrm>
        </p:spPr>
        <p:txBody>
          <a:bodyPr/>
          <a:lstStyle/>
          <a:p>
            <a:r>
              <a:rPr lang="ar-SA" dirty="0"/>
              <a:t>اختبار الاستقرار</a:t>
            </a:r>
          </a:p>
        </p:txBody>
      </p:sp>
      <p:sp>
        <p:nvSpPr>
          <p:cNvPr id="10" name="عنصر نائب للنص 9">
            <a:extLst>
              <a:ext uri="{FF2B5EF4-FFF2-40B4-BE49-F238E27FC236}">
                <a16:creationId xmlns:a16="http://schemas.microsoft.com/office/drawing/2014/main" id="{BBF5D904-791A-DA47-26AD-F230D4E54E35}"/>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t>نكرر جميع الخطوات بالسلاسل الزمنية السابقة</a:t>
            </a:r>
          </a:p>
        </p:txBody>
      </p:sp>
      <p:graphicFrame>
        <p:nvGraphicFramePr>
          <p:cNvPr id="2" name="جدول 1">
            <a:extLst>
              <a:ext uri="{FF2B5EF4-FFF2-40B4-BE49-F238E27FC236}">
                <a16:creationId xmlns:a16="http://schemas.microsoft.com/office/drawing/2014/main" id="{C4E40AA7-3767-D684-483F-01A61AC4AE74}"/>
              </a:ext>
            </a:extLst>
          </p:cNvPr>
          <p:cNvGraphicFramePr>
            <a:graphicFrameLocks noGrp="1"/>
          </p:cNvGraphicFramePr>
          <p:nvPr>
            <p:extLst>
              <p:ext uri="{D42A27DB-BD31-4B8C-83A1-F6EECF244321}">
                <p14:modId xmlns:p14="http://schemas.microsoft.com/office/powerpoint/2010/main" val="756868432"/>
              </p:ext>
            </p:extLst>
          </p:nvPr>
        </p:nvGraphicFramePr>
        <p:xfrm>
          <a:off x="1326607" y="2949555"/>
          <a:ext cx="4513550" cy="1855408"/>
        </p:xfrm>
        <a:graphic>
          <a:graphicData uri="http://schemas.openxmlformats.org/drawingml/2006/table">
            <a:tbl>
              <a:tblPr>
                <a:tableStyleId>{5C22544A-7EE6-4342-B048-85BDC9FD1C3A}</a:tableStyleId>
              </a:tblPr>
              <a:tblGrid>
                <a:gridCol w="869315">
                  <a:extLst>
                    <a:ext uri="{9D8B030D-6E8A-4147-A177-3AD203B41FA5}">
                      <a16:colId xmlns:a16="http://schemas.microsoft.com/office/drawing/2014/main" val="1753293585"/>
                    </a:ext>
                  </a:extLst>
                </a:gridCol>
                <a:gridCol w="787400">
                  <a:extLst>
                    <a:ext uri="{9D8B030D-6E8A-4147-A177-3AD203B41FA5}">
                      <a16:colId xmlns:a16="http://schemas.microsoft.com/office/drawing/2014/main" val="112407827"/>
                    </a:ext>
                  </a:extLst>
                </a:gridCol>
                <a:gridCol w="95855">
                  <a:extLst>
                    <a:ext uri="{9D8B030D-6E8A-4147-A177-3AD203B41FA5}">
                      <a16:colId xmlns:a16="http://schemas.microsoft.com/office/drawing/2014/main" val="1163431619"/>
                    </a:ext>
                  </a:extLst>
                </a:gridCol>
                <a:gridCol w="1656080">
                  <a:extLst>
                    <a:ext uri="{9D8B030D-6E8A-4147-A177-3AD203B41FA5}">
                      <a16:colId xmlns:a16="http://schemas.microsoft.com/office/drawing/2014/main" val="1511910651"/>
                    </a:ext>
                  </a:extLst>
                </a:gridCol>
                <a:gridCol w="1104900">
                  <a:extLst>
                    <a:ext uri="{9D8B030D-6E8A-4147-A177-3AD203B41FA5}">
                      <a16:colId xmlns:a16="http://schemas.microsoft.com/office/drawing/2014/main" val="3646121365"/>
                    </a:ext>
                  </a:extLst>
                </a:gridCol>
              </a:tblGrid>
              <a:tr h="262890">
                <a:tc gridSpan="3">
                  <a:txBody>
                    <a:bodyPr/>
                    <a:lstStyle/>
                    <a:p>
                      <a:pPr algn="l" rtl="1">
                        <a:lnSpc>
                          <a:spcPct val="150000"/>
                        </a:lnSpc>
                        <a:spcAft>
                          <a:spcPts val="800"/>
                        </a:spcAft>
                      </a:pPr>
                      <a:r>
                        <a:rPr lang="en-US" sz="1200">
                          <a:effectLst/>
                        </a:rPr>
                        <a:t>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effectLst/>
                        </a:rPr>
                        <a:t>Data are non-stationary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27191257"/>
                  </a:ext>
                </a:extLst>
              </a:tr>
              <a:tr h="262890">
                <a:tc gridSpan="3">
                  <a:txBody>
                    <a:bodyPr/>
                    <a:lstStyle/>
                    <a:p>
                      <a:pPr algn="l" rtl="1">
                        <a:lnSpc>
                          <a:spcPct val="150000"/>
                        </a:lnSpc>
                        <a:spcAft>
                          <a:spcPts val="800"/>
                        </a:spcAft>
                      </a:pPr>
                      <a:r>
                        <a:rPr lang="en-US" sz="1200">
                          <a:effectLst/>
                        </a:rPr>
                        <a:t>Alternative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effectLst/>
                        </a:rPr>
                        <a:t>Data are 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13772866"/>
                  </a:ext>
                </a:extLst>
              </a:tr>
              <a:tr h="154305">
                <a:tc>
                  <a:txBody>
                    <a:bodyPr/>
                    <a:lstStyle/>
                    <a:p>
                      <a:pPr algn="l" rtl="1">
                        <a:lnSpc>
                          <a:spcPct val="150000"/>
                        </a:lnSpc>
                        <a:spcAft>
                          <a:spcPts val="800"/>
                        </a:spcAft>
                      </a:pPr>
                      <a:r>
                        <a:rPr lang="en-US" sz="750">
                          <a:effectLst/>
                        </a:rPr>
                        <a:t>Test</a:t>
                      </a:r>
                      <a:br>
                        <a:rPr lang="en-US" sz="750">
                          <a:effectLst/>
                        </a:rPr>
                      </a:br>
                      <a:r>
                        <a:rPr lang="en-US" sz="750">
                          <a:effectLst/>
                        </a:rPr>
                        <a:t>Statistic</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750">
                          <a:effectLst/>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3">
                  <a:txBody>
                    <a:bodyPr/>
                    <a:lstStyle/>
                    <a:p>
                      <a:pPr algn="l" rtl="1">
                        <a:lnSpc>
                          <a:spcPct val="150000"/>
                        </a:lnSpc>
                        <a:spcAft>
                          <a:spcPts val="800"/>
                        </a:spcAft>
                      </a:pPr>
                      <a:r>
                        <a:rPr lang="en-US" sz="750">
                          <a:effectLst/>
                        </a:rPr>
                        <a:t>Recommendation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944526314"/>
                  </a:ext>
                </a:extLst>
              </a:tr>
              <a:tr h="262890">
                <a:tc>
                  <a:txBody>
                    <a:bodyPr/>
                    <a:lstStyle/>
                    <a:p>
                      <a:pPr algn="l" rtl="1">
                        <a:lnSpc>
                          <a:spcPct val="150000"/>
                        </a:lnSpc>
                        <a:spcAft>
                          <a:spcPts val="800"/>
                        </a:spcAft>
                      </a:pPr>
                      <a:r>
                        <a:rPr lang="en-US" sz="1100">
                          <a:effectLst/>
                        </a:rPr>
                        <a:t>-0.692817</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100">
                          <a:effectLst/>
                        </a:rPr>
                        <a:t>0.849</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3">
                  <a:txBody>
                    <a:bodyPr/>
                    <a:lstStyle/>
                    <a:p>
                      <a:pPr algn="l" rtl="1">
                        <a:lnSpc>
                          <a:spcPct val="150000"/>
                        </a:lnSpc>
                        <a:spcAft>
                          <a:spcPts val="800"/>
                        </a:spcAft>
                      </a:pPr>
                      <a:r>
                        <a:rPr lang="en-US" sz="1100">
                          <a:effectLst/>
                        </a:rPr>
                        <a:t>Test statistic &gt; critical value of -2.94126.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795628927"/>
                  </a:ext>
                </a:extLst>
              </a:tr>
              <a:tr h="130810">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100">
                          <a:effectLst/>
                        </a:rPr>
                        <a:t>Significance level = 0.05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641499077"/>
                  </a:ext>
                </a:extLst>
              </a:tr>
              <a:tr h="130810">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100">
                          <a:effectLst/>
                        </a:rPr>
                        <a:t>Fail to reject 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874706229"/>
                  </a:ext>
                </a:extLst>
              </a:tr>
              <a:tr h="262890">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100" dirty="0">
                          <a:effectLst/>
                        </a:rPr>
                        <a:t>Consider differencing to make data stationary.</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59058594"/>
                  </a:ext>
                </a:extLst>
              </a:tr>
            </a:tbl>
          </a:graphicData>
        </a:graphic>
      </p:graphicFrame>
      <p:sp>
        <p:nvSpPr>
          <p:cNvPr id="5" name="مربع نص 4">
            <a:extLst>
              <a:ext uri="{FF2B5EF4-FFF2-40B4-BE49-F238E27FC236}">
                <a16:creationId xmlns:a16="http://schemas.microsoft.com/office/drawing/2014/main" id="{2F0691C8-F03F-6E5E-73BD-7094BE485053}"/>
              </a:ext>
            </a:extLst>
          </p:cNvPr>
          <p:cNvSpPr txBox="1"/>
          <p:nvPr/>
        </p:nvSpPr>
        <p:spPr>
          <a:xfrm>
            <a:off x="1245870" y="2375138"/>
            <a:ext cx="3265170"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Augmented Dickey-Fuller Test</a:t>
            </a:r>
            <a:endParaRPr lang="en-US" sz="24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pic>
        <p:nvPicPr>
          <p:cNvPr id="6" name="صورة 5" descr="Time Series Plot of total of passengers">
            <a:extLst>
              <a:ext uri="{FF2B5EF4-FFF2-40B4-BE49-F238E27FC236}">
                <a16:creationId xmlns:a16="http://schemas.microsoft.com/office/drawing/2014/main" id="{B153179F-F40C-EF98-B940-D74103BF6AA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06947" y="2563381"/>
            <a:ext cx="3853374" cy="2573020"/>
          </a:xfrm>
          <a:prstGeom prst="rect">
            <a:avLst/>
          </a:prstGeom>
          <a:noFill/>
          <a:ln>
            <a:noFill/>
          </a:ln>
        </p:spPr>
      </p:pic>
    </p:spTree>
    <p:extLst>
      <p:ext uri="{BB962C8B-B14F-4D97-AF65-F5344CB8AC3E}">
        <p14:creationId xmlns:p14="http://schemas.microsoft.com/office/powerpoint/2010/main" val="2946908655"/>
      </p:ext>
    </p:extLst>
  </p:cSld>
  <p:clrMapOvr>
    <a:overrideClrMapping bg1="dk1" tx1="lt1" bg2="dk2" tx2="lt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78380D0-0AF5-0D58-9AE6-D9CCDB1772BB}"/>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A48CE508-C863-E631-05D0-4884EC3512C7}"/>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6062CDFB-57D3-15AB-F8C2-19E5312571E1}"/>
              </a:ext>
            </a:extLst>
          </p:cNvPr>
          <p:cNvSpPr>
            <a:spLocks noGrp="1"/>
          </p:cNvSpPr>
          <p:nvPr>
            <p:ph type="title"/>
          </p:nvPr>
        </p:nvSpPr>
        <p:spPr>
          <a:xfrm>
            <a:off x="802640" y="0"/>
            <a:ext cx="10552747" cy="1048861"/>
          </a:xfrm>
        </p:spPr>
        <p:txBody>
          <a:bodyPr/>
          <a:lstStyle/>
          <a:p>
            <a:r>
              <a:rPr lang="ar-SA" dirty="0"/>
              <a:t>اختبار الاستقرار</a:t>
            </a:r>
          </a:p>
        </p:txBody>
      </p:sp>
      <p:sp>
        <p:nvSpPr>
          <p:cNvPr id="10" name="عنصر نائب للنص 9">
            <a:extLst>
              <a:ext uri="{FF2B5EF4-FFF2-40B4-BE49-F238E27FC236}">
                <a16:creationId xmlns:a16="http://schemas.microsoft.com/office/drawing/2014/main" id="{FC292181-46E0-6AEA-C299-B89CF9FE54A4}"/>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t>بعد حساب الفروقات, النتائج أصبحت كالتالي:</a:t>
            </a:r>
          </a:p>
        </p:txBody>
      </p:sp>
      <p:graphicFrame>
        <p:nvGraphicFramePr>
          <p:cNvPr id="2" name="جدول 1">
            <a:extLst>
              <a:ext uri="{FF2B5EF4-FFF2-40B4-BE49-F238E27FC236}">
                <a16:creationId xmlns:a16="http://schemas.microsoft.com/office/drawing/2014/main" id="{DCD7BE0A-1411-6C57-5F9D-063E646C75C4}"/>
              </a:ext>
            </a:extLst>
          </p:cNvPr>
          <p:cNvGraphicFramePr>
            <a:graphicFrameLocks noGrp="1"/>
          </p:cNvGraphicFramePr>
          <p:nvPr>
            <p:extLst>
              <p:ext uri="{D42A27DB-BD31-4B8C-83A1-F6EECF244321}">
                <p14:modId xmlns:p14="http://schemas.microsoft.com/office/powerpoint/2010/main" val="1278690327"/>
              </p:ext>
            </p:extLst>
          </p:nvPr>
        </p:nvGraphicFramePr>
        <p:xfrm>
          <a:off x="1258183" y="2040095"/>
          <a:ext cx="5669271" cy="2261832"/>
        </p:xfrm>
        <a:graphic>
          <a:graphicData uri="http://schemas.openxmlformats.org/drawingml/2006/table">
            <a:tbl>
              <a:tblPr>
                <a:tableStyleId>{5C22544A-7EE6-4342-B048-85BDC9FD1C3A}</a:tableStyleId>
              </a:tblPr>
              <a:tblGrid>
                <a:gridCol w="885963">
                  <a:extLst>
                    <a:ext uri="{9D8B030D-6E8A-4147-A177-3AD203B41FA5}">
                      <a16:colId xmlns:a16="http://schemas.microsoft.com/office/drawing/2014/main" val="441889224"/>
                    </a:ext>
                  </a:extLst>
                </a:gridCol>
                <a:gridCol w="871467">
                  <a:extLst>
                    <a:ext uri="{9D8B030D-6E8A-4147-A177-3AD203B41FA5}">
                      <a16:colId xmlns:a16="http://schemas.microsoft.com/office/drawing/2014/main" val="4078557769"/>
                    </a:ext>
                  </a:extLst>
                </a:gridCol>
                <a:gridCol w="110052">
                  <a:extLst>
                    <a:ext uri="{9D8B030D-6E8A-4147-A177-3AD203B41FA5}">
                      <a16:colId xmlns:a16="http://schemas.microsoft.com/office/drawing/2014/main" val="509763461"/>
                    </a:ext>
                  </a:extLst>
                </a:gridCol>
                <a:gridCol w="1832978">
                  <a:extLst>
                    <a:ext uri="{9D8B030D-6E8A-4147-A177-3AD203B41FA5}">
                      <a16:colId xmlns:a16="http://schemas.microsoft.com/office/drawing/2014/main" val="2845556491"/>
                    </a:ext>
                  </a:extLst>
                </a:gridCol>
                <a:gridCol w="1968811">
                  <a:extLst>
                    <a:ext uri="{9D8B030D-6E8A-4147-A177-3AD203B41FA5}">
                      <a16:colId xmlns:a16="http://schemas.microsoft.com/office/drawing/2014/main" val="3674725001"/>
                    </a:ext>
                  </a:extLst>
                </a:gridCol>
              </a:tblGrid>
              <a:tr h="387062">
                <a:tc gridSpan="3">
                  <a:txBody>
                    <a:bodyPr/>
                    <a:lstStyle/>
                    <a:p>
                      <a:pPr algn="l" rtl="1">
                        <a:lnSpc>
                          <a:spcPct val="150000"/>
                        </a:lnSpc>
                        <a:spcAft>
                          <a:spcPts val="800"/>
                        </a:spcAft>
                      </a:pPr>
                      <a:r>
                        <a:rPr lang="en-US" sz="1200">
                          <a:effectLst/>
                        </a:rPr>
                        <a:t>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effectLst/>
                        </a:rPr>
                        <a:t>Data are non-stationary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863864600"/>
                  </a:ext>
                </a:extLst>
              </a:tr>
              <a:tr h="387062">
                <a:tc gridSpan="3">
                  <a:txBody>
                    <a:bodyPr/>
                    <a:lstStyle/>
                    <a:p>
                      <a:pPr algn="l" rtl="1">
                        <a:lnSpc>
                          <a:spcPct val="150000"/>
                        </a:lnSpc>
                        <a:spcAft>
                          <a:spcPts val="800"/>
                        </a:spcAft>
                      </a:pPr>
                      <a:r>
                        <a:rPr lang="en-US" sz="1200">
                          <a:effectLst/>
                        </a:rPr>
                        <a:t>Alternative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1">
                        <a:lnSpc>
                          <a:spcPct val="150000"/>
                        </a:lnSpc>
                        <a:spcAft>
                          <a:spcPts val="800"/>
                        </a:spcAft>
                      </a:pPr>
                      <a:r>
                        <a:rPr lang="en-US" sz="1200">
                          <a:effectLst/>
                        </a:rPr>
                        <a:t>Data are stationary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15410228"/>
                  </a:ext>
                </a:extLst>
              </a:tr>
              <a:tr h="283444">
                <a:tc>
                  <a:txBody>
                    <a:bodyPr/>
                    <a:lstStyle/>
                    <a:p>
                      <a:pPr algn="l" rtl="1">
                        <a:lnSpc>
                          <a:spcPct val="150000"/>
                        </a:lnSpc>
                        <a:spcAft>
                          <a:spcPts val="800"/>
                        </a:spcAft>
                      </a:pPr>
                      <a:r>
                        <a:rPr lang="en-US" sz="750">
                          <a:effectLst/>
                        </a:rPr>
                        <a:t>Test</a:t>
                      </a:r>
                      <a:br>
                        <a:rPr lang="en-US" sz="750">
                          <a:effectLst/>
                        </a:rPr>
                      </a:br>
                      <a:r>
                        <a:rPr lang="en-US" sz="750">
                          <a:effectLst/>
                        </a:rPr>
                        <a:t>Statistic</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750">
                          <a:effectLst/>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3">
                  <a:txBody>
                    <a:bodyPr/>
                    <a:lstStyle/>
                    <a:p>
                      <a:pPr algn="l" rtl="1">
                        <a:lnSpc>
                          <a:spcPct val="150000"/>
                        </a:lnSpc>
                        <a:spcAft>
                          <a:spcPts val="800"/>
                        </a:spcAft>
                      </a:pPr>
                      <a:r>
                        <a:rPr lang="en-US" sz="750">
                          <a:effectLst/>
                        </a:rPr>
                        <a:t>Recommendation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43558849"/>
                  </a:ext>
                </a:extLst>
              </a:tr>
              <a:tr h="216799">
                <a:tc>
                  <a:txBody>
                    <a:bodyPr/>
                    <a:lstStyle/>
                    <a:p>
                      <a:pPr algn="l" rtl="1">
                        <a:lnSpc>
                          <a:spcPct val="150000"/>
                        </a:lnSpc>
                        <a:spcAft>
                          <a:spcPts val="800"/>
                        </a:spcAft>
                      </a:pPr>
                      <a:r>
                        <a:rPr lang="en-US" sz="1200">
                          <a:effectLst/>
                        </a:rPr>
                        <a:t>-3.42737</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effectLst/>
                        </a:rPr>
                        <a:t>0.010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3">
                  <a:txBody>
                    <a:bodyPr/>
                    <a:lstStyle/>
                    <a:p>
                      <a:pPr algn="l" rtl="1">
                        <a:lnSpc>
                          <a:spcPct val="150000"/>
                        </a:lnSpc>
                        <a:spcAft>
                          <a:spcPts val="800"/>
                        </a:spcAft>
                      </a:pPr>
                      <a:r>
                        <a:rPr lang="en-US" sz="1200" dirty="0">
                          <a:effectLst/>
                        </a:rPr>
                        <a:t>Test statistic &lt;= critical value of -2.94126.</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414516513"/>
                  </a:ext>
                </a:extLst>
              </a:tr>
              <a:tr h="216799">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200">
                          <a:effectLst/>
                        </a:rPr>
                        <a:t>Significance level = 0.05</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966640215"/>
                  </a:ext>
                </a:extLst>
              </a:tr>
              <a:tr h="216799">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200">
                          <a:effectLst/>
                        </a:rPr>
                        <a:t>Reject null hypothesis.</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578995922"/>
                  </a:ext>
                </a:extLst>
              </a:tr>
              <a:tr h="387062">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a:txBody>
                    <a:bodyPr/>
                    <a:lstStyle/>
                    <a:p>
                      <a:pPr algn="l" rtl="1">
                        <a:lnSpc>
                          <a:spcPct val="150000"/>
                        </a:lnSpc>
                        <a:spcAft>
                          <a:spcPts val="800"/>
                        </a:spcAft>
                      </a:pPr>
                      <a:r>
                        <a:rPr lang="en-US" sz="1200">
                          <a:effectLst/>
                        </a:rPr>
                        <a:t> </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0" marB="0"/>
                </a:tc>
                <a:tc gridSpan="3">
                  <a:txBody>
                    <a:bodyPr/>
                    <a:lstStyle/>
                    <a:p>
                      <a:pPr algn="l" rtl="1">
                        <a:lnSpc>
                          <a:spcPct val="150000"/>
                        </a:lnSpc>
                        <a:spcAft>
                          <a:spcPts val="800"/>
                        </a:spcAft>
                      </a:pPr>
                      <a:r>
                        <a:rPr lang="en-US" sz="1200" dirty="0">
                          <a:effectLst/>
                        </a:rPr>
                        <a:t>Data appears to be stationary, not supporting differencing.</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109608159"/>
                  </a:ext>
                </a:extLst>
              </a:tr>
            </a:tbl>
          </a:graphicData>
        </a:graphic>
      </p:graphicFrame>
      <p:sp>
        <p:nvSpPr>
          <p:cNvPr id="5" name="مربع نص 4">
            <a:extLst>
              <a:ext uri="{FF2B5EF4-FFF2-40B4-BE49-F238E27FC236}">
                <a16:creationId xmlns:a16="http://schemas.microsoft.com/office/drawing/2014/main" id="{9D7856E8-C41F-4A4E-7B89-710DE6DBEF11}"/>
              </a:ext>
            </a:extLst>
          </p:cNvPr>
          <p:cNvSpPr txBox="1"/>
          <p:nvPr/>
        </p:nvSpPr>
        <p:spPr>
          <a:xfrm>
            <a:off x="1229360" y="1574390"/>
            <a:ext cx="3208906" cy="465705"/>
          </a:xfrm>
          <a:prstGeom prst="rect">
            <a:avLst/>
          </a:prstGeom>
          <a:noFill/>
        </p:spPr>
        <p:txBody>
          <a:bodyPr wrap="square">
            <a:spAutoFit/>
          </a:bodyPr>
          <a:lstStyle/>
          <a:p>
            <a:pPr algn="l"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Augmented Dickey-Fuller Test</a:t>
            </a:r>
            <a:endParaRPr lang="en-US" sz="24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pic>
        <p:nvPicPr>
          <p:cNvPr id="6" name="صورة 5" descr="Time Series Plot of LOG">
            <a:extLst>
              <a:ext uri="{FF2B5EF4-FFF2-40B4-BE49-F238E27FC236}">
                <a16:creationId xmlns:a16="http://schemas.microsoft.com/office/drawing/2014/main" id="{AB9F61D3-0429-99C8-A9A4-CD6C1704A40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06993" y="2040095"/>
            <a:ext cx="3468856" cy="2316265"/>
          </a:xfrm>
          <a:prstGeom prst="rect">
            <a:avLst/>
          </a:prstGeom>
          <a:noFill/>
          <a:ln>
            <a:noFill/>
          </a:ln>
        </p:spPr>
      </p:pic>
      <p:sp>
        <p:nvSpPr>
          <p:cNvPr id="8" name="مربع نص 7">
            <a:extLst>
              <a:ext uri="{FF2B5EF4-FFF2-40B4-BE49-F238E27FC236}">
                <a16:creationId xmlns:a16="http://schemas.microsoft.com/office/drawing/2014/main" id="{28998CFE-8DAE-9558-B12D-31403000BD40}"/>
              </a:ext>
            </a:extLst>
          </p:cNvPr>
          <p:cNvSpPr txBox="1"/>
          <p:nvPr/>
        </p:nvSpPr>
        <p:spPr>
          <a:xfrm>
            <a:off x="1258183" y="4734560"/>
            <a:ext cx="10097204" cy="646331"/>
          </a:xfrm>
          <a:prstGeom prst="rect">
            <a:avLst/>
          </a:prstGeom>
          <a:noFill/>
        </p:spPr>
        <p:txBody>
          <a:bodyPr wrap="square" rtlCol="1">
            <a:spAutoFit/>
          </a:bodyPr>
          <a:lstStyle/>
          <a:p>
            <a:r>
              <a:rPr lang="ar-SA" dirty="0"/>
              <a:t>بالرغم ان البيانات مستقرة الا ان الشكل يوضح موجه متزايدة, في هذه الحالة يمكننا عمل تحليل الاتجاه </a:t>
            </a:r>
            <a:r>
              <a:rPr lang="en-US" dirty="0"/>
              <a:t>Trend Analysis</a:t>
            </a:r>
            <a:r>
              <a:rPr lang="ar-SA" dirty="0"/>
              <a:t> والتي يمكن من خلاله تحليل البيانات ذات الموجات المتزايدة.</a:t>
            </a:r>
          </a:p>
        </p:txBody>
      </p:sp>
    </p:spTree>
    <p:extLst>
      <p:ext uri="{BB962C8B-B14F-4D97-AF65-F5344CB8AC3E}">
        <p14:creationId xmlns:p14="http://schemas.microsoft.com/office/powerpoint/2010/main" val="427123529"/>
      </p:ext>
    </p:extLst>
  </p:cSld>
  <p:clrMapOvr>
    <a:overrideClrMapping bg1="dk1" tx1="lt1" bg2="dk2" tx2="lt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B13B0A1-FAAE-9FE0-0D9E-61FFFB2B5143}"/>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7C6E30CB-B40A-BA77-72FD-E87518CB11C2}"/>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AE22E722-F4E4-DF81-8D14-43586AD65273}"/>
              </a:ext>
            </a:extLst>
          </p:cNvPr>
          <p:cNvSpPr>
            <a:spLocks noGrp="1"/>
          </p:cNvSpPr>
          <p:nvPr>
            <p:ph type="title"/>
          </p:nvPr>
        </p:nvSpPr>
        <p:spPr>
          <a:xfrm>
            <a:off x="802640" y="0"/>
            <a:ext cx="10552747" cy="1048861"/>
          </a:xfrm>
        </p:spPr>
        <p:txBody>
          <a:bodyPr/>
          <a:lstStyle/>
          <a:p>
            <a:r>
              <a:rPr lang="ar-SA" dirty="0"/>
              <a:t>تحليل </a:t>
            </a:r>
            <a:r>
              <a:rPr lang="en-US" dirty="0"/>
              <a:t>Trend Analysis</a:t>
            </a:r>
            <a:endParaRPr lang="ar-SA" dirty="0"/>
          </a:p>
        </p:txBody>
      </p:sp>
      <mc:AlternateContent xmlns:mc="http://schemas.openxmlformats.org/markup-compatibility/2006">
        <mc:Choice xmlns:a14="http://schemas.microsoft.com/office/drawing/2010/main" Requires="a14">
          <p:sp>
            <p:nvSpPr>
              <p:cNvPr id="10" name="عنصر نائب للنص 9">
                <a:extLst>
                  <a:ext uri="{FF2B5EF4-FFF2-40B4-BE49-F238E27FC236}">
                    <a16:creationId xmlns:a16="http://schemas.microsoft.com/office/drawing/2014/main" id="{56B5060F-1290-1552-5B02-9E4D0C771AA7}"/>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الحد الثابت  </a:t>
                </a:r>
                <a:r>
                  <a:rPr lang="en-US" sz="1800" dirty="0">
                    <a:effectLst/>
                    <a:latin typeface="Times New Roman" panose="02020603050405020304" pitchFamily="18" charset="0"/>
                    <a:ea typeface="Aptos" panose="020B0004020202020204" pitchFamily="34" charset="0"/>
                    <a:cs typeface="Arial" panose="020B0604020202020204" pitchFamily="34" charset="0"/>
                  </a:rPr>
                  <a:t>5.7491)</a:t>
                </a: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r>
                  <a:rPr lang="ar-SA" sz="1800" dirty="0"/>
                  <a:t>يشير الى قيمة </a:t>
                </a:r>
                <a:r>
                  <a:rPr lang="en-US" sz="1800" dirty="0"/>
                  <a:t>y</a:t>
                </a:r>
                <a:r>
                  <a:rPr lang="ar-SA" sz="1800" dirty="0"/>
                  <a:t> عندما يكون </a:t>
                </a:r>
                <a:r>
                  <a:rPr lang="en-US" sz="1800" dirty="0"/>
                  <a:t>t=0</a:t>
                </a:r>
                <a:r>
                  <a:rPr lang="ar-SA" sz="1800" dirty="0"/>
                  <a:t> أي قبل حدوث أي تأثير على الاتجاه.</a:t>
                </a:r>
              </a:p>
              <a:p>
                <a:pPr marL="285750" indent="-285750">
                  <a:buFont typeface="Arial" panose="020B0604020202020204" pitchFamily="34" charset="0"/>
                  <a:buChar char="•"/>
                </a:pPr>
                <a:r>
                  <a:rPr lang="ar-SA" sz="1800" dirty="0">
                    <a:effectLst/>
                    <a:latin typeface="Aptos" panose="020B0004020202020204" pitchFamily="34" charset="0"/>
                    <a:ea typeface="Times New Roman" panose="02020603050405020304" pitchFamily="18" charset="0"/>
                    <a:cs typeface="Times New Roman" panose="02020603050405020304" pitchFamily="18" charset="0"/>
                  </a:rPr>
                  <a:t>الحد الخطي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03893</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m:t>
                    </m:r>
                  </m:oMath>
                </a14:m>
                <a:r>
                  <a:rPr lang="ar-SA" sz="1800" dirty="0">
                    <a:effectLst/>
                    <a:latin typeface="Aptos" panose="020B0004020202020204" pitchFamily="34" charset="0"/>
                    <a:ea typeface="Times New Roman" panose="02020603050405020304" pitchFamily="18"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r>
                  <a:rPr lang="ar-SA" sz="1800" dirty="0"/>
                  <a:t>يشير الى التغير الخطي بالسلسلة الزمنية, وبما أن القيمة موجبة فهذا يعني أن التغير يكون تصاعدي طفيف.</a:t>
                </a:r>
              </a:p>
              <a:p>
                <a:pPr marL="285750" indent="-285750">
                  <a:buFont typeface="Arial" panose="020B0604020202020204" pitchFamily="34" charset="0"/>
                  <a:buChar char="•"/>
                </a:pPr>
                <a:r>
                  <a:rPr lang="ar-SA" sz="1800" dirty="0">
                    <a:effectLst/>
                    <a:latin typeface="Aptos" panose="020B0004020202020204" pitchFamily="34" charset="0"/>
                    <a:ea typeface="Times New Roman" panose="02020603050405020304" pitchFamily="18" charset="0"/>
                    <a:cs typeface="Times New Roman" panose="02020603050405020304" pitchFamily="18" charset="0"/>
                  </a:rPr>
                  <a:t>الحد التربيعي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000419</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ar-SA" sz="1800" dirty="0">
                    <a:effectLst/>
                    <a:latin typeface="Aptos" panose="020B0004020202020204" pitchFamily="34" charset="0"/>
                    <a:ea typeface="Times New Roman" panose="02020603050405020304" pitchFamily="18"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r>
                  <a:rPr lang="ar-SA" sz="1800" dirty="0"/>
                  <a:t>يشير الى التغير التربيعي للسلسلة الزمنية, وبما ان القيمة سالبة فهذا يعني ان السلسلة سوف تصل لقمتها ثم تبدأ بالنزول مع مرور الوقت.</a:t>
                </a:r>
              </a:p>
              <a:p>
                <a:endParaRPr lang="ar-SA" sz="1800" dirty="0"/>
              </a:p>
              <a:p>
                <a:pPr marL="285750" indent="-285750">
                  <a:buFont typeface="Arial" panose="020B0604020202020204" pitchFamily="34" charset="0"/>
                  <a:buChar char="•"/>
                </a:pPr>
                <a:r>
                  <a:rPr lang="ar-SA" sz="1800" dirty="0"/>
                  <a:t>بما أن جميع القيم تحت الواحد فهذا يشير الى ان النموذج مناسب.</a:t>
                </a:r>
              </a:p>
              <a:p>
                <a:endParaRPr lang="ar-SA" sz="1800" dirty="0"/>
              </a:p>
              <a:p>
                <a:endParaRPr lang="ar-SA" sz="1800" dirty="0"/>
              </a:p>
            </p:txBody>
          </p:sp>
        </mc:Choice>
        <mc:Fallback>
          <p:sp>
            <p:nvSpPr>
              <p:cNvPr id="10" name="عنصر نائب للنص 9">
                <a:extLst>
                  <a:ext uri="{FF2B5EF4-FFF2-40B4-BE49-F238E27FC236}">
                    <a16:creationId xmlns:a16="http://schemas.microsoft.com/office/drawing/2014/main" id="{56B5060F-1290-1552-5B02-9E4D0C771AA7}"/>
                  </a:ext>
                </a:extLst>
              </p:cNvPr>
              <p:cNvSpPr>
                <a:spLocks noGrp="1" noRot="1" noChangeAspect="1" noMove="1" noResize="1" noEditPoints="1" noAdjustHandles="1" noChangeArrowheads="1" noChangeShapeType="1" noTextEdit="1"/>
              </p:cNvSpPr>
              <p:nvPr>
                <p:ph type="body" sz="half" idx="2"/>
              </p:nvPr>
            </p:nvSpPr>
            <p:spPr>
              <a:xfrm>
                <a:off x="7423150" y="1048861"/>
                <a:ext cx="3932237" cy="5602060"/>
              </a:xfrm>
              <a:blipFill>
                <a:blip r:embed="rId3"/>
                <a:stretch>
                  <a:fillRect l="-2326" t="-1197" r="-1240"/>
                </a:stretch>
              </a:blipFill>
            </p:spPr>
            <p:txBody>
              <a:bodyPr/>
              <a:lstStyle/>
              <a:p>
                <a:r>
                  <a:rPr lang="ar-SA">
                    <a:noFill/>
                  </a:rPr>
                  <a:t> </a:t>
                </a:r>
              </a:p>
            </p:txBody>
          </p:sp>
        </mc:Fallback>
      </mc:AlternateContent>
      <p:graphicFrame>
        <p:nvGraphicFramePr>
          <p:cNvPr id="5" name="جدول 4">
            <a:extLst>
              <a:ext uri="{FF2B5EF4-FFF2-40B4-BE49-F238E27FC236}">
                <a16:creationId xmlns:a16="http://schemas.microsoft.com/office/drawing/2014/main" id="{907119E2-2425-CEEC-C3E1-56305A139E93}"/>
              </a:ext>
            </a:extLst>
          </p:cNvPr>
          <p:cNvGraphicFramePr>
            <a:graphicFrameLocks noGrp="1"/>
          </p:cNvGraphicFramePr>
          <p:nvPr>
            <p:extLst>
              <p:ext uri="{D42A27DB-BD31-4B8C-83A1-F6EECF244321}">
                <p14:modId xmlns:p14="http://schemas.microsoft.com/office/powerpoint/2010/main" val="2721123802"/>
              </p:ext>
            </p:extLst>
          </p:nvPr>
        </p:nvGraphicFramePr>
        <p:xfrm>
          <a:off x="420371" y="1676083"/>
          <a:ext cx="4348480" cy="741680"/>
        </p:xfrm>
        <a:graphic>
          <a:graphicData uri="http://schemas.openxmlformats.org/drawingml/2006/table">
            <a:tbl>
              <a:tblPr firstRow="1" bandRow="1">
                <a:tableStyleId>{5C22544A-7EE6-4342-B048-85BDC9FD1C3A}</a:tableStyleId>
              </a:tblPr>
              <a:tblGrid>
                <a:gridCol w="4348480">
                  <a:extLst>
                    <a:ext uri="{9D8B030D-6E8A-4147-A177-3AD203B41FA5}">
                      <a16:colId xmlns:a16="http://schemas.microsoft.com/office/drawing/2014/main" val="3527373083"/>
                    </a:ext>
                  </a:extLst>
                </a:gridCol>
              </a:tblGrid>
              <a:tr h="370840">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mn-lt"/>
                          <a:ea typeface="+mn-ea"/>
                          <a:cs typeface="+mn-cs"/>
                        </a:rPr>
                        <a:t>Fitted Trend Equation</a:t>
                      </a:r>
                    </a:p>
                  </a:txBody>
                  <a:tcPr/>
                </a:tc>
                <a:extLst>
                  <a:ext uri="{0D108BD9-81ED-4DB2-BD59-A6C34878D82A}">
                    <a16:rowId xmlns:a16="http://schemas.microsoft.com/office/drawing/2014/main" val="117829189"/>
                  </a:ext>
                </a:extLst>
              </a:tr>
              <a:tr h="370840">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1800" kern="1200" dirty="0" err="1">
                          <a:solidFill>
                            <a:schemeClr val="dk1"/>
                          </a:solidFill>
                          <a:effectLst/>
                          <a:latin typeface="+mn-lt"/>
                          <a:ea typeface="+mn-ea"/>
                          <a:cs typeface="+mn-cs"/>
                        </a:rPr>
                        <a:t>Yt</a:t>
                      </a:r>
                      <a:r>
                        <a:rPr lang="en-US" sz="1800" kern="1200" dirty="0">
                          <a:solidFill>
                            <a:schemeClr val="dk1"/>
                          </a:solidFill>
                          <a:effectLst/>
                          <a:latin typeface="+mn-lt"/>
                          <a:ea typeface="+mn-ea"/>
                          <a:cs typeface="+mn-cs"/>
                        </a:rPr>
                        <a:t> = 5.7491 + 0.03893×t - 0.000419×t^2</a:t>
                      </a:r>
                    </a:p>
                  </a:txBody>
                  <a:tcPr/>
                </a:tc>
                <a:extLst>
                  <a:ext uri="{0D108BD9-81ED-4DB2-BD59-A6C34878D82A}">
                    <a16:rowId xmlns:a16="http://schemas.microsoft.com/office/drawing/2014/main" val="3800036222"/>
                  </a:ext>
                </a:extLst>
              </a:tr>
            </a:tbl>
          </a:graphicData>
        </a:graphic>
      </p:graphicFrame>
      <p:graphicFrame>
        <p:nvGraphicFramePr>
          <p:cNvPr id="6" name="جدول 5">
            <a:extLst>
              <a:ext uri="{FF2B5EF4-FFF2-40B4-BE49-F238E27FC236}">
                <a16:creationId xmlns:a16="http://schemas.microsoft.com/office/drawing/2014/main" id="{ABBAA070-FA48-D8D9-187E-B9C45C43EAA2}"/>
              </a:ext>
            </a:extLst>
          </p:cNvPr>
          <p:cNvGraphicFramePr>
            <a:graphicFrameLocks noGrp="1"/>
          </p:cNvGraphicFramePr>
          <p:nvPr>
            <p:extLst>
              <p:ext uri="{D42A27DB-BD31-4B8C-83A1-F6EECF244321}">
                <p14:modId xmlns:p14="http://schemas.microsoft.com/office/powerpoint/2010/main" val="2005523317"/>
              </p:ext>
            </p:extLst>
          </p:nvPr>
        </p:nvGraphicFramePr>
        <p:xfrm>
          <a:off x="420371" y="5142626"/>
          <a:ext cx="4348480" cy="1048860"/>
        </p:xfrm>
        <a:graphic>
          <a:graphicData uri="http://schemas.openxmlformats.org/drawingml/2006/table">
            <a:tbl>
              <a:tblPr bandRow="1">
                <a:tableStyleId>{5C22544A-7EE6-4342-B048-85BDC9FD1C3A}</a:tableStyleId>
              </a:tblPr>
              <a:tblGrid>
                <a:gridCol w="2174240">
                  <a:extLst>
                    <a:ext uri="{9D8B030D-6E8A-4147-A177-3AD203B41FA5}">
                      <a16:colId xmlns:a16="http://schemas.microsoft.com/office/drawing/2014/main" val="2496793028"/>
                    </a:ext>
                  </a:extLst>
                </a:gridCol>
                <a:gridCol w="2174240">
                  <a:extLst>
                    <a:ext uri="{9D8B030D-6E8A-4147-A177-3AD203B41FA5}">
                      <a16:colId xmlns:a16="http://schemas.microsoft.com/office/drawing/2014/main" val="2621167646"/>
                    </a:ext>
                  </a:extLst>
                </a:gridCol>
              </a:tblGrid>
              <a:tr h="349620">
                <a:tc>
                  <a:txBody>
                    <a:bodyPr/>
                    <a:lstStyle/>
                    <a:p>
                      <a:pPr algn="ctr"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MAPE</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ctr"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0.740524</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2101678142"/>
                  </a:ext>
                </a:extLst>
              </a:tr>
              <a:tr h="349620">
                <a:tc>
                  <a:txBody>
                    <a:bodyPr/>
                    <a:lstStyle/>
                    <a:p>
                      <a:pPr algn="ctr"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MAD</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ctr"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0.046952</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3053490329"/>
                  </a:ext>
                </a:extLst>
              </a:tr>
              <a:tr h="349620">
                <a:tc>
                  <a:txBody>
                    <a:bodyPr/>
                    <a:lstStyle/>
                    <a:p>
                      <a:pPr algn="ctr"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MSD</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ctr" rtl="1">
                        <a:lnSpc>
                          <a:spcPct val="150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0.003667</a:t>
                      </a:r>
                      <a:endParaRPr lang="en-US" sz="14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3232037612"/>
                  </a:ext>
                </a:extLst>
              </a:tr>
            </a:tbl>
          </a:graphicData>
        </a:graphic>
      </p:graphicFrame>
      <p:sp>
        <p:nvSpPr>
          <p:cNvPr id="9" name="مربع نص 8">
            <a:extLst>
              <a:ext uri="{FF2B5EF4-FFF2-40B4-BE49-F238E27FC236}">
                <a16:creationId xmlns:a16="http://schemas.microsoft.com/office/drawing/2014/main" id="{F78ABC86-6F16-220A-717C-0D01B71CB380}"/>
              </a:ext>
            </a:extLst>
          </p:cNvPr>
          <p:cNvSpPr txBox="1"/>
          <p:nvPr/>
        </p:nvSpPr>
        <p:spPr>
          <a:xfrm>
            <a:off x="1466532" y="4652551"/>
            <a:ext cx="2245043" cy="465705"/>
          </a:xfrm>
          <a:prstGeom prst="rect">
            <a:avLst/>
          </a:prstGeom>
          <a:noFill/>
        </p:spPr>
        <p:txBody>
          <a:bodyPr wrap="square">
            <a:spAutoFit/>
          </a:bodyPr>
          <a:lstStyle/>
          <a:p>
            <a:pPr algn="ctr" rtl="1">
              <a:lnSpc>
                <a:spcPct val="150000"/>
              </a:lnSpc>
              <a:spcAft>
                <a:spcPts val="480"/>
              </a:spcAft>
            </a:pPr>
            <a:r>
              <a:rPr lang="en-US" sz="1800" b="1" dirty="0">
                <a:solidFill>
                  <a:srgbClr val="056EB2"/>
                </a:solidFill>
                <a:effectLst/>
                <a:highlight>
                  <a:srgbClr val="FFFF00"/>
                </a:highlight>
                <a:latin typeface="Times New Roman" panose="02020603050405020304" pitchFamily="18" charset="0"/>
                <a:ea typeface="Times New Roman" panose="02020603050405020304" pitchFamily="18" charset="0"/>
                <a:cs typeface="Arial" panose="020B0604020202020204" pitchFamily="34" charset="0"/>
              </a:rPr>
              <a:t>Accuracy Measures</a:t>
            </a:r>
            <a:endParaRPr lang="en-US" sz="2400" dirty="0">
              <a:effectLst/>
              <a:highlight>
                <a:srgbClr val="FFFF00"/>
              </a:highligh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939048338"/>
      </p:ext>
    </p:extLst>
  </p:cSld>
  <p:clrMapOvr>
    <a:overrideClrMapping bg1="dk1" tx1="lt1" bg2="dk2" tx2="lt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284FFF8-A8B2-CCC2-AE4A-92F4ACB758AC}"/>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BAF8C412-BA81-1DA0-B99D-C55DDEA95634}"/>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271FE67D-0985-6287-8E4F-B127E398D48B}"/>
              </a:ext>
            </a:extLst>
          </p:cNvPr>
          <p:cNvSpPr>
            <a:spLocks noGrp="1"/>
          </p:cNvSpPr>
          <p:nvPr>
            <p:ph type="title"/>
          </p:nvPr>
        </p:nvSpPr>
        <p:spPr>
          <a:xfrm>
            <a:off x="802640" y="0"/>
            <a:ext cx="10552747" cy="1048861"/>
          </a:xfrm>
        </p:spPr>
        <p:txBody>
          <a:bodyPr/>
          <a:lstStyle/>
          <a:p>
            <a:r>
              <a:rPr lang="ar-SA" dirty="0"/>
              <a:t>تحليل بواقي النموذج</a:t>
            </a:r>
          </a:p>
        </p:txBody>
      </p:sp>
      <p:sp>
        <p:nvSpPr>
          <p:cNvPr id="10" name="عنصر نائب للنص 9">
            <a:extLst>
              <a:ext uri="{FF2B5EF4-FFF2-40B4-BE49-F238E27FC236}">
                <a16:creationId xmlns:a16="http://schemas.microsoft.com/office/drawing/2014/main" id="{C2490E0C-6C0D-A830-31EE-6BF1E52B75AF}"/>
              </a:ext>
            </a:extLst>
          </p:cNvPr>
          <p:cNvSpPr>
            <a:spLocks noGrp="1"/>
          </p:cNvSpPr>
          <p:nvPr>
            <p:ph type="body" sz="half" idx="2"/>
          </p:nvPr>
        </p:nvSpPr>
        <p:spPr>
          <a:xfrm>
            <a:off x="7457123" y="173974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.توزيع البواقي طبيعي:</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pic>
        <p:nvPicPr>
          <p:cNvPr id="2" name="صورة 1" descr="Probability Plot of RESI1">
            <a:extLst>
              <a:ext uri="{FF2B5EF4-FFF2-40B4-BE49-F238E27FC236}">
                <a16:creationId xmlns:a16="http://schemas.microsoft.com/office/drawing/2014/main" id="{4719B9C2-018B-39B4-30A5-D706C7AECEB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73900" y="2203291"/>
            <a:ext cx="4172904" cy="2786380"/>
          </a:xfrm>
          <a:prstGeom prst="rect">
            <a:avLst/>
          </a:prstGeom>
          <a:noFill/>
          <a:ln>
            <a:noFill/>
          </a:ln>
        </p:spPr>
      </p:pic>
      <p:pic>
        <p:nvPicPr>
          <p:cNvPr id="3" name="صورة 2" descr="Residuals vs Fits for LOG">
            <a:extLst>
              <a:ext uri="{FF2B5EF4-FFF2-40B4-BE49-F238E27FC236}">
                <a16:creationId xmlns:a16="http://schemas.microsoft.com/office/drawing/2014/main" id="{15EB4B04-55DC-7267-EE28-7EFD09A2C6C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45196" y="2167691"/>
            <a:ext cx="4172904" cy="2786380"/>
          </a:xfrm>
          <a:prstGeom prst="rect">
            <a:avLst/>
          </a:prstGeom>
          <a:noFill/>
          <a:ln>
            <a:noFill/>
          </a:ln>
        </p:spPr>
      </p:pic>
      <p:sp>
        <p:nvSpPr>
          <p:cNvPr id="5" name="مربع نص 4">
            <a:extLst>
              <a:ext uri="{FF2B5EF4-FFF2-40B4-BE49-F238E27FC236}">
                <a16:creationId xmlns:a16="http://schemas.microsoft.com/office/drawing/2014/main" id="{98B4D251-9EFA-8B2A-F584-91A395A3C329}"/>
              </a:ext>
            </a:extLst>
          </p:cNvPr>
          <p:cNvSpPr txBox="1"/>
          <p:nvPr/>
        </p:nvSpPr>
        <p:spPr>
          <a:xfrm>
            <a:off x="1267144" y="1798359"/>
            <a:ext cx="3932237" cy="369332"/>
          </a:xfrm>
          <a:prstGeom prst="rect">
            <a:avLst/>
          </a:prstGeom>
          <a:noFill/>
        </p:spPr>
        <p:txBody>
          <a:bodyPr wrap="square" rtlCol="1">
            <a:spAutoFit/>
          </a:bodyPr>
          <a:lstStyle/>
          <a:p>
            <a:pPr marL="285750" indent="-285750">
              <a:buFont typeface="Arial" panose="020B0604020202020204" pitchFamily="34" charset="0"/>
              <a:buChar char="•"/>
            </a:pPr>
            <a:r>
              <a:rPr lang="ar-SA" dirty="0"/>
              <a:t>تباين البواقي ثابت:</a:t>
            </a:r>
          </a:p>
        </p:txBody>
      </p:sp>
    </p:spTree>
    <p:extLst>
      <p:ext uri="{BB962C8B-B14F-4D97-AF65-F5344CB8AC3E}">
        <p14:creationId xmlns:p14="http://schemas.microsoft.com/office/powerpoint/2010/main" val="458086134"/>
      </p:ext>
    </p:extLst>
  </p:cSld>
  <p:clrMapOvr>
    <a:overrideClrMapping bg1="dk1" tx1="lt1" bg2="dk2" tx2="lt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F40F5EB-761F-F63D-B911-7A65A67C911C}"/>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4AC6874F-AB1F-3FDD-FB86-4A88E4A69781}"/>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250D32C8-9093-DCDD-D738-C57F5812D216}"/>
              </a:ext>
            </a:extLst>
          </p:cNvPr>
          <p:cNvSpPr>
            <a:spLocks noGrp="1"/>
          </p:cNvSpPr>
          <p:nvPr>
            <p:ph type="title"/>
          </p:nvPr>
        </p:nvSpPr>
        <p:spPr>
          <a:xfrm>
            <a:off x="802640" y="0"/>
            <a:ext cx="10552747" cy="1048861"/>
          </a:xfrm>
        </p:spPr>
        <p:txBody>
          <a:bodyPr/>
          <a:lstStyle/>
          <a:p>
            <a:r>
              <a:rPr lang="ar-SA" dirty="0"/>
              <a:t>تحليل بواقي النموذج</a:t>
            </a:r>
          </a:p>
        </p:txBody>
      </p:sp>
      <p:sp>
        <p:nvSpPr>
          <p:cNvPr id="10" name="عنصر نائب للنص 9">
            <a:extLst>
              <a:ext uri="{FF2B5EF4-FFF2-40B4-BE49-F238E27FC236}">
                <a16:creationId xmlns:a16="http://schemas.microsoft.com/office/drawing/2014/main" id="{A1D7B77E-32F7-4B2A-B077-3FDE50AF957E}"/>
              </a:ext>
            </a:extLst>
          </p:cNvPr>
          <p:cNvSpPr>
            <a:spLocks noGrp="1"/>
          </p:cNvSpPr>
          <p:nvPr>
            <p:ph type="body" sz="half" idx="2"/>
          </p:nvPr>
        </p:nvSpPr>
        <p:spPr>
          <a:xfrm>
            <a:off x="7291388" y="1048861"/>
            <a:ext cx="4064000"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t>متوسط بواقي النموذج يساوي صفر (اختبار </a:t>
            </a:r>
            <a:r>
              <a:rPr lang="en-US" sz="1800" dirty="0"/>
              <a:t>Z</a:t>
            </a:r>
            <a:r>
              <a:rPr lang="ar-SA" sz="1800" dirty="0"/>
              <a:t>):</a:t>
            </a:r>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r>
              <a:rPr lang="ar-SA" sz="1800" dirty="0">
                <a:effectLst/>
                <a:latin typeface="Aptos" panose="020B0004020202020204" pitchFamily="34" charset="0"/>
                <a:ea typeface="Times New Roman" panose="02020603050405020304" pitchFamily="18" charset="0"/>
                <a:cs typeface="Times New Roman" panose="02020603050405020304" pitchFamily="18" charset="0"/>
              </a:rPr>
              <a:t>كما نرى ان قيمة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p value</a:t>
            </a:r>
            <a:r>
              <a:rPr lang="en-US" sz="1800" i="1"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dirty="0">
                <a:effectLst/>
                <a:latin typeface="Aptos" panose="020B0004020202020204" pitchFamily="34" charset="0"/>
                <a:ea typeface="Times New Roman" panose="02020603050405020304" pitchFamily="18" charset="0"/>
                <a:cs typeface="Times New Roman" panose="02020603050405020304" pitchFamily="18" charset="0"/>
              </a:rPr>
              <a:t>أكبر من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0.05</a:t>
            </a:r>
            <a:r>
              <a:rPr lang="ar-SA" sz="1800" dirty="0">
                <a:effectLst/>
                <a:latin typeface="Aptos" panose="020B0004020202020204" pitchFamily="34" charset="0"/>
                <a:ea typeface="Times New Roman" panose="02020603050405020304" pitchFamily="18" charset="0"/>
                <a:cs typeface="Times New Roman" panose="02020603050405020304" pitchFamily="18" charset="0"/>
              </a:rPr>
              <a:t> لذا نقبل الفرضية الصفرية ويعني ان متوسط بواقي النموذج يساوي صفر.</a:t>
            </a:r>
            <a:endParaRPr lang="en-US" sz="1800" dirty="0">
              <a:effectLst/>
              <a:latin typeface="Aptos" panose="020B0004020202020204" pitchFamily="34" charset="0"/>
              <a:ea typeface="Aptos" panose="020B0004020202020204" pitchFamily="34" charset="0"/>
              <a:cs typeface="Arial" panose="020B0604020202020204" pitchFamily="34" charset="0"/>
            </a:endParaRPr>
          </a:p>
          <a:p>
            <a:endParaRPr lang="ar-SA" sz="1800" dirty="0"/>
          </a:p>
        </p:txBody>
      </p:sp>
      <p:graphicFrame>
        <p:nvGraphicFramePr>
          <p:cNvPr id="2" name="جدول 1">
            <a:extLst>
              <a:ext uri="{FF2B5EF4-FFF2-40B4-BE49-F238E27FC236}">
                <a16:creationId xmlns:a16="http://schemas.microsoft.com/office/drawing/2014/main" id="{17848967-B204-077E-D7D3-D709B9A7AE1F}"/>
              </a:ext>
            </a:extLst>
          </p:cNvPr>
          <p:cNvGraphicFramePr>
            <a:graphicFrameLocks noGrp="1"/>
          </p:cNvGraphicFramePr>
          <p:nvPr>
            <p:extLst>
              <p:ext uri="{D42A27DB-BD31-4B8C-83A1-F6EECF244321}">
                <p14:modId xmlns:p14="http://schemas.microsoft.com/office/powerpoint/2010/main" val="2013904312"/>
              </p:ext>
            </p:extLst>
          </p:nvPr>
        </p:nvGraphicFramePr>
        <p:xfrm>
          <a:off x="7291387" y="1847426"/>
          <a:ext cx="4064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4237610363"/>
                    </a:ext>
                  </a:extLst>
                </a:gridCol>
                <a:gridCol w="1016000">
                  <a:extLst>
                    <a:ext uri="{9D8B030D-6E8A-4147-A177-3AD203B41FA5}">
                      <a16:colId xmlns:a16="http://schemas.microsoft.com/office/drawing/2014/main" val="408533705"/>
                    </a:ext>
                  </a:extLst>
                </a:gridCol>
                <a:gridCol w="1016000">
                  <a:extLst>
                    <a:ext uri="{9D8B030D-6E8A-4147-A177-3AD203B41FA5}">
                      <a16:colId xmlns:a16="http://schemas.microsoft.com/office/drawing/2014/main" val="4262769950"/>
                    </a:ext>
                  </a:extLst>
                </a:gridCol>
                <a:gridCol w="1016000">
                  <a:extLst>
                    <a:ext uri="{9D8B030D-6E8A-4147-A177-3AD203B41FA5}">
                      <a16:colId xmlns:a16="http://schemas.microsoft.com/office/drawing/2014/main" val="806736424"/>
                    </a:ext>
                  </a:extLst>
                </a:gridCol>
              </a:tblGrid>
              <a:tr h="370840">
                <a:tc gridSpan="3">
                  <a:txBody>
                    <a:bodyPr/>
                    <a:lstStyle/>
                    <a:p>
                      <a:pPr algn="l" rtl="0">
                        <a:lnSpc>
                          <a:spcPct val="107000"/>
                        </a:lnSpc>
                        <a:spcAft>
                          <a:spcPts val="800"/>
                        </a:spcAft>
                      </a:pPr>
                      <a:r>
                        <a:rPr lang="en-US" sz="1200" dirty="0">
                          <a:solidFill>
                            <a:srgbClr val="000000"/>
                          </a:solidFill>
                          <a:effectLst/>
                          <a:latin typeface="system-ui"/>
                          <a:ea typeface="Times New Roman" panose="02020603050405020304" pitchFamily="18" charset="0"/>
                          <a:cs typeface="Arial" panose="020B0604020202020204" pitchFamily="34" charset="0"/>
                        </a:rPr>
                        <a:t>Null hypothesis</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tc>
                  <a:txBody>
                    <a:bodyPr/>
                    <a:lstStyle/>
                    <a:p>
                      <a:pPr algn="l" rtl="0">
                        <a:lnSpc>
                          <a:spcPct val="107000"/>
                        </a:lnSpc>
                        <a:spcAft>
                          <a:spcPts val="800"/>
                        </a:spcAft>
                      </a:pPr>
                      <a:r>
                        <a:rPr lang="en-US" sz="1200">
                          <a:solidFill>
                            <a:srgbClr val="000000"/>
                          </a:solidFill>
                          <a:effectLst/>
                          <a:latin typeface="system-ui"/>
                          <a:ea typeface="Times New Roman" panose="02020603050405020304" pitchFamily="18" charset="0"/>
                          <a:cs typeface="Arial" panose="020B0604020202020204" pitchFamily="34" charset="0"/>
                        </a:rPr>
                        <a:t>H</a:t>
                      </a: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₀</a:t>
                      </a:r>
                      <a:r>
                        <a:rPr lang="en-US" sz="1200">
                          <a:solidFill>
                            <a:srgbClr val="000000"/>
                          </a:solidFill>
                          <a:effectLst/>
                          <a:latin typeface="system-ui"/>
                          <a:ea typeface="Times New Roman" panose="02020603050405020304" pitchFamily="18" charset="0"/>
                          <a:cs typeface="Arial" panose="020B0604020202020204" pitchFamily="34" charset="0"/>
                        </a:rPr>
                        <a:t>: </a:t>
                      </a:r>
                      <a:r>
                        <a:rPr lang="en-US" sz="1200">
                          <a:solidFill>
                            <a:srgbClr val="000000"/>
                          </a:solidFill>
                          <a:effectLst/>
                          <a:latin typeface="Cambria" panose="02040503050406030204" pitchFamily="18" charset="0"/>
                          <a:ea typeface="Times New Roman" panose="02020603050405020304" pitchFamily="18" charset="0"/>
                          <a:cs typeface="Cambria" panose="02040503050406030204" pitchFamily="18" charset="0"/>
                        </a:rPr>
                        <a:t>μ</a:t>
                      </a:r>
                      <a:r>
                        <a:rPr lang="en-US" sz="1200">
                          <a:solidFill>
                            <a:srgbClr val="000000"/>
                          </a:solidFill>
                          <a:effectLst/>
                          <a:latin typeface="system-ui"/>
                          <a:ea typeface="Times New Roman" panose="02020603050405020304" pitchFamily="18" charset="0"/>
                          <a:cs typeface="Arial" panose="020B0604020202020204" pitchFamily="34" charset="0"/>
                        </a:rPr>
                        <a:t> = 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3367166118"/>
                  </a:ext>
                </a:extLst>
              </a:tr>
              <a:tr h="370840">
                <a:tc gridSpan="3">
                  <a:txBody>
                    <a:bodyPr/>
                    <a:lstStyle/>
                    <a:p>
                      <a:pPr algn="l" rtl="0">
                        <a:lnSpc>
                          <a:spcPct val="107000"/>
                        </a:lnSpc>
                        <a:spcAft>
                          <a:spcPts val="800"/>
                        </a:spcAft>
                      </a:pPr>
                      <a:r>
                        <a:rPr lang="en-US" sz="1200" b="1">
                          <a:solidFill>
                            <a:srgbClr val="000000"/>
                          </a:solidFill>
                          <a:effectLst/>
                          <a:latin typeface="system-ui"/>
                          <a:ea typeface="Times New Roman" panose="02020603050405020304" pitchFamily="18" charset="0"/>
                          <a:cs typeface="Arial" panose="020B0604020202020204" pitchFamily="34" charset="0"/>
                        </a:rPr>
                        <a:t>Alternative hypothesis</a:t>
                      </a:r>
                      <a:endParaRPr lang="en-US" sz="1100" b="1">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hMerge="1">
                  <a:txBody>
                    <a:bodyPr/>
                    <a:lstStyle/>
                    <a:p>
                      <a:pPr rtl="1"/>
                      <a:endParaRPr lang="ar-SA"/>
                    </a:p>
                  </a:txBody>
                  <a:tcPr/>
                </a:tc>
                <a:tc>
                  <a:txBody>
                    <a:bodyPr/>
                    <a:lstStyle/>
                    <a:p>
                      <a:pPr algn="l" rtl="0">
                        <a:lnSpc>
                          <a:spcPct val="107000"/>
                        </a:lnSpc>
                        <a:spcAft>
                          <a:spcPts val="800"/>
                        </a:spcAft>
                      </a:pPr>
                      <a:r>
                        <a:rPr lang="en-US" sz="1200" b="1" dirty="0">
                          <a:solidFill>
                            <a:srgbClr val="000000"/>
                          </a:solidFill>
                          <a:effectLst/>
                          <a:latin typeface="system-ui"/>
                          <a:ea typeface="Times New Roman" panose="02020603050405020304" pitchFamily="18" charset="0"/>
                          <a:cs typeface="Arial" panose="020B0604020202020204" pitchFamily="34" charset="0"/>
                        </a:rPr>
                        <a:t>H</a:t>
                      </a:r>
                      <a:r>
                        <a:rPr lang="en-US" sz="12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₁</a:t>
                      </a:r>
                      <a:r>
                        <a:rPr lang="en-US" sz="1200" b="1" dirty="0">
                          <a:solidFill>
                            <a:srgbClr val="000000"/>
                          </a:solidFill>
                          <a:effectLst/>
                          <a:latin typeface="system-ui"/>
                          <a:ea typeface="Times New Roman" panose="02020603050405020304" pitchFamily="18" charset="0"/>
                          <a:cs typeface="Arial" panose="020B0604020202020204" pitchFamily="34" charset="0"/>
                        </a:rPr>
                        <a:t>: </a:t>
                      </a:r>
                      <a:r>
                        <a:rPr lang="en-US" sz="1200" b="1" dirty="0">
                          <a:solidFill>
                            <a:srgbClr val="000000"/>
                          </a:solidFill>
                          <a:effectLst/>
                          <a:latin typeface="Cambria" panose="02040503050406030204" pitchFamily="18" charset="0"/>
                          <a:ea typeface="Times New Roman" panose="02020603050405020304" pitchFamily="18" charset="0"/>
                          <a:cs typeface="Cambria" panose="02040503050406030204" pitchFamily="18" charset="0"/>
                        </a:rPr>
                        <a:t>μ</a:t>
                      </a:r>
                      <a:r>
                        <a:rPr lang="en-US" sz="1200" b="1" dirty="0">
                          <a:solidFill>
                            <a:srgbClr val="000000"/>
                          </a:solidFill>
                          <a:effectLst/>
                          <a:latin typeface="system-ui"/>
                          <a:ea typeface="Times New Roman" panose="02020603050405020304" pitchFamily="18" charset="0"/>
                          <a:cs typeface="Arial" panose="020B0604020202020204" pitchFamily="34" charset="0"/>
                        </a:rPr>
                        <a:t> ≠ 0</a:t>
                      </a:r>
                      <a:endParaRPr lang="en-US" sz="1100" b="1"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extLst>
                  <a:ext uri="{0D108BD9-81ED-4DB2-BD59-A6C34878D82A}">
                    <a16:rowId xmlns:a16="http://schemas.microsoft.com/office/drawing/2014/main" val="4061043714"/>
                  </a:ext>
                </a:extLst>
              </a:tr>
              <a:tr h="370840">
                <a:tc>
                  <a:txBody>
                    <a:bodyPr/>
                    <a:lstStyle/>
                    <a:p>
                      <a:pPr algn="l" rtl="0">
                        <a:lnSpc>
                          <a:spcPct val="107000"/>
                        </a:lnSpc>
                        <a:spcAft>
                          <a:spcPts val="800"/>
                        </a:spcAft>
                      </a:pPr>
                      <a:r>
                        <a:rPr lang="en-US" sz="1000" b="1">
                          <a:solidFill>
                            <a:srgbClr val="000000"/>
                          </a:solidFill>
                          <a:effectLst/>
                          <a:latin typeface="Segoe UI" panose="020B0502040204020203" pitchFamily="34" charset="0"/>
                          <a:ea typeface="Times New Roman" panose="02020603050405020304" pitchFamily="18" charset="0"/>
                          <a:cs typeface="Arial" panose="020B0604020202020204" pitchFamily="34" charset="0"/>
                        </a:rPr>
                        <a:t>Z-Value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0">
                        <a:lnSpc>
                          <a:spcPct val="107000"/>
                        </a:lnSpc>
                        <a:spcAft>
                          <a:spcPts val="800"/>
                        </a:spcAft>
                      </a:pPr>
                      <a:r>
                        <a:rPr lang="en-US" sz="1000" b="1">
                          <a:solidFill>
                            <a:srgbClr val="000000"/>
                          </a:solidFill>
                          <a:effectLst/>
                          <a:latin typeface="Segoe UI" panose="020B0502040204020203" pitchFamily="34" charset="0"/>
                          <a:ea typeface="Times New Roman" panose="02020603050405020304" pitchFamily="18" charset="0"/>
                          <a:cs typeface="Arial" panose="020B0604020202020204" pitchFamily="34" charset="0"/>
                        </a:rPr>
                        <a:t>P-Value</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2">
                  <a:txBody>
                    <a:bodyPr/>
                    <a:lstStyle/>
                    <a:p>
                      <a:pPr algn="r" rtl="1">
                        <a:lnSpc>
                          <a:spcPct val="107000"/>
                        </a:lnSpc>
                        <a:spcAft>
                          <a:spcPts val="800"/>
                        </a:spcAft>
                      </a:pPr>
                      <a:r>
                        <a:rPr lang="en-US" sz="11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tc hMerge="1">
                  <a:txBody>
                    <a:bodyPr/>
                    <a:lstStyle/>
                    <a:p>
                      <a:pPr rtl="1"/>
                      <a:endParaRPr lang="ar-SA"/>
                    </a:p>
                  </a:txBody>
                  <a:tcPr/>
                </a:tc>
                <a:extLst>
                  <a:ext uri="{0D108BD9-81ED-4DB2-BD59-A6C34878D82A}">
                    <a16:rowId xmlns:a16="http://schemas.microsoft.com/office/drawing/2014/main" val="733070182"/>
                  </a:ext>
                </a:extLst>
              </a:tr>
              <a:tr h="370840">
                <a:tc>
                  <a:txBody>
                    <a:bodyPr/>
                    <a:lstStyle/>
                    <a:p>
                      <a:pPr algn="l" rtl="0">
                        <a:lnSpc>
                          <a:spcPct val="107000"/>
                        </a:lnSpc>
                        <a:spcAft>
                          <a:spcPts val="800"/>
                        </a:spcAft>
                      </a:pPr>
                      <a:r>
                        <a:rPr lang="en-US" sz="1200">
                          <a:solidFill>
                            <a:srgbClr val="000000"/>
                          </a:solidFill>
                          <a:effectLst/>
                          <a:latin typeface="system-ui"/>
                          <a:ea typeface="Times New Roman" panose="02020603050405020304" pitchFamily="18" charset="0"/>
                          <a:cs typeface="Arial" panose="020B0604020202020204" pitchFamily="34" charset="0"/>
                        </a:rPr>
                        <a:t>-0.16</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0">
                        <a:lnSpc>
                          <a:spcPct val="107000"/>
                        </a:lnSpc>
                        <a:spcAft>
                          <a:spcPts val="800"/>
                        </a:spcAft>
                      </a:pPr>
                      <a:r>
                        <a:rPr lang="en-US" sz="1200">
                          <a:solidFill>
                            <a:srgbClr val="000000"/>
                          </a:solidFill>
                          <a:effectLst/>
                          <a:latin typeface="system-ui"/>
                          <a:ea typeface="Times New Roman" panose="02020603050405020304" pitchFamily="18" charset="0"/>
                          <a:cs typeface="Arial" panose="020B0604020202020204" pitchFamily="34" charset="0"/>
                        </a:rPr>
                        <a:t>0.873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2">
                  <a:txBody>
                    <a:bodyPr/>
                    <a:lstStyle/>
                    <a:p>
                      <a:pPr algn="r" rtl="1">
                        <a:lnSpc>
                          <a:spcPct val="107000"/>
                        </a:lnSpc>
                        <a:spcAft>
                          <a:spcPts val="800"/>
                        </a:spcAft>
                      </a:pPr>
                      <a:r>
                        <a:rPr lang="en-US" sz="1100" dirty="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tc hMerge="1">
                  <a:txBody>
                    <a:bodyPr/>
                    <a:lstStyle/>
                    <a:p>
                      <a:pPr rtl="1"/>
                      <a:endParaRPr lang="ar-SA"/>
                    </a:p>
                  </a:txBody>
                  <a:tcPr/>
                </a:tc>
                <a:extLst>
                  <a:ext uri="{0D108BD9-81ED-4DB2-BD59-A6C34878D82A}">
                    <a16:rowId xmlns:a16="http://schemas.microsoft.com/office/drawing/2014/main" val="1666965199"/>
                  </a:ext>
                </a:extLst>
              </a:tr>
            </a:tbl>
          </a:graphicData>
        </a:graphic>
      </p:graphicFrame>
      <p:sp>
        <p:nvSpPr>
          <p:cNvPr id="3" name="عنصر نائب للنص 9">
            <a:extLst>
              <a:ext uri="{FF2B5EF4-FFF2-40B4-BE49-F238E27FC236}">
                <a16:creationId xmlns:a16="http://schemas.microsoft.com/office/drawing/2014/main" id="{25DC4DA0-F3E0-A409-5F0B-3327DA6739D1}"/>
              </a:ext>
            </a:extLst>
          </p:cNvPr>
          <p:cNvSpPr txBox="1">
            <a:spLocks/>
          </p:cNvSpPr>
          <p:nvPr/>
        </p:nvSpPr>
        <p:spPr>
          <a:xfrm>
            <a:off x="2015013" y="1048861"/>
            <a:ext cx="4064000" cy="5602060"/>
          </a:xfrm>
          <a:prstGeom prst="rect">
            <a:avLst/>
          </a:prstGeom>
        </p:spPr>
        <p:txBody>
          <a:bodyPr vert="horz" lIns="91440" tIns="45720" rIns="91440" bIns="45720" rtlCol="1">
            <a:normAutofit/>
          </a:bodyPr>
          <a:lstStyle>
            <a:lvl1pPr marL="0" indent="0" algn="r" defTabSz="914400" rtl="1"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r" defTabSz="914400" rtl="1"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r" defTabSz="914400" rtl="1"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r" defTabSz="914400" rtl="1"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r" defTabSz="914400" rtl="1"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r" defTabSz="914400" rtl="1"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r" defTabSz="914400" rtl="1"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r" defTabSz="914400" rtl="1"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r" defTabSz="914400" rtl="1"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indent="-285750">
              <a:buFont typeface="Arial" panose="020B0604020202020204" pitchFamily="34" charset="0"/>
              <a:buChar char="•"/>
            </a:pPr>
            <a:r>
              <a:rPr lang="ar-SA" sz="1800" dirty="0">
                <a:latin typeface="Aptos" panose="020B0004020202020204" pitchFamily="34" charset="0"/>
                <a:ea typeface="Aptos" panose="020B0004020202020204" pitchFamily="34" charset="0"/>
                <a:cs typeface="Times New Roman" panose="02020603050405020304" pitchFamily="18" charset="0"/>
              </a:rPr>
              <a:t>.</a:t>
            </a:r>
            <a:endParaRPr lang="en-US" sz="1800" dirty="0">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ar-SA" sz="1800" dirty="0"/>
              <a:t>عشوائية البواقي:</a:t>
            </a:r>
          </a:p>
          <a:p>
            <a:pPr marL="285750" indent="-285750">
              <a:buFont typeface="Arial" panose="020B0604020202020204" pitchFamily="34" charset="0"/>
              <a:buChar char="•"/>
            </a:pPr>
            <a:endParaRPr lang="ar-SA" sz="1800" dirty="0"/>
          </a:p>
          <a:p>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pPr marL="285750" indent="-285750">
              <a:buFont typeface="Arial" panose="020B0604020202020204" pitchFamily="34" charset="0"/>
              <a:buChar char="•"/>
            </a:pPr>
            <a:endParaRPr lang="ar-SA" sz="1800" dirty="0"/>
          </a:p>
          <a:p>
            <a:r>
              <a:rPr lang="ar-SA" sz="1800" dirty="0">
                <a:latin typeface="Aptos" panose="020B0004020202020204" pitchFamily="34" charset="0"/>
                <a:ea typeface="Times New Roman" panose="02020603050405020304" pitchFamily="18" charset="0"/>
                <a:cs typeface="Times New Roman" panose="02020603050405020304" pitchFamily="18" charset="0"/>
              </a:rPr>
              <a:t>كما نرى ان قيمة </a:t>
            </a:r>
            <a:r>
              <a:rPr lang="en-US" sz="1800" dirty="0">
                <a:latin typeface="Times New Roman" panose="02020603050405020304" pitchFamily="18" charset="0"/>
                <a:ea typeface="Times New Roman" panose="02020603050405020304" pitchFamily="18" charset="0"/>
                <a:cs typeface="Arial" panose="020B0604020202020204" pitchFamily="34" charset="0"/>
              </a:rPr>
              <a:t>p value</a:t>
            </a:r>
            <a:r>
              <a:rPr lang="en-US" sz="1800" i="1" dirty="0">
                <a:latin typeface="Times New Roman" panose="02020603050405020304" pitchFamily="18" charset="0"/>
                <a:ea typeface="Times New Roman" panose="02020603050405020304" pitchFamily="18" charset="0"/>
                <a:cs typeface="Arial" panose="020B0604020202020204" pitchFamily="34" charset="0"/>
              </a:rPr>
              <a:t> </a:t>
            </a:r>
            <a:r>
              <a:rPr lang="ar-SA" sz="1800" dirty="0">
                <a:latin typeface="Aptos" panose="020B0004020202020204" pitchFamily="34" charset="0"/>
                <a:ea typeface="Times New Roman" panose="02020603050405020304" pitchFamily="18" charset="0"/>
                <a:cs typeface="Times New Roman" panose="02020603050405020304" pitchFamily="18" charset="0"/>
              </a:rPr>
              <a:t>أكبر من </a:t>
            </a:r>
            <a:r>
              <a:rPr lang="en-US" sz="1800" dirty="0">
                <a:latin typeface="Times New Roman" panose="02020603050405020304" pitchFamily="18" charset="0"/>
                <a:ea typeface="Times New Roman" panose="02020603050405020304" pitchFamily="18" charset="0"/>
                <a:cs typeface="Arial" panose="020B0604020202020204" pitchFamily="34" charset="0"/>
              </a:rPr>
              <a:t>0.05</a:t>
            </a:r>
            <a:r>
              <a:rPr lang="ar-SA" sz="1800" dirty="0">
                <a:latin typeface="Aptos" panose="020B0004020202020204" pitchFamily="34" charset="0"/>
                <a:ea typeface="Times New Roman" panose="02020603050405020304" pitchFamily="18" charset="0"/>
                <a:cs typeface="Times New Roman" panose="02020603050405020304" pitchFamily="18" charset="0"/>
              </a:rPr>
              <a:t> لذا نقبل الفرضية الصفرية ويعني ان البواقي عشوائية.</a:t>
            </a:r>
            <a:endParaRPr lang="en-US" sz="1800" dirty="0">
              <a:latin typeface="Aptos" panose="020B0004020202020204" pitchFamily="34" charset="0"/>
              <a:ea typeface="Aptos" panose="020B0004020202020204" pitchFamily="34" charset="0"/>
              <a:cs typeface="Arial" panose="020B0604020202020204" pitchFamily="34" charset="0"/>
            </a:endParaRPr>
          </a:p>
          <a:p>
            <a:endParaRPr lang="ar-SA" sz="1800" dirty="0"/>
          </a:p>
        </p:txBody>
      </p:sp>
      <p:graphicFrame>
        <p:nvGraphicFramePr>
          <p:cNvPr id="6" name="جدول 5">
            <a:extLst>
              <a:ext uri="{FF2B5EF4-FFF2-40B4-BE49-F238E27FC236}">
                <a16:creationId xmlns:a16="http://schemas.microsoft.com/office/drawing/2014/main" id="{BCDE90C7-44AC-A7AD-1C20-F33A55698A29}"/>
              </a:ext>
            </a:extLst>
          </p:cNvPr>
          <p:cNvGraphicFramePr>
            <a:graphicFrameLocks noGrp="1"/>
          </p:cNvGraphicFramePr>
          <p:nvPr>
            <p:extLst>
              <p:ext uri="{D42A27DB-BD31-4B8C-83A1-F6EECF244321}">
                <p14:modId xmlns:p14="http://schemas.microsoft.com/office/powerpoint/2010/main" val="134046354"/>
              </p:ext>
            </p:extLst>
          </p:nvPr>
        </p:nvGraphicFramePr>
        <p:xfrm>
          <a:off x="1745772" y="1847426"/>
          <a:ext cx="5152865" cy="1830495"/>
        </p:xfrm>
        <a:graphic>
          <a:graphicData uri="http://schemas.openxmlformats.org/drawingml/2006/table">
            <a:tbl>
              <a:tblPr firstRow="1" bandRow="1">
                <a:tableStyleId>{5C22544A-7EE6-4342-B048-85BDC9FD1C3A}</a:tableStyleId>
              </a:tblPr>
              <a:tblGrid>
                <a:gridCol w="1030573">
                  <a:extLst>
                    <a:ext uri="{9D8B030D-6E8A-4147-A177-3AD203B41FA5}">
                      <a16:colId xmlns:a16="http://schemas.microsoft.com/office/drawing/2014/main" val="4138257763"/>
                    </a:ext>
                  </a:extLst>
                </a:gridCol>
                <a:gridCol w="1030573">
                  <a:extLst>
                    <a:ext uri="{9D8B030D-6E8A-4147-A177-3AD203B41FA5}">
                      <a16:colId xmlns:a16="http://schemas.microsoft.com/office/drawing/2014/main" val="3828507226"/>
                    </a:ext>
                  </a:extLst>
                </a:gridCol>
                <a:gridCol w="1030573">
                  <a:extLst>
                    <a:ext uri="{9D8B030D-6E8A-4147-A177-3AD203B41FA5}">
                      <a16:colId xmlns:a16="http://schemas.microsoft.com/office/drawing/2014/main" val="3188809191"/>
                    </a:ext>
                  </a:extLst>
                </a:gridCol>
                <a:gridCol w="1030573">
                  <a:extLst>
                    <a:ext uri="{9D8B030D-6E8A-4147-A177-3AD203B41FA5}">
                      <a16:colId xmlns:a16="http://schemas.microsoft.com/office/drawing/2014/main" val="293522378"/>
                    </a:ext>
                  </a:extLst>
                </a:gridCol>
                <a:gridCol w="1030573">
                  <a:extLst>
                    <a:ext uri="{9D8B030D-6E8A-4147-A177-3AD203B41FA5}">
                      <a16:colId xmlns:a16="http://schemas.microsoft.com/office/drawing/2014/main" val="1568759163"/>
                    </a:ext>
                  </a:extLst>
                </a:gridCol>
              </a:tblGrid>
              <a:tr h="366099">
                <a:tc gridSpan="2">
                  <a:txBody>
                    <a:bodyPr/>
                    <a:lstStyle/>
                    <a:p>
                      <a:pPr algn="l" rtl="0">
                        <a:lnSpc>
                          <a:spcPct val="107000"/>
                        </a:lnSpc>
                        <a:spcAft>
                          <a:spcPts val="800"/>
                        </a:spcAft>
                      </a:pPr>
                      <a:r>
                        <a:rPr lang="en-US" sz="1400" dirty="0">
                          <a:solidFill>
                            <a:srgbClr val="000000"/>
                          </a:solidFill>
                          <a:effectLst/>
                          <a:latin typeface="system-ui"/>
                          <a:ea typeface="Times New Roman" panose="02020603050405020304" pitchFamily="18" charset="0"/>
                          <a:cs typeface="Arial" panose="020B0604020202020204" pitchFamily="34" charset="0"/>
                        </a:rPr>
                        <a:t>Null hypothesis</a:t>
                      </a:r>
                      <a:endParaRPr lang="en-US" sz="12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gridSpan="3">
                  <a:txBody>
                    <a:bodyPr/>
                    <a:lstStyle/>
                    <a:p>
                      <a:pPr algn="l" rtl="0">
                        <a:lnSpc>
                          <a:spcPct val="107000"/>
                        </a:lnSpc>
                        <a:spcAft>
                          <a:spcPts val="800"/>
                        </a:spcAft>
                      </a:pPr>
                      <a:r>
                        <a:rPr lang="en-US" sz="1400">
                          <a:solidFill>
                            <a:srgbClr val="000000"/>
                          </a:solidFill>
                          <a:effectLst/>
                          <a:latin typeface="system-ui"/>
                          <a:ea typeface="Times New Roman" panose="02020603050405020304" pitchFamily="18" charset="0"/>
                          <a:cs typeface="Arial" panose="020B0604020202020204" pitchFamily="34" charset="0"/>
                        </a:rPr>
                        <a:t>H</a:t>
                      </a:r>
                      <a:r>
                        <a:rPr lang="en-US"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₀</a:t>
                      </a:r>
                      <a:r>
                        <a:rPr lang="en-US" sz="1400">
                          <a:solidFill>
                            <a:srgbClr val="000000"/>
                          </a:solidFill>
                          <a:effectLst/>
                          <a:latin typeface="system-ui"/>
                          <a:ea typeface="Times New Roman" panose="02020603050405020304" pitchFamily="18" charset="0"/>
                          <a:cs typeface="Arial" panose="020B0604020202020204" pitchFamily="34" charset="0"/>
                        </a:rPr>
                        <a:t>: The order of the data is random</a:t>
                      </a:r>
                      <a:endParaRPr lang="en-US" sz="12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4185429023"/>
                  </a:ext>
                </a:extLst>
              </a:tr>
              <a:tr h="366099">
                <a:tc gridSpan="2">
                  <a:txBody>
                    <a:bodyPr/>
                    <a:lstStyle/>
                    <a:p>
                      <a:pPr algn="l" rtl="0">
                        <a:lnSpc>
                          <a:spcPct val="107000"/>
                        </a:lnSpc>
                        <a:spcAft>
                          <a:spcPts val="800"/>
                        </a:spcAft>
                      </a:pPr>
                      <a:r>
                        <a:rPr lang="en-US" sz="1400" b="1">
                          <a:solidFill>
                            <a:srgbClr val="000000"/>
                          </a:solidFill>
                          <a:effectLst/>
                          <a:latin typeface="system-ui"/>
                          <a:ea typeface="Times New Roman" panose="02020603050405020304" pitchFamily="18" charset="0"/>
                          <a:cs typeface="Arial" panose="020B0604020202020204" pitchFamily="34" charset="0"/>
                        </a:rPr>
                        <a:t>Alternative hypothesis</a:t>
                      </a:r>
                      <a:endParaRPr lang="en-US" sz="1200" b="1">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gridSpan="3">
                  <a:txBody>
                    <a:bodyPr/>
                    <a:lstStyle/>
                    <a:p>
                      <a:pPr algn="l" rtl="0">
                        <a:lnSpc>
                          <a:spcPct val="107000"/>
                        </a:lnSpc>
                        <a:spcAft>
                          <a:spcPts val="800"/>
                        </a:spcAft>
                      </a:pPr>
                      <a:r>
                        <a:rPr lang="en-US" sz="1400" b="1" dirty="0">
                          <a:solidFill>
                            <a:srgbClr val="000000"/>
                          </a:solidFill>
                          <a:effectLst/>
                          <a:latin typeface="system-ui"/>
                          <a:ea typeface="Times New Roman" panose="02020603050405020304" pitchFamily="18" charset="0"/>
                          <a:cs typeface="Arial" panose="020B0604020202020204" pitchFamily="34" charset="0"/>
                        </a:rPr>
                        <a:t>H</a:t>
                      </a:r>
                      <a:r>
                        <a:rPr lang="en-US" sz="14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₁</a:t>
                      </a:r>
                      <a:r>
                        <a:rPr lang="en-US" sz="1400" b="1" dirty="0">
                          <a:solidFill>
                            <a:srgbClr val="000000"/>
                          </a:solidFill>
                          <a:effectLst/>
                          <a:latin typeface="system-ui"/>
                          <a:ea typeface="Times New Roman" panose="02020603050405020304" pitchFamily="18" charset="0"/>
                          <a:cs typeface="Arial" panose="020B0604020202020204" pitchFamily="34" charset="0"/>
                        </a:rPr>
                        <a:t>: The order of the data is not random</a:t>
                      </a:r>
                      <a:endParaRPr lang="en-US" sz="1200" b="1"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solidFill>
                      <a:schemeClr val="bg2">
                        <a:lumMod val="75000"/>
                        <a:lumOff val="25000"/>
                      </a:schemeClr>
                    </a:solidFill>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411904629"/>
                  </a:ext>
                </a:extLst>
              </a:tr>
              <a:tr h="366099">
                <a:tc gridSpan="3">
                  <a:txBody>
                    <a:bodyPr/>
                    <a:lstStyle/>
                    <a:p>
                      <a:pPr algn="ctr" rtl="0">
                        <a:lnSpc>
                          <a:spcPct val="107000"/>
                        </a:lnSpc>
                        <a:spcAft>
                          <a:spcPts val="800"/>
                        </a:spcAft>
                      </a:pPr>
                      <a:r>
                        <a:rPr lang="en-US" sz="1050" b="1">
                          <a:solidFill>
                            <a:srgbClr val="000000"/>
                          </a:solidFill>
                          <a:effectLst/>
                          <a:latin typeface="Segoe UI" panose="020B0502040204020203" pitchFamily="34" charset="0"/>
                          <a:ea typeface="Times New Roman" panose="02020603050405020304" pitchFamily="18" charset="0"/>
                          <a:cs typeface="Arial" panose="020B0604020202020204" pitchFamily="34" charset="0"/>
                        </a:rPr>
                        <a:t>Number of Runs</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hMerge="1">
                  <a:txBody>
                    <a:bodyPr/>
                    <a:lstStyle/>
                    <a:p>
                      <a:pPr rtl="1"/>
                      <a:endParaRPr lang="ar-SA"/>
                    </a:p>
                  </a:txBody>
                  <a:tcPr/>
                </a:tc>
                <a:tc>
                  <a:txBody>
                    <a:bodyPr/>
                    <a:lstStyle/>
                    <a:p>
                      <a:pPr algn="l" rtl="0">
                        <a:lnSpc>
                          <a:spcPct val="107000"/>
                        </a:lnSpc>
                        <a:spcAft>
                          <a:spcPts val="800"/>
                        </a:spcAft>
                      </a:pPr>
                      <a:r>
                        <a:rPr lang="en-US" sz="1050" b="1">
                          <a:solidFill>
                            <a:srgbClr val="000000"/>
                          </a:solidFill>
                          <a:effectLst/>
                          <a:latin typeface="Segoe UI" panose="020B0502040204020203" pitchFamily="34" charset="0"/>
                          <a:ea typeface="Times New Roman" panose="02020603050405020304" pitchFamily="18" charset="0"/>
                          <a:cs typeface="Arial" panose="020B0604020202020204" pitchFamily="34" charset="0"/>
                        </a:rPr>
                        <a:t> </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r" rtl="1">
                        <a:lnSpc>
                          <a:spcPct val="107000"/>
                        </a:lnSpc>
                        <a:spcAft>
                          <a:spcPts val="800"/>
                        </a:spcAft>
                      </a:pPr>
                      <a:r>
                        <a:rPr lang="en-US" sz="1100" dirty="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3504249884"/>
                  </a:ext>
                </a:extLst>
              </a:tr>
              <a:tr h="366099">
                <a:tc>
                  <a:txBody>
                    <a:bodyPr/>
                    <a:lstStyle/>
                    <a:p>
                      <a:pPr algn="l" rtl="0">
                        <a:lnSpc>
                          <a:spcPct val="107000"/>
                        </a:lnSpc>
                        <a:spcAft>
                          <a:spcPts val="800"/>
                        </a:spcAft>
                      </a:pPr>
                      <a:r>
                        <a:rPr lang="en-US" sz="1050" b="1">
                          <a:solidFill>
                            <a:srgbClr val="000000"/>
                          </a:solidFill>
                          <a:effectLst/>
                          <a:latin typeface="Segoe UI" panose="020B0502040204020203" pitchFamily="34" charset="0"/>
                          <a:ea typeface="Times New Roman" panose="02020603050405020304" pitchFamily="18" charset="0"/>
                          <a:cs typeface="Arial" panose="020B0604020202020204" pitchFamily="34" charset="0"/>
                        </a:rPr>
                        <a:t>Observed</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gridSpan="2">
                  <a:txBody>
                    <a:bodyPr/>
                    <a:lstStyle/>
                    <a:p>
                      <a:pPr algn="l" rtl="0">
                        <a:lnSpc>
                          <a:spcPct val="107000"/>
                        </a:lnSpc>
                        <a:spcAft>
                          <a:spcPts val="800"/>
                        </a:spcAft>
                      </a:pPr>
                      <a:r>
                        <a:rPr lang="en-US" sz="1050" b="1">
                          <a:solidFill>
                            <a:srgbClr val="000000"/>
                          </a:solidFill>
                          <a:effectLst/>
                          <a:latin typeface="Segoe UI" panose="020B0502040204020203" pitchFamily="34" charset="0"/>
                          <a:ea typeface="Times New Roman" panose="02020603050405020304" pitchFamily="18" charset="0"/>
                          <a:cs typeface="Arial" panose="020B0604020202020204" pitchFamily="34" charset="0"/>
                        </a:rPr>
                        <a:t>Expected</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hMerge="1">
                  <a:txBody>
                    <a:bodyPr/>
                    <a:lstStyle/>
                    <a:p>
                      <a:pPr rtl="1"/>
                      <a:endParaRPr lang="ar-SA"/>
                    </a:p>
                  </a:txBody>
                  <a:tcPr/>
                </a:tc>
                <a:tc>
                  <a:txBody>
                    <a:bodyPr/>
                    <a:lstStyle/>
                    <a:p>
                      <a:pPr algn="l" rtl="0">
                        <a:lnSpc>
                          <a:spcPct val="107000"/>
                        </a:lnSpc>
                        <a:spcAft>
                          <a:spcPts val="800"/>
                        </a:spcAft>
                      </a:pPr>
                      <a:r>
                        <a:rPr lang="en-US" sz="1050" b="1" dirty="0">
                          <a:solidFill>
                            <a:srgbClr val="000000"/>
                          </a:solidFill>
                          <a:effectLst/>
                          <a:latin typeface="Segoe UI" panose="020B0502040204020203" pitchFamily="34" charset="0"/>
                          <a:ea typeface="Times New Roman" panose="02020603050405020304" pitchFamily="18" charset="0"/>
                          <a:cs typeface="Arial" panose="020B0604020202020204" pitchFamily="34" charset="0"/>
                        </a:rPr>
                        <a:t>P-Value</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r" rtl="1">
                        <a:lnSpc>
                          <a:spcPct val="107000"/>
                        </a:lnSpc>
                        <a:spcAft>
                          <a:spcPts val="800"/>
                        </a:spcAft>
                      </a:pPr>
                      <a:r>
                        <a:rPr lang="en-US" sz="110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491905964"/>
                  </a:ext>
                </a:extLst>
              </a:tr>
              <a:tr h="366099">
                <a:tc>
                  <a:txBody>
                    <a:bodyPr/>
                    <a:lstStyle/>
                    <a:p>
                      <a:pPr algn="l" rtl="0">
                        <a:lnSpc>
                          <a:spcPct val="107000"/>
                        </a:lnSpc>
                        <a:spcAft>
                          <a:spcPts val="800"/>
                        </a:spcAft>
                      </a:pPr>
                      <a:r>
                        <a:rPr lang="en-US" sz="1800">
                          <a:solidFill>
                            <a:srgbClr val="000000"/>
                          </a:solidFill>
                          <a:effectLst/>
                          <a:latin typeface="system-ui"/>
                          <a:ea typeface="Times New Roman" panose="02020603050405020304" pitchFamily="18" charset="0"/>
                          <a:cs typeface="Arial" panose="020B0604020202020204" pitchFamily="34" charset="0"/>
                        </a:rPr>
                        <a:t>19</a:t>
                      </a:r>
                      <a:endParaRPr lang="en-US" sz="16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gridSpan="2">
                  <a:txBody>
                    <a:bodyPr/>
                    <a:lstStyle/>
                    <a:p>
                      <a:pPr algn="l" rtl="0">
                        <a:lnSpc>
                          <a:spcPct val="107000"/>
                        </a:lnSpc>
                        <a:spcAft>
                          <a:spcPts val="800"/>
                        </a:spcAft>
                      </a:pPr>
                      <a:r>
                        <a:rPr lang="en-US" sz="1800">
                          <a:solidFill>
                            <a:srgbClr val="000000"/>
                          </a:solidFill>
                          <a:effectLst/>
                          <a:latin typeface="system-ui"/>
                          <a:ea typeface="Times New Roman" panose="02020603050405020304" pitchFamily="18" charset="0"/>
                          <a:cs typeface="Arial" panose="020B0604020202020204" pitchFamily="34" charset="0"/>
                        </a:rPr>
                        <a:t>23.00</a:t>
                      </a:r>
                      <a:endParaRPr lang="en-US" sz="16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hMerge="1">
                  <a:txBody>
                    <a:bodyPr/>
                    <a:lstStyle/>
                    <a:p>
                      <a:pPr rtl="1"/>
                      <a:endParaRPr lang="ar-SA"/>
                    </a:p>
                  </a:txBody>
                  <a:tcPr/>
                </a:tc>
                <a:tc>
                  <a:txBody>
                    <a:bodyPr/>
                    <a:lstStyle/>
                    <a:p>
                      <a:pPr algn="l" rtl="0">
                        <a:lnSpc>
                          <a:spcPct val="107000"/>
                        </a:lnSpc>
                        <a:spcAft>
                          <a:spcPts val="800"/>
                        </a:spcAft>
                      </a:pPr>
                      <a:r>
                        <a:rPr lang="en-US" sz="1800" dirty="0">
                          <a:solidFill>
                            <a:srgbClr val="000000"/>
                          </a:solidFill>
                          <a:effectLst/>
                          <a:latin typeface="system-ui"/>
                          <a:ea typeface="Times New Roman" panose="02020603050405020304" pitchFamily="18" charset="0"/>
                          <a:cs typeface="Arial" panose="020B0604020202020204" pitchFamily="34" charset="0"/>
                        </a:rPr>
                        <a:t>0.222</a:t>
                      </a:r>
                      <a:endParaRPr lang="en-US" sz="16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r" rtl="1">
                        <a:lnSpc>
                          <a:spcPct val="107000"/>
                        </a:lnSpc>
                        <a:spcAft>
                          <a:spcPts val="800"/>
                        </a:spcAft>
                      </a:pPr>
                      <a:r>
                        <a:rPr lang="en-US" sz="1100" dirty="0">
                          <a:effectLst/>
                          <a:latin typeface="Aptos" panose="020B0004020202020204" pitchFamily="34" charset="0"/>
                          <a:ea typeface="Aptos" panose="020B0004020202020204" pitchFamily="34" charset="0"/>
                          <a:cs typeface="Arial" panose="020B0604020202020204" pitchFamily="34" charset="0"/>
                        </a:rPr>
                        <a:t> </a:t>
                      </a:r>
                    </a:p>
                  </a:txBody>
                  <a:tcPr marL="0" marR="0" marT="0" marB="0" anchor="ctr"/>
                </a:tc>
                <a:extLst>
                  <a:ext uri="{0D108BD9-81ED-4DB2-BD59-A6C34878D82A}">
                    <a16:rowId xmlns:a16="http://schemas.microsoft.com/office/drawing/2014/main" val="1619242056"/>
                  </a:ext>
                </a:extLst>
              </a:tr>
            </a:tbl>
          </a:graphicData>
        </a:graphic>
      </p:graphicFrame>
    </p:spTree>
    <p:extLst>
      <p:ext uri="{BB962C8B-B14F-4D97-AF65-F5344CB8AC3E}">
        <p14:creationId xmlns:p14="http://schemas.microsoft.com/office/powerpoint/2010/main" val="949641193"/>
      </p:ext>
    </p:extLst>
  </p:cSld>
  <p:clrMapOvr>
    <a:overrideClrMapping bg1="dk1" tx1="lt1" bg2="dk2" tx2="lt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D1ED595-FE48-51AA-B416-4E5CF3B0B444}"/>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ED445AED-EB1A-6C51-E565-EC734638EE3A}"/>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4A7D1E29-16DE-02F9-AF99-7CEDE2ADA639}"/>
              </a:ext>
            </a:extLst>
          </p:cNvPr>
          <p:cNvSpPr>
            <a:spLocks noGrp="1"/>
          </p:cNvSpPr>
          <p:nvPr>
            <p:ph type="title"/>
          </p:nvPr>
        </p:nvSpPr>
        <p:spPr>
          <a:xfrm>
            <a:off x="802640" y="0"/>
            <a:ext cx="10552747" cy="1048861"/>
          </a:xfrm>
        </p:spPr>
        <p:txBody>
          <a:bodyPr/>
          <a:lstStyle/>
          <a:p>
            <a:r>
              <a:rPr lang="ar-SA" dirty="0"/>
              <a:t>التنبؤ</a:t>
            </a:r>
          </a:p>
        </p:txBody>
      </p:sp>
      <p:sp>
        <p:nvSpPr>
          <p:cNvPr id="10" name="عنصر نائب للنص 9">
            <a:extLst>
              <a:ext uri="{FF2B5EF4-FFF2-40B4-BE49-F238E27FC236}">
                <a16:creationId xmlns:a16="http://schemas.microsoft.com/office/drawing/2014/main" id="{393FE67B-8789-6A4C-C530-899AACCDF407}"/>
              </a:ext>
            </a:extLst>
          </p:cNvPr>
          <p:cNvSpPr>
            <a:spLocks noGrp="1"/>
          </p:cNvSpPr>
          <p:nvPr>
            <p:ph type="body" sz="half" idx="2"/>
          </p:nvPr>
        </p:nvSpPr>
        <p:spPr>
          <a:xfrm>
            <a:off x="7423150" y="1048861"/>
            <a:ext cx="3932237" cy="5602060"/>
          </a:xfrm>
        </p:spPr>
        <p:txBody>
          <a:bodyPr>
            <a:normAutofit/>
          </a:bodyPr>
          <a:lstStyle/>
          <a:p>
            <a:pPr marL="285750" indent="-285750">
              <a:buFont typeface="Arial" panose="020B0604020202020204" pitchFamily="34" charset="0"/>
              <a:buChar char="•"/>
            </a:pPr>
            <a:r>
              <a:rPr lang="ar-SA"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endParaRPr lang="ar-SA" sz="1800" dirty="0"/>
          </a:p>
        </p:txBody>
      </p:sp>
      <p:graphicFrame>
        <p:nvGraphicFramePr>
          <p:cNvPr id="6" name="جدول 5">
            <a:extLst>
              <a:ext uri="{FF2B5EF4-FFF2-40B4-BE49-F238E27FC236}">
                <a16:creationId xmlns:a16="http://schemas.microsoft.com/office/drawing/2014/main" id="{6DA82295-57FD-46C1-E21B-7FB0275CFC18}"/>
              </a:ext>
            </a:extLst>
          </p:cNvPr>
          <p:cNvGraphicFramePr>
            <a:graphicFrameLocks noGrp="1"/>
          </p:cNvGraphicFramePr>
          <p:nvPr>
            <p:extLst>
              <p:ext uri="{D42A27DB-BD31-4B8C-83A1-F6EECF244321}">
                <p14:modId xmlns:p14="http://schemas.microsoft.com/office/powerpoint/2010/main" val="1511345462"/>
              </p:ext>
            </p:extLst>
          </p:nvPr>
        </p:nvGraphicFramePr>
        <p:xfrm>
          <a:off x="2144395" y="1990090"/>
          <a:ext cx="2052320" cy="2225040"/>
        </p:xfrm>
        <a:graphic>
          <a:graphicData uri="http://schemas.openxmlformats.org/drawingml/2006/table">
            <a:tbl>
              <a:tblPr firstRow="1" bandRow="1">
                <a:tableStyleId>{5C22544A-7EE6-4342-B048-85BDC9FD1C3A}</a:tableStyleId>
              </a:tblPr>
              <a:tblGrid>
                <a:gridCol w="1026160">
                  <a:extLst>
                    <a:ext uri="{9D8B030D-6E8A-4147-A177-3AD203B41FA5}">
                      <a16:colId xmlns:a16="http://schemas.microsoft.com/office/drawing/2014/main" val="355349457"/>
                    </a:ext>
                  </a:extLst>
                </a:gridCol>
                <a:gridCol w="1026160">
                  <a:extLst>
                    <a:ext uri="{9D8B030D-6E8A-4147-A177-3AD203B41FA5}">
                      <a16:colId xmlns:a16="http://schemas.microsoft.com/office/drawing/2014/main" val="3961428293"/>
                    </a:ext>
                  </a:extLst>
                </a:gridCol>
              </a:tblGrid>
              <a:tr h="370840">
                <a:tc>
                  <a:txBody>
                    <a:bodyPr/>
                    <a:lstStyle/>
                    <a:p>
                      <a:pPr algn="l" rtl="1">
                        <a:lnSpc>
                          <a:spcPct val="150000"/>
                        </a:lnSpc>
                        <a:spcAft>
                          <a:spcPts val="800"/>
                        </a:spcAft>
                      </a:pPr>
                      <a:r>
                        <a:rPr lang="en-US" sz="1100" b="1"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Period</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tc>
                  <a:txBody>
                    <a:bodyPr/>
                    <a:lstStyle/>
                    <a:p>
                      <a:pPr algn="l" rtl="1">
                        <a:lnSpc>
                          <a:spcPct val="150000"/>
                        </a:lnSpc>
                        <a:spcAft>
                          <a:spcPts val="800"/>
                        </a:spcAft>
                      </a:pPr>
                      <a:r>
                        <a:rPr lang="en-US" sz="11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Forecast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nchor="b"/>
                </a:tc>
                <a:extLst>
                  <a:ext uri="{0D108BD9-81ED-4DB2-BD59-A6C34878D82A}">
                    <a16:rowId xmlns:a16="http://schemas.microsoft.com/office/drawing/2014/main" val="1120914729"/>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49</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6.65139</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1151580472"/>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50</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6.64887</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944934950"/>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51</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6.64551</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2966583761"/>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52</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6.64131</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999356947"/>
                  </a:ext>
                </a:extLst>
              </a:tr>
              <a:tr h="370840">
                <a:tc>
                  <a:txBody>
                    <a:bodyPr/>
                    <a:lstStyle/>
                    <a:p>
                      <a:pPr algn="l" rtl="1">
                        <a:lnSpc>
                          <a:spcPct val="150000"/>
                        </a:lnSpc>
                        <a:spcAft>
                          <a:spcPts val="800"/>
                        </a:spcAft>
                      </a:pPr>
                      <a:r>
                        <a:rPr lang="en-US" sz="12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53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tc>
                  <a:txBody>
                    <a:bodyPr/>
                    <a:lstStyle/>
                    <a:p>
                      <a:pPr algn="l" rtl="1">
                        <a:lnSpc>
                          <a:spcPct val="150000"/>
                        </a:lnSpc>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6.63627</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15240" marR="15240" marT="7620" marB="0"/>
                </a:tc>
                <a:extLst>
                  <a:ext uri="{0D108BD9-81ED-4DB2-BD59-A6C34878D82A}">
                    <a16:rowId xmlns:a16="http://schemas.microsoft.com/office/drawing/2014/main" val="999831460"/>
                  </a:ext>
                </a:extLst>
              </a:tr>
            </a:tbl>
          </a:graphicData>
        </a:graphic>
      </p:graphicFrame>
      <p:pic>
        <p:nvPicPr>
          <p:cNvPr id="8" name="صورة 7" descr="Trend Analysis Plot for LOG">
            <a:extLst>
              <a:ext uri="{FF2B5EF4-FFF2-40B4-BE49-F238E27FC236}">
                <a16:creationId xmlns:a16="http://schemas.microsoft.com/office/drawing/2014/main" id="{EB1E5ABB-3410-C163-B560-F32AFBE340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56300" y="1704340"/>
            <a:ext cx="4188120" cy="2796540"/>
          </a:xfrm>
          <a:prstGeom prst="rect">
            <a:avLst/>
          </a:prstGeom>
          <a:noFill/>
          <a:ln>
            <a:noFill/>
          </a:ln>
        </p:spPr>
      </p:pic>
    </p:spTree>
    <p:extLst>
      <p:ext uri="{BB962C8B-B14F-4D97-AF65-F5344CB8AC3E}">
        <p14:creationId xmlns:p14="http://schemas.microsoft.com/office/powerpoint/2010/main" val="3423585749"/>
      </p:ext>
    </p:extLst>
  </p:cSld>
  <p:clrMapOvr>
    <a:overrideClrMapping bg1="dk1" tx1="lt1" bg2="dk2" tx2="lt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FE84A0C-E5A7-0F53-B4DA-DB0CB8B54579}"/>
            </a:ext>
          </a:extLst>
        </p:cNvPr>
        <p:cNvGrpSpPr/>
        <p:nvPr/>
      </p:nvGrpSpPr>
      <p:grpSpPr>
        <a:xfrm>
          <a:off x="0" y="0"/>
          <a:ext cx="0" cy="0"/>
          <a:chOff x="0" y="0"/>
          <a:chExt cx="0" cy="0"/>
        </a:xfrm>
      </p:grpSpPr>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0504FF5E-D70A-1834-487A-02818C973891}"/>
              </a:ext>
            </a:extLst>
          </p:cNvPr>
          <p:cNvPicPr>
            <a:picLocks noChangeAspect="1"/>
          </p:cNvPicPr>
          <p:nvPr/>
        </p:nvPicPr>
        <p:blipFill>
          <a:blip r:embed="rId2">
            <a:alphaModFix amt="50000"/>
          </a:blip>
          <a:srcRect r="4000"/>
          <a:stretch/>
        </p:blipFill>
        <p:spPr>
          <a:xfrm>
            <a:off x="0" y="0"/>
            <a:ext cx="12191980" cy="6857999"/>
          </a:xfrm>
          <a:prstGeom prst="rect">
            <a:avLst/>
          </a:prstGeom>
        </p:spPr>
      </p:pic>
      <p:sp>
        <p:nvSpPr>
          <p:cNvPr id="7" name="عنوان 6">
            <a:extLst>
              <a:ext uri="{FF2B5EF4-FFF2-40B4-BE49-F238E27FC236}">
                <a16:creationId xmlns:a16="http://schemas.microsoft.com/office/drawing/2014/main" id="{A31AC5DD-45BF-7917-0C3D-824704028BCC}"/>
              </a:ext>
            </a:extLst>
          </p:cNvPr>
          <p:cNvSpPr>
            <a:spLocks noGrp="1"/>
          </p:cNvSpPr>
          <p:nvPr>
            <p:ph type="title"/>
          </p:nvPr>
        </p:nvSpPr>
        <p:spPr>
          <a:xfrm>
            <a:off x="802640" y="0"/>
            <a:ext cx="10552747" cy="1048861"/>
          </a:xfrm>
        </p:spPr>
        <p:txBody>
          <a:bodyPr/>
          <a:lstStyle/>
          <a:p>
            <a:r>
              <a:rPr lang="ar-SA" dirty="0"/>
              <a:t>الخاتمة</a:t>
            </a:r>
          </a:p>
        </p:txBody>
      </p:sp>
      <p:sp>
        <p:nvSpPr>
          <p:cNvPr id="10" name="عنصر نائب للنص 9">
            <a:extLst>
              <a:ext uri="{FF2B5EF4-FFF2-40B4-BE49-F238E27FC236}">
                <a16:creationId xmlns:a16="http://schemas.microsoft.com/office/drawing/2014/main" id="{6B9372FE-9471-220C-9F36-65F97DCB5919}"/>
              </a:ext>
            </a:extLst>
          </p:cNvPr>
          <p:cNvSpPr>
            <a:spLocks noGrp="1"/>
          </p:cNvSpPr>
          <p:nvPr>
            <p:ph type="body" sz="half" idx="2"/>
          </p:nvPr>
        </p:nvSpPr>
        <p:spPr>
          <a:xfrm>
            <a:off x="1742439" y="1513840"/>
            <a:ext cx="8673147" cy="3098800"/>
          </a:xfrm>
        </p:spPr>
        <p:txBody>
          <a:bodyPr>
            <a:normAutofit/>
          </a:bodyPr>
          <a:lstStyle/>
          <a:p>
            <a:endParaRPr lang="en-US" sz="1800" dirty="0">
              <a:effectLst/>
              <a:latin typeface="Aptos" panose="020B0004020202020204" pitchFamily="34" charset="0"/>
              <a:ea typeface="Aptos" panose="020B0004020202020204" pitchFamily="34" charset="0"/>
              <a:cs typeface="Arial" panose="020B0604020202020204" pitchFamily="34" charset="0"/>
            </a:endParaRPr>
          </a:p>
          <a:p>
            <a:r>
              <a:rPr lang="ar-SA" sz="3400" dirty="0"/>
              <a:t>الحمد لله الذي بنعمته تتم الصالحات, أشكر الدكتور رمضان على بذل جهده ووقته  وأشكره على صبره على ما بدر مني من قصور, وأشكره على مساعدتي على إتمام هذا المشروع بنجاح.</a:t>
            </a:r>
          </a:p>
        </p:txBody>
      </p:sp>
    </p:spTree>
    <p:extLst>
      <p:ext uri="{BB962C8B-B14F-4D97-AF65-F5344CB8AC3E}">
        <p14:creationId xmlns:p14="http://schemas.microsoft.com/office/powerpoint/2010/main" val="2404259638"/>
      </p:ext>
    </p:extLst>
  </p:cSld>
  <p:clrMapOvr>
    <a:overrideClrMapping bg1="dk1" tx1="lt1" bg2="dk2" tx2="lt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B999AE-6D87-BF60-8A74-B15CD09BA5D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4D778DB-FB69-312E-45AF-47A0753E5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طائرة, تصوير جوي, في الخارج, أرض&#10;&#10;تم إنشاء الوصف تلقائياً">
            <a:extLst>
              <a:ext uri="{FF2B5EF4-FFF2-40B4-BE49-F238E27FC236}">
                <a16:creationId xmlns:a16="http://schemas.microsoft.com/office/drawing/2014/main" id="{282E17A1-7315-727C-FD77-AC783FCC2F8A}"/>
              </a:ext>
            </a:extLst>
          </p:cNvPr>
          <p:cNvPicPr>
            <a:picLocks noChangeAspect="1"/>
          </p:cNvPicPr>
          <p:nvPr/>
        </p:nvPicPr>
        <p:blipFill>
          <a:blip r:embed="rId2"/>
          <a:srcRect l="18336" r="22336"/>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2" name="عنوان 1">
            <a:extLst>
              <a:ext uri="{FF2B5EF4-FFF2-40B4-BE49-F238E27FC236}">
                <a16:creationId xmlns:a16="http://schemas.microsoft.com/office/drawing/2014/main" id="{71548DC6-7B9E-7B24-9631-992A43B89C3F}"/>
              </a:ext>
            </a:extLst>
          </p:cNvPr>
          <p:cNvSpPr>
            <a:spLocks noGrp="1"/>
          </p:cNvSpPr>
          <p:nvPr>
            <p:ph type="ctrTitle"/>
          </p:nvPr>
        </p:nvSpPr>
        <p:spPr>
          <a:xfrm>
            <a:off x="6770370" y="4805778"/>
            <a:ext cx="6518910" cy="561848"/>
          </a:xfrm>
        </p:spPr>
        <p:txBody>
          <a:bodyPr anchor="b">
            <a:noAutofit/>
          </a:bodyPr>
          <a:lstStyle/>
          <a:p>
            <a:pPr algn="l"/>
            <a:r>
              <a:rPr lang="ar-SA" sz="3600" dirty="0"/>
              <a:t>شكرا لكم</a:t>
            </a:r>
          </a:p>
        </p:txBody>
      </p:sp>
      <p:pic>
        <p:nvPicPr>
          <p:cNvPr id="5" name="صورة 4">
            <a:extLst>
              <a:ext uri="{FF2B5EF4-FFF2-40B4-BE49-F238E27FC236}">
                <a16:creationId xmlns:a16="http://schemas.microsoft.com/office/drawing/2014/main" id="{5BCEB1BC-D784-A903-B007-45E403B7ADF9}"/>
              </a:ext>
            </a:extLst>
          </p:cNvPr>
          <p:cNvPicPr>
            <a:picLocks noChangeAspect="1"/>
          </p:cNvPicPr>
          <p:nvPr/>
        </p:nvPicPr>
        <p:blipFill>
          <a:blip r:embed="rId3"/>
          <a:srcRect t="8922" r="-1" b="5646"/>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2508353871"/>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5391</TotalTime>
  <Words>3929</Words>
  <Application>Microsoft Office PowerPoint</Application>
  <PresentationFormat>شاشة عريضة</PresentationFormat>
  <Paragraphs>1077</Paragraphs>
  <Slides>58</Slides>
  <Notes>0</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58</vt:i4>
      </vt:variant>
    </vt:vector>
  </HeadingPairs>
  <TitlesOfParts>
    <vt:vector size="67" baseType="lpstr">
      <vt:lpstr>Aptos</vt:lpstr>
      <vt:lpstr>Aptos Display</vt:lpstr>
      <vt:lpstr>Arial</vt:lpstr>
      <vt:lpstr>Cambria</vt:lpstr>
      <vt:lpstr>Cambria Math</vt:lpstr>
      <vt:lpstr>Segoe UI</vt:lpstr>
      <vt:lpstr>system-ui</vt:lpstr>
      <vt:lpstr>Times New Roman</vt:lpstr>
      <vt:lpstr>نسق Office</vt:lpstr>
      <vt:lpstr>التحليل الاحصائي للرحلات الجوية الداخلية في مطار الملك خالد الدولي بالرياض</vt:lpstr>
      <vt:lpstr>المقدمة</vt:lpstr>
      <vt:lpstr>يعتبر مطار الملك خالد الدولي في الرياض واحد من أبرز المطارات في المملكة العربية السعودية، حيث يلعب دور حيوي في ربط مختلف مناطق البلاد, ويساهم التحليل الاحصائي للرحلات الجوية الداخلية على فهم النمط السلوكي للمسافرين، وتحديد الاتجاهات الموسمية الأكثر زيارة وتحسين مستوى الخدمات المقدمة من المطار. من خلال تحليل البيانات المتعلقة بعدد الرحلات احصائيا، وتواريخ هذه الرحلات، وعدد ركاب هذه الطائرات، يمكن للجهات المعينة تحديد التحديات والفرص المتاحة لتطوير خدمات النقل الجوي الداخلي، كما يتيح هذا التحليل تقييم الأداء التشغيلي للمطار، مما يسهم في تحسين التجربة العامة للمسافرين. بإجراء دراسات وتحاليل إحصائية شاملة، يمكن تسليط الضوء على تأثيرات العوامل الاقتصادية والاجتماعية على حركة النقل الجوي الداخلي، مما يساعد في اتخاذ قرارات استراتيجية مبنية على بيانات دقيقة، وبالتالي يعد التحليل الاحصائي أداة أساسية لتطوير وتخطيط النقل الجوي في المملكة العربية السعودية وتعزيز مكانة مطار الملك خالد كمركز حيوي للنقل الجوي في المنطقة. </vt:lpstr>
      <vt:lpstr>مشكلة البحث وتساؤلاته</vt:lpstr>
      <vt:lpstr>عرض تقديمي في PowerPoint</vt:lpstr>
      <vt:lpstr>اهداف البحث</vt:lpstr>
      <vt:lpstr>عرض تقديمي في PowerPoint</vt:lpstr>
      <vt:lpstr>التحليل الوصفي</vt:lpstr>
      <vt:lpstr>الاحصاء الوصفي</vt:lpstr>
      <vt:lpstr>الإحصاء الوصفي للرحلات الواصلة</vt:lpstr>
      <vt:lpstr>الإحصاء الوصفي للرحلات المغادرة</vt:lpstr>
      <vt:lpstr>الإحصاء الوصفي حسب الوجهة</vt:lpstr>
      <vt:lpstr>مقاييس النزعة المركزية حسب الفصول الاربعة:</vt:lpstr>
      <vt:lpstr>الإحصاء الوصفي لعدد الرحلات حسب الاشهر </vt:lpstr>
      <vt:lpstr>الإحصاء الوصفي لعدد الركاب حسب الاشهر </vt:lpstr>
      <vt:lpstr>اختبار t لعدد الرحلات المغادرة والواصلة.</vt:lpstr>
      <vt:lpstr>اختبار t لعدد الركاب المغادرين وعدد الركاب الواصلين</vt:lpstr>
      <vt:lpstr>تحليل الانحدار للرحلات الواصلة</vt:lpstr>
      <vt:lpstr>تحليل البواقي.</vt:lpstr>
      <vt:lpstr>تحليل الانحدار للرحلات المغادرة</vt:lpstr>
      <vt:lpstr>تحليل البواقي.</vt:lpstr>
      <vt:lpstr>تحليل السلاسل الزمنية</vt:lpstr>
      <vt:lpstr>تحليل السلسلة الزمنية للرحلات الواصلة</vt:lpstr>
      <vt:lpstr>اختبار الاستقرار للسلسلة الزمنية</vt:lpstr>
      <vt:lpstr>اختبار الاستقرار للسلسلة الزمنية</vt:lpstr>
      <vt:lpstr>دوال الارتباط الذاتية لتحديد النموذج</vt:lpstr>
      <vt:lpstr>النموذج ARIMA(0,0,1)</vt:lpstr>
      <vt:lpstr>دوال الارتباط الذاتية لبواقي النموذج</vt:lpstr>
      <vt:lpstr>تحليل بواقي النموذج</vt:lpstr>
      <vt:lpstr>تحليل بواقي النموذج</vt:lpstr>
      <vt:lpstr>التنبؤ</vt:lpstr>
      <vt:lpstr>تحليل السلسلة الزمنية للركاب الواصلين</vt:lpstr>
      <vt:lpstr>اختبار الاستقرار للسلسلة الزمنية</vt:lpstr>
      <vt:lpstr>اختبار الاستقرار للسلسلة الزمنية</vt:lpstr>
      <vt:lpstr>دوال الارتباط الذاتي</vt:lpstr>
      <vt:lpstr>نموذج ARIMA (0,1,1)</vt:lpstr>
      <vt:lpstr>دوال الارتباط الذاتي لبواقي النموذج</vt:lpstr>
      <vt:lpstr>تحليل بواقي النموذج</vt:lpstr>
      <vt:lpstr>تحليل بواقي النموذج</vt:lpstr>
      <vt:lpstr>التنبؤ</vt:lpstr>
      <vt:lpstr>تحليل السلسلة الزمنية للرحلات المغادرة</vt:lpstr>
      <vt:lpstr>اختبار الاستقرار</vt:lpstr>
      <vt:lpstr>اختبار الاستقرار</vt:lpstr>
      <vt:lpstr>دوال الارتباط الذاتي للنموذج</vt:lpstr>
      <vt:lpstr>النموذج ARIMA(0,1,2)</vt:lpstr>
      <vt:lpstr>دوال الارتباط الذاتي لبواقي النموذج</vt:lpstr>
      <vt:lpstr>تحليل بواقي النموذج</vt:lpstr>
      <vt:lpstr>تحليل البواقي</vt:lpstr>
      <vt:lpstr>التنبؤ</vt:lpstr>
      <vt:lpstr>تحليل السلسلة الزمنية للركاب المغادرين</vt:lpstr>
      <vt:lpstr>اختبار الاستقرار</vt:lpstr>
      <vt:lpstr>اختبار الاستقرار</vt:lpstr>
      <vt:lpstr>تحليل Trend Analysis</vt:lpstr>
      <vt:lpstr>تحليل بواقي النموذج</vt:lpstr>
      <vt:lpstr>تحليل بواقي النموذج</vt:lpstr>
      <vt:lpstr>التنبؤ</vt:lpstr>
      <vt:lpstr>الخاتمة</vt:lpstr>
      <vt:lpstr>شكرا لكم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فيصل سعران ID 441101690</dc:creator>
  <cp:lastModifiedBy>فيصل سعران ID 441101690</cp:lastModifiedBy>
  <cp:revision>4</cp:revision>
  <dcterms:created xsi:type="dcterms:W3CDTF">2024-11-25T21:11:10Z</dcterms:created>
  <dcterms:modified xsi:type="dcterms:W3CDTF">2024-11-29T15:02:54Z</dcterms:modified>
</cp:coreProperties>
</file>